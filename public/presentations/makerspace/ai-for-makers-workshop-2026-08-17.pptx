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660" autoAdjust="0"/>
  </p:normalViewPr>
  <p:slideViewPr>
    <p:cSldViewPr snapToGrid="0">
      <p:cViewPr varScale="1">
        <p:scale>
          <a:sx n="133" d="100"/>
          <a:sy n="133" d="100"/>
        </p:scale>
        <p:origin x="132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ptos"/>
              </a:rPr>
              <a:t>Click to move the slide</a:t>
            </a: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9"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10"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11"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3DD926A-9F7B-4FD7-AE99-B171E601170C}"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 name="PlaceHolder 1"/>
          <p:cNvSpPr>
            <a:spLocks noGrp="1" noRot="1" noChangeAspect="1"/>
          </p:cNvSpPr>
          <p:nvPr>
            <p:ph type="sldImg"/>
          </p:nvPr>
        </p:nvSpPr>
        <p:spPr>
          <a:xfrm>
            <a:off x="685800" y="1143000"/>
            <a:ext cx="5486040" cy="3085920"/>
          </a:xfrm>
          <a:prstGeom prst="rect">
            <a:avLst/>
          </a:prstGeom>
          <a:ln w="0">
            <a:noFill/>
          </a:ln>
        </p:spPr>
      </p:sp>
      <p:sp>
        <p:nvSpPr>
          <p:cNvPr id="9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1 minute</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Set expectations: high-level first, technical depth is available in Q&amp;A.</a:t>
            </a:r>
          </a:p>
          <a:p>
            <a:pPr indent="0">
              <a:buNone/>
            </a:pPr>
            <a:r>
              <a:rPr lang="en-US" sz="2000" b="0" u="none" strike="noStrike">
                <a:solidFill>
                  <a:srgbClr val="000000"/>
                </a:solidFill>
                <a:effectLst/>
                <a:uFillTx/>
                <a:latin typeface="Arial"/>
              </a:rPr>
              <a:t>• The goal is not to memorize model names; it is to learn a repeatable way to choose and verify AI tools.</a:t>
            </a:r>
          </a:p>
          <a:p>
            <a:pPr indent="0">
              <a:buNone/>
            </a:pPr>
            <a:r>
              <a:rPr lang="en-US" sz="2000" b="0" u="none" strike="noStrike">
                <a:solidFill>
                  <a:srgbClr val="000000"/>
                </a:solidFill>
                <a:effectLst/>
                <a:uFillTx/>
                <a:latin typeface="Arial"/>
              </a:rPr>
              <a:t>• Model names change quickly; the model snapshot in this deck is dated August 16, 2026.</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OpenAI GPT-5.6: https://openai.com/index/gpt-5-6/</a:t>
            </a:r>
          </a:p>
          <a:p>
            <a:pPr indent="0">
              <a:buNone/>
            </a:pPr>
            <a:r>
              <a:rPr lang="en-US" sz="2000" b="0" u="none" strike="noStrike">
                <a:solidFill>
                  <a:srgbClr val="000000"/>
                </a:solidFill>
                <a:effectLst/>
                <a:uFillTx/>
                <a:latin typeface="Arial"/>
              </a:rPr>
              <a:t>- Anthropic models: https://platform.claude.com/docs/en/about-claude/models/overview</a:t>
            </a:r>
          </a:p>
          <a:p>
            <a:pPr indent="0">
              <a:lnSpc>
                <a:spcPct val="100000"/>
              </a:lnSpc>
              <a:buNone/>
            </a:pPr>
            <a:r>
              <a:rPr lang="en-US" sz="2000" b="0" u="none" strike="noStrike">
                <a:solidFill>
                  <a:srgbClr val="000000"/>
                </a:solidFill>
                <a:effectLst/>
                <a:uFillTx/>
                <a:latin typeface="Arial"/>
              </a:rPr>
              <a:t>- Gemini models: https://ai.google.dev/gemini-api/docs/models</a:t>
            </a:r>
          </a:p>
        </p:txBody>
      </p:sp>
      <p:sp>
        <p:nvSpPr>
          <p:cNvPr id="934" name="PlaceHolder 3"/>
          <p:cNvSpPr>
            <a:spLocks noGrp="1"/>
          </p:cNvSpPr>
          <p:nvPr>
            <p:ph type="sldNum" idx="3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6925471-34C9-4B2E-97D7-14A1295F2770}" type="slidenum">
              <a:rPr lang="en-US" sz="1200" b="0" u="none" strike="noStrike">
                <a:solidFill>
                  <a:schemeClr val="dk1"/>
                </a:solidFill>
                <a:effectLst/>
                <a:uFillTx/>
                <a:latin typeface="+mn-lt"/>
                <a:ea typeface="+mn-ea"/>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 name="PlaceHolder 1"/>
          <p:cNvSpPr>
            <a:spLocks noGrp="1" noRot="1" noChangeAspect="1"/>
          </p:cNvSpPr>
          <p:nvPr>
            <p:ph type="sldImg"/>
          </p:nvPr>
        </p:nvSpPr>
        <p:spPr>
          <a:xfrm>
            <a:off x="685800" y="1143000"/>
            <a:ext cx="5486040" cy="3085920"/>
          </a:xfrm>
          <a:prstGeom prst="rect">
            <a:avLst/>
          </a:prstGeom>
          <a:ln w="0">
            <a:noFill/>
          </a:ln>
        </p:spPr>
      </p:sp>
      <p:sp>
        <p:nvSpPr>
          <p:cNvPr id="9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1 minute</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Invite questions, but park deep rabbit holes until the end so the workshop remains useful to the whole room.</a:t>
            </a:r>
          </a:p>
          <a:p>
            <a:pPr indent="0">
              <a:lnSpc>
                <a:spcPct val="100000"/>
              </a:lnSpc>
              <a:buNone/>
            </a:pPr>
            <a:r>
              <a:rPr lang="en-US" sz="2000" b="0" u="none" strike="noStrike">
                <a:solidFill>
                  <a:srgbClr val="000000"/>
                </a:solidFill>
                <a:effectLst/>
                <a:uFillTx/>
                <a:latin typeface="Arial"/>
              </a:rPr>
              <a:t>• Tell attendees the source links are clickable in the PPTX and the speaker notes include more detail.</a:t>
            </a:r>
          </a:p>
        </p:txBody>
      </p:sp>
      <p:sp>
        <p:nvSpPr>
          <p:cNvPr id="937" name="PlaceHolder 3"/>
          <p:cNvSpPr>
            <a:spLocks noGrp="1"/>
          </p:cNvSpPr>
          <p:nvPr>
            <p:ph type="sldNum" idx="3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B845174-8872-4847-9FA1-02C1D96E0357}" type="slidenum">
              <a:rPr lang="en-US" sz="1200" b="0" u="none" strike="noStrike">
                <a:solidFill>
                  <a:schemeClr val="dk1"/>
                </a:solidFill>
                <a:effectLst/>
                <a:uFillTx/>
                <a:latin typeface="+mn-lt"/>
                <a:ea typeface="+mn-ea"/>
              </a:rPr>
              <a:t>2</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8" name="PlaceHolder 1"/>
          <p:cNvSpPr>
            <a:spLocks noGrp="1" noRot="1" noChangeAspect="1"/>
          </p:cNvSpPr>
          <p:nvPr>
            <p:ph type="sldImg"/>
          </p:nvPr>
        </p:nvSpPr>
        <p:spPr>
          <a:xfrm>
            <a:off x="685800" y="1143000"/>
            <a:ext cx="5486040" cy="3085920"/>
          </a:xfrm>
          <a:prstGeom prst="rect">
            <a:avLst/>
          </a:prstGeom>
          <a:ln w="0">
            <a:noFill/>
          </a:ln>
        </p:spPr>
      </p:sp>
      <p:sp>
        <p:nvSpPr>
          <p:cNvPr id="9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2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This is the most useful vocabulary slide in the deck.</a:t>
            </a:r>
          </a:p>
          <a:p>
            <a:pPr indent="0">
              <a:buNone/>
            </a:pPr>
            <a:r>
              <a:rPr lang="en-US" sz="2000" b="0" u="none" strike="noStrike" dirty="0">
                <a:solidFill>
                  <a:srgbClr val="000000"/>
                </a:solidFill>
                <a:effectLst/>
                <a:uFillTx/>
                <a:latin typeface="Arial"/>
              </a:rPr>
              <a:t>• A product can swap models. A model can be used through many products. An agent can use a model plus tools. A router can choose among models.</a:t>
            </a:r>
          </a:p>
          <a:p>
            <a:pPr indent="0">
              <a:buNone/>
            </a:pPr>
            <a:r>
              <a:rPr lang="en-US" sz="2000" b="0" u="none" strike="noStrike" dirty="0">
                <a:solidFill>
                  <a:srgbClr val="000000"/>
                </a:solidFill>
                <a:effectLst/>
                <a:uFillTx/>
                <a:latin typeface="Arial"/>
              </a:rPr>
              <a:t>• A local UI is not necessarily local inference: Open </a:t>
            </a:r>
            <a:r>
              <a:rPr lang="en-US" sz="2000" b="0" u="none" strike="noStrike" dirty="0" err="1">
                <a:solidFill>
                  <a:srgbClr val="000000"/>
                </a:solidFill>
                <a:effectLst/>
                <a:uFillTx/>
                <a:latin typeface="Arial"/>
              </a:rPr>
              <a:t>WebUI</a:t>
            </a:r>
            <a:r>
              <a:rPr lang="en-US" sz="2000" b="0" u="none" strike="noStrike" dirty="0">
                <a:solidFill>
                  <a:srgbClr val="000000"/>
                </a:solidFill>
                <a:effectLst/>
                <a:uFillTx/>
                <a:latin typeface="Arial"/>
              </a:rPr>
              <a:t> can point to a cloud API, and an agent can send data to remote providers if configured that way.</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OpenRouter</a:t>
            </a: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quickstart</a:t>
            </a:r>
            <a:r>
              <a:rPr lang="en-US" sz="2000" b="0" u="none" strike="noStrike" dirty="0">
                <a:solidFill>
                  <a:srgbClr val="000000"/>
                </a:solidFill>
                <a:effectLst/>
                <a:uFillTx/>
                <a:latin typeface="Arial"/>
              </a:rPr>
              <a:t>: https://openrouter.ai/docs/quickstart</a:t>
            </a:r>
          </a:p>
          <a:p>
            <a:pPr indent="0">
              <a:buNone/>
            </a:pPr>
            <a:r>
              <a:rPr lang="en-US" sz="2000" b="0" u="none" strike="noStrike" dirty="0">
                <a:solidFill>
                  <a:srgbClr val="000000"/>
                </a:solidFill>
                <a:effectLst/>
                <a:uFillTx/>
                <a:latin typeface="Arial"/>
              </a:rPr>
              <a:t>- Open </a:t>
            </a:r>
            <a:r>
              <a:rPr lang="en-US" sz="2000" b="0" u="none" strike="noStrike" dirty="0" err="1">
                <a:solidFill>
                  <a:srgbClr val="000000"/>
                </a:solidFill>
                <a:effectLst/>
                <a:uFillTx/>
                <a:latin typeface="Arial"/>
              </a:rPr>
              <a:t>WebUI</a:t>
            </a:r>
            <a:r>
              <a:rPr lang="en-US" sz="2000" b="0" u="none" strike="noStrike" dirty="0">
                <a:solidFill>
                  <a:srgbClr val="000000"/>
                </a:solidFill>
                <a:effectLst/>
                <a:uFillTx/>
                <a:latin typeface="Arial"/>
              </a:rPr>
              <a:t>: https://docs.openwebui.com/</a:t>
            </a:r>
          </a:p>
          <a:p>
            <a:pPr indent="0">
              <a:buNone/>
            </a:pPr>
            <a:r>
              <a:rPr lang="en-US" sz="2000" b="0" u="none" strike="noStrike" dirty="0">
                <a:solidFill>
                  <a:srgbClr val="000000"/>
                </a:solidFill>
                <a:effectLst/>
                <a:uFillTx/>
                <a:latin typeface="Arial"/>
              </a:rPr>
              <a:t>- Hermes Agent: https://hermes-agent.nousresearch.com/docs/</a:t>
            </a:r>
          </a:p>
          <a:p>
            <a:pPr indent="0">
              <a:lnSpc>
                <a:spcPct val="100000"/>
              </a:lnSpc>
              <a:buNone/>
            </a:pPr>
            <a:r>
              <a:rPr lang="en-US" sz="2000" b="0" u="none" strike="noStrike" dirty="0">
                <a:solidFill>
                  <a:srgbClr val="000000"/>
                </a:solidFill>
                <a:effectLst/>
                <a:uFillTx/>
                <a:latin typeface="Arial"/>
              </a:rPr>
              <a:t>- OpenClaw: https://docs.openclaw.ai/</a:t>
            </a:r>
          </a:p>
        </p:txBody>
      </p:sp>
      <p:sp>
        <p:nvSpPr>
          <p:cNvPr id="940" name="PlaceHolder 3"/>
          <p:cNvSpPr>
            <a:spLocks noGrp="1"/>
          </p:cNvSpPr>
          <p:nvPr>
            <p:ph type="sldNum" idx="3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C89C4B55-29BA-413B-9FCE-074998064193}" type="slidenum">
              <a:rPr lang="en-US" sz="1200" b="0" u="none" strike="noStrike">
                <a:solidFill>
                  <a:schemeClr val="dk1"/>
                </a:solidFill>
                <a:effectLst/>
                <a:uFillTx/>
                <a:latin typeface="+mn-lt"/>
                <a:ea typeface="+mn-ea"/>
              </a:rPr>
              <a:t>3</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 name="PlaceHolder 1"/>
          <p:cNvSpPr>
            <a:spLocks noGrp="1" noRot="1" noChangeAspect="1"/>
          </p:cNvSpPr>
          <p:nvPr>
            <p:ph type="sldImg"/>
          </p:nvPr>
        </p:nvSpPr>
        <p:spPr>
          <a:xfrm>
            <a:off x="685800" y="1143000"/>
            <a:ext cx="5486400" cy="3086100"/>
          </a:xfrm>
          <a:prstGeom prst="rect">
            <a:avLst/>
          </a:prstGeom>
          <a:ln w="0">
            <a:noFill/>
          </a:ln>
        </p:spPr>
      </p:sp>
      <p:sp>
        <p:nvSpPr>
          <p:cNvPr id="9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3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Use the phrase 'useful simplification': modern systems can include reasoning loops, retrieval, tools, multimodal encoders, and other components.</a:t>
            </a:r>
          </a:p>
          <a:p>
            <a:pPr indent="0">
              <a:buNone/>
            </a:pPr>
            <a:r>
              <a:rPr lang="en-US" sz="2000" b="0" u="none" strike="noStrike" dirty="0">
                <a:solidFill>
                  <a:srgbClr val="000000"/>
                </a:solidFill>
                <a:effectLst/>
                <a:uFillTx/>
                <a:latin typeface="Arial"/>
              </a:rPr>
              <a:t>• The 2017 Transformer paper introduced the attention-based architecture that underlies modern transformer LLMs.</a:t>
            </a:r>
          </a:p>
          <a:p>
            <a:pPr indent="0">
              <a:buNone/>
            </a:pPr>
            <a:r>
              <a:rPr lang="en-US" sz="2000" b="0" u="none" strike="noStrike" dirty="0">
                <a:solidFill>
                  <a:srgbClr val="000000"/>
                </a:solidFill>
                <a:effectLst/>
                <a:uFillTx/>
                <a:latin typeface="Arial"/>
              </a:rPr>
              <a:t>• Generation typically proceeds token-by-token; sampling / decoding strategy influences which probable token is selected.</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Attention Is All You Need: https://arxiv.org/abs/1706.03762</a:t>
            </a:r>
          </a:p>
          <a:p>
            <a:pPr indent="0">
              <a:lnSpc>
                <a:spcPct val="100000"/>
              </a:lnSpc>
              <a:buNone/>
            </a:pPr>
            <a:r>
              <a:rPr lang="en-US" sz="2000" b="0" u="none" strike="noStrike" dirty="0">
                <a:solidFill>
                  <a:srgbClr val="000000"/>
                </a:solidFill>
                <a:effectLst/>
                <a:uFillTx/>
                <a:latin typeface="Arial"/>
              </a:rPr>
              <a:t>- OpenAI tokens: https://help.openai.com/en/articles/4936856-what-are-tokens-and-how-to-count-them</a:t>
            </a:r>
          </a:p>
        </p:txBody>
      </p:sp>
      <p:sp>
        <p:nvSpPr>
          <p:cNvPr id="943" name="PlaceHolder 3"/>
          <p:cNvSpPr>
            <a:spLocks noGrp="1"/>
          </p:cNvSpPr>
          <p:nvPr>
            <p:ph type="sldNum" idx="3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2CB52B-ABAB-417A-95C7-D4098B7EBE74}" type="slidenum">
              <a:rPr lang="en-US" sz="1200" b="0" u="none" strike="noStrike">
                <a:solidFill>
                  <a:schemeClr val="dk1"/>
                </a:solidFill>
                <a:effectLst/>
                <a:uFillTx/>
                <a:latin typeface="+mn-lt"/>
                <a:ea typeface="+mn-ea"/>
              </a:rPr>
              <a:t>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4" name="PlaceHolder 1"/>
          <p:cNvSpPr>
            <a:spLocks noGrp="1" noRot="1" noChangeAspect="1"/>
          </p:cNvSpPr>
          <p:nvPr>
            <p:ph type="sldImg"/>
          </p:nvPr>
        </p:nvSpPr>
        <p:spPr>
          <a:xfrm>
            <a:off x="685800" y="1143000"/>
            <a:ext cx="5486400" cy="3086100"/>
          </a:xfrm>
          <a:prstGeom prst="rect">
            <a:avLst/>
          </a:prstGeom>
          <a:ln w="0">
            <a:noFill/>
          </a:ln>
        </p:spPr>
      </p:sp>
      <p:sp>
        <p:nvSpPr>
          <p:cNvPr id="9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3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Emphasize that the colored split is conceptual; exact token boundaries depend on the tokenizer.</a:t>
            </a:r>
          </a:p>
          <a:p>
            <a:pPr indent="0">
              <a:buNone/>
            </a:pPr>
            <a:r>
              <a:rPr lang="en-US" sz="2000" b="0" u="none" strike="noStrike" dirty="0">
                <a:solidFill>
                  <a:srgbClr val="000000"/>
                </a:solidFill>
                <a:effectLst/>
                <a:uFillTx/>
                <a:latin typeface="Arial"/>
              </a:rPr>
              <a:t>• For English, OpenAI documents rough rules of thumb around 4 characters / 0.75 words per token. Other languages can differ substantially.</a:t>
            </a:r>
          </a:p>
          <a:p>
            <a:pPr indent="0">
              <a:buNone/>
            </a:pPr>
            <a:r>
              <a:rPr lang="en-US" sz="2000" b="0" u="none" strike="noStrike" dirty="0">
                <a:solidFill>
                  <a:srgbClr val="000000"/>
                </a:solidFill>
                <a:effectLst/>
                <a:uFillTx/>
                <a:latin typeface="Arial"/>
              </a:rPr>
              <a:t>• This is why pasted logs, giant codebases, and long chat histories can get expensive or crowd out the useful context.</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OpenAI token guide: https://help.openai.com/en/articles/4936856-what-are-tokens-and-how-to-count-them</a:t>
            </a:r>
          </a:p>
          <a:p>
            <a:pPr indent="0">
              <a:lnSpc>
                <a:spcPct val="100000"/>
              </a:lnSpc>
              <a:buNone/>
            </a:pPr>
            <a:r>
              <a:rPr lang="en-US" sz="2000" b="0" u="none" strike="noStrike" dirty="0">
                <a:solidFill>
                  <a:srgbClr val="000000"/>
                </a:solidFill>
                <a:effectLst/>
                <a:uFillTx/>
                <a:latin typeface="Arial"/>
              </a:rPr>
              <a:t>- OpenAI tokenizer: https://platform.openai.com/tokenizer</a:t>
            </a:r>
          </a:p>
        </p:txBody>
      </p:sp>
      <p:sp>
        <p:nvSpPr>
          <p:cNvPr id="946" name="PlaceHolder 3"/>
          <p:cNvSpPr>
            <a:spLocks noGrp="1"/>
          </p:cNvSpPr>
          <p:nvPr>
            <p:ph type="sldNum" idx="3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D057B68-F42E-4677-8DC0-B8D090C1F0AD}" type="slidenum">
              <a:rPr lang="en-US" sz="1200" b="0" u="none" strike="noStrike">
                <a:solidFill>
                  <a:schemeClr val="dk1"/>
                </a:solidFill>
                <a:effectLst/>
                <a:uFillTx/>
                <a:latin typeface="+mn-lt"/>
                <a:ea typeface="+mn-ea"/>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 name="PlaceHolder 1"/>
          <p:cNvSpPr>
            <a:spLocks noGrp="1" noRot="1" noChangeAspect="1"/>
          </p:cNvSpPr>
          <p:nvPr>
            <p:ph type="sldImg"/>
          </p:nvPr>
        </p:nvSpPr>
        <p:spPr>
          <a:xfrm>
            <a:off x="685800" y="1143000"/>
            <a:ext cx="5486400" cy="3086100"/>
          </a:xfrm>
          <a:prstGeom prst="rect">
            <a:avLst/>
          </a:prstGeom>
          <a:ln w="0">
            <a:noFill/>
          </a:ln>
        </p:spPr>
      </p:sp>
      <p:sp>
        <p:nvSpPr>
          <p:cNvPr id="9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2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Use 'working memory' as an analogy, not a literal architecture claim.</a:t>
            </a:r>
          </a:p>
          <a:p>
            <a:pPr indent="0">
              <a:buNone/>
            </a:pPr>
            <a:r>
              <a:rPr lang="en-US" sz="2000" b="0" u="none" strike="noStrike" dirty="0">
                <a:solidFill>
                  <a:srgbClr val="000000"/>
                </a:solidFill>
                <a:effectLst/>
                <a:uFillTx/>
                <a:latin typeface="Arial"/>
              </a:rPr>
              <a:t>• Explain RAG: search first, insert the most relevant text, then answer from that evidence.</a:t>
            </a:r>
          </a:p>
          <a:p>
            <a:pPr indent="0">
              <a:buNone/>
            </a:pPr>
            <a:r>
              <a:rPr lang="en-US" sz="2000" b="0" u="none" strike="noStrike" dirty="0">
                <a:solidFill>
                  <a:srgbClr val="000000"/>
                </a:solidFill>
                <a:effectLst/>
                <a:uFillTx/>
                <a:latin typeface="Arial"/>
              </a:rPr>
              <a:t>• This slide sets up a major maker-space behavior: attach the exact artifact instead of describing it from memory.</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OpenAI token guide: https://help.openai.com/en/articles/4936856-what-are-tokens-and-how-to-count-them</a:t>
            </a:r>
          </a:p>
          <a:p>
            <a:pPr indent="0">
              <a:lnSpc>
                <a:spcPct val="100000"/>
              </a:lnSpc>
              <a:buNone/>
            </a:pPr>
            <a:r>
              <a:rPr lang="en-US" sz="2000" b="0" u="none" strike="noStrike" dirty="0">
                <a:solidFill>
                  <a:srgbClr val="000000"/>
                </a:solidFill>
                <a:effectLst/>
                <a:uFillTx/>
                <a:latin typeface="Arial"/>
              </a:rPr>
              <a:t>- Open </a:t>
            </a:r>
            <a:r>
              <a:rPr lang="en-US" sz="2000" b="0" u="none" strike="noStrike" dirty="0" err="1">
                <a:solidFill>
                  <a:srgbClr val="000000"/>
                </a:solidFill>
                <a:effectLst/>
                <a:uFillTx/>
                <a:latin typeface="Arial"/>
              </a:rPr>
              <a:t>WebUI</a:t>
            </a:r>
            <a:r>
              <a:rPr lang="en-US" sz="2000" b="0" u="none" strike="noStrike" dirty="0">
                <a:solidFill>
                  <a:srgbClr val="000000"/>
                </a:solidFill>
                <a:effectLst/>
                <a:uFillTx/>
                <a:latin typeface="Arial"/>
              </a:rPr>
              <a:t> offline/RAG notes: https://docs.openwebui.com/tutorials/maintenance/offline-mode/</a:t>
            </a:r>
          </a:p>
        </p:txBody>
      </p:sp>
      <p:sp>
        <p:nvSpPr>
          <p:cNvPr id="94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E96A3A4-5E2F-4B1C-A39E-27B5677B84FD}" type="slidenum">
              <a:rPr lang="en-US" sz="1200" b="0" u="none" strike="noStrike">
                <a:solidFill>
                  <a:schemeClr val="dk1"/>
                </a:solidFill>
                <a:effectLst/>
                <a:uFillTx/>
                <a:latin typeface="+mn-lt"/>
                <a:ea typeface="+mn-ea"/>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0" name="PlaceHolder 1"/>
          <p:cNvSpPr>
            <a:spLocks noGrp="1" noRot="1" noChangeAspect="1"/>
          </p:cNvSpPr>
          <p:nvPr>
            <p:ph type="sldImg"/>
          </p:nvPr>
        </p:nvSpPr>
        <p:spPr>
          <a:xfrm>
            <a:off x="685800" y="1143000"/>
            <a:ext cx="5486040" cy="3085920"/>
          </a:xfrm>
          <a:prstGeom prst="rect">
            <a:avLst/>
          </a:prstGeom>
          <a:ln w="0">
            <a:noFill/>
          </a:ln>
        </p:spPr>
      </p:sp>
      <p:sp>
        <p:nvSpPr>
          <p:cNvPr id="9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3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Avoid saying hallucinations are caused by one single thing. They are a system-level reliability issue.</a:t>
            </a:r>
          </a:p>
          <a:p>
            <a:pPr indent="0">
              <a:buNone/>
            </a:pPr>
            <a:r>
              <a:rPr lang="en-US" sz="2000" b="0" u="none" strike="noStrike">
                <a:solidFill>
                  <a:srgbClr val="000000"/>
                </a:solidFill>
                <a:effectLst/>
                <a:uFillTx/>
                <a:latin typeface="Arial"/>
              </a:rPr>
              <a:t>• Google's prompting guidance explicitly recommends grounding for obscure or recent facts and code execution for arithmetic/counting.</a:t>
            </a:r>
          </a:p>
          <a:p>
            <a:pPr indent="0">
              <a:buNone/>
            </a:pPr>
            <a:r>
              <a:rPr lang="en-US" sz="2000" b="0" u="none" strike="noStrike">
                <a:solidFill>
                  <a:srgbClr val="000000"/>
                </a:solidFill>
                <a:effectLst/>
                <a:uFillTx/>
                <a:latin typeface="Arial"/>
              </a:rPr>
              <a:t>• Use the SWE-bench cautionary note as an example that even benchmarks and tests can be flawed—verification methods themselves need scrutiny.</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Gemini prompt design strategies: https://ai.google.dev/gemini-api/docs/prompting-strategies</a:t>
            </a:r>
          </a:p>
          <a:p>
            <a:pPr indent="0">
              <a:lnSpc>
                <a:spcPct val="100000"/>
              </a:lnSpc>
              <a:buNone/>
            </a:pPr>
            <a:r>
              <a:rPr lang="en-US" sz="2000" b="0" u="none" strike="noStrike">
                <a:solidFill>
                  <a:srgbClr val="000000"/>
                </a:solidFill>
                <a:effectLst/>
                <a:uFillTx/>
                <a:latin typeface="Arial"/>
              </a:rPr>
              <a:t>- OpenAI on SWE-bench Verified limitations: https://openai.com/index/why-we-no-longer-evaluate-swe-bench-verified/</a:t>
            </a:r>
          </a:p>
        </p:txBody>
      </p:sp>
      <p:sp>
        <p:nvSpPr>
          <p:cNvPr id="95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8F49BEC-A994-4DDD-881E-5CE1EF5DD85C}" type="slidenum">
              <a:rPr lang="en-US" sz="1200" b="0" u="none" strike="noStrike">
                <a:solidFill>
                  <a:schemeClr val="dk1"/>
                </a:solidFill>
                <a:effectLst/>
                <a:uFillTx/>
                <a:latin typeface="+mn-lt"/>
                <a:ea typeface="+mn-ea"/>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 name="PlaceHolder 1"/>
          <p:cNvSpPr>
            <a:spLocks noGrp="1" noRot="1" noChangeAspect="1"/>
          </p:cNvSpPr>
          <p:nvPr>
            <p:ph type="sldImg"/>
          </p:nvPr>
        </p:nvSpPr>
        <p:spPr>
          <a:xfrm>
            <a:off x="685800" y="1143000"/>
            <a:ext cx="5486400" cy="3086100"/>
          </a:xfrm>
          <a:prstGeom prst="rect">
            <a:avLst/>
          </a:prstGeom>
          <a:ln w="0">
            <a:noFill/>
          </a:ln>
        </p:spPr>
      </p:sp>
      <p:sp>
        <p:nvSpPr>
          <p:cNvPr id="9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3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Do not oversell 'you are an expert' role prompts. Role can set framing, but evidence and constraints usually matter more.</a:t>
            </a:r>
          </a:p>
          <a:p>
            <a:pPr indent="0">
              <a:buNone/>
            </a:pPr>
            <a:r>
              <a:rPr lang="en-US" sz="2000" b="0" u="none" strike="noStrike" dirty="0">
                <a:solidFill>
                  <a:srgbClr val="000000"/>
                </a:solidFill>
                <a:effectLst/>
                <a:uFillTx/>
                <a:latin typeface="Arial"/>
              </a:rPr>
              <a:t>• The model should be told what success looks like and what to do when information is missing.</a:t>
            </a:r>
          </a:p>
          <a:p>
            <a:pPr indent="0">
              <a:buNone/>
            </a:pPr>
            <a:r>
              <a:rPr lang="en-US" sz="2000" b="0" u="none" strike="noStrike" dirty="0">
                <a:solidFill>
                  <a:srgbClr val="000000"/>
                </a:solidFill>
                <a:effectLst/>
                <a:uFillTx/>
                <a:latin typeface="Arial"/>
              </a:rPr>
              <a:t>• Prompt engineering is iterative; Google's current guidance explicitly describes it that way and recommends clear, specific instructions.</a:t>
            </a:r>
          </a:p>
          <a:p>
            <a:pPr indent="0">
              <a:buNone/>
            </a:pPr>
            <a:r>
              <a:rPr lang="en-US" sz="2000" b="0" u="none" strike="noStrike" dirty="0">
                <a:solidFill>
                  <a:srgbClr val="000000"/>
                </a:solidFill>
                <a:effectLst/>
                <a:uFillTx/>
                <a:latin typeface="Arial"/>
              </a:rPr>
              <a:t>- Leverage other AI tools to help generate prompts as well. </a:t>
            </a:r>
            <a:br>
              <a:rPr lang="en-US" sz="2000" b="0" u="none" strike="noStrike" dirty="0">
                <a:solidFill>
                  <a:srgbClr val="000000"/>
                </a:solidFill>
                <a:effectLst/>
                <a:uFillTx/>
                <a:latin typeface="Arial"/>
              </a:rPr>
            </a:b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lnSpc>
                <a:spcPct val="100000"/>
              </a:lnSpc>
              <a:buNone/>
            </a:pPr>
            <a:r>
              <a:rPr lang="en-US" sz="2000" b="0" u="none" strike="noStrike" dirty="0">
                <a:solidFill>
                  <a:srgbClr val="000000"/>
                </a:solidFill>
                <a:effectLst/>
                <a:uFillTx/>
                <a:latin typeface="Arial"/>
              </a:rPr>
              <a:t>- Google prompt design strategies: https://ai.google.dev/gemini-api/docs/prompting-strategies</a:t>
            </a:r>
          </a:p>
        </p:txBody>
      </p:sp>
      <p:sp>
        <p:nvSpPr>
          <p:cNvPr id="95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C6B0FCE-6B3E-44F8-AE7A-8723099FE3FC}" type="slidenum">
              <a:rPr lang="en-US" sz="1200" b="0" u="none" strike="noStrike">
                <a:solidFill>
                  <a:schemeClr val="dk1"/>
                </a:solidFill>
                <a:effectLst/>
                <a:uFillTx/>
                <a:latin typeface="+mn-lt"/>
                <a:ea typeface="+mn-ea"/>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6" name="PlaceHolder 1"/>
          <p:cNvSpPr>
            <a:spLocks noGrp="1" noRot="1" noChangeAspect="1"/>
          </p:cNvSpPr>
          <p:nvPr>
            <p:ph type="sldImg"/>
          </p:nvPr>
        </p:nvSpPr>
        <p:spPr>
          <a:xfrm>
            <a:off x="685800" y="1143000"/>
            <a:ext cx="5486400" cy="3086100"/>
          </a:xfrm>
          <a:prstGeom prst="rect">
            <a:avLst/>
          </a:prstGeom>
          <a:ln w="0">
            <a:noFill/>
          </a:ln>
        </p:spPr>
      </p:sp>
      <p:sp>
        <p:nvSpPr>
          <p:cNvPr id="9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3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This is classic hypothesis-driven troubleshooting. AI can help generate and prioritize hypotheses, but the real world provides ground truth.</a:t>
            </a:r>
          </a:p>
          <a:p>
            <a:pPr indent="0">
              <a:buNone/>
            </a:pPr>
            <a:r>
              <a:rPr lang="en-US" sz="2000" b="0" u="none" strike="noStrike">
                <a:solidFill>
                  <a:srgbClr val="000000"/>
                </a:solidFill>
                <a:effectLst/>
                <a:uFillTx/>
                <a:latin typeface="Arial"/>
              </a:rPr>
              <a:t>• For mains power, batteries, lasers, chemicals, machine tools, pressure systems, and other hazardous equipment, emphasize manufacturer instructions and qualified supervision.</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lnSpc>
                <a:spcPct val="100000"/>
              </a:lnSpc>
              <a:buNone/>
            </a:pPr>
            <a:r>
              <a:rPr lang="en-US" sz="2000" b="0" u="none" strike="noStrike">
                <a:solidFill>
                  <a:srgbClr val="000000"/>
                </a:solidFill>
                <a:effectLst/>
                <a:uFillTx/>
                <a:latin typeface="Arial"/>
              </a:rPr>
              <a:t>- Google prompt guidance: https://ai.google.dev/gemini-api/docs/prompting-strategies</a:t>
            </a:r>
          </a:p>
        </p:txBody>
      </p:sp>
      <p:sp>
        <p:nvSpPr>
          <p:cNvPr id="95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01C1884-D9B1-449A-9035-E2E3DAAC3722}" type="slidenum">
              <a:rPr lang="en-US" sz="1200" b="0" u="none" strike="noStrike">
                <a:solidFill>
                  <a:schemeClr val="dk1"/>
                </a:solidFill>
                <a:effectLst/>
                <a:uFillTx/>
                <a:latin typeface="+mn-lt"/>
                <a:ea typeface="+mn-ea"/>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 name="PlaceHolder 1"/>
          <p:cNvSpPr>
            <a:spLocks noGrp="1" noRot="1" noChangeAspect="1"/>
          </p:cNvSpPr>
          <p:nvPr>
            <p:ph type="sldImg"/>
          </p:nvPr>
        </p:nvSpPr>
        <p:spPr>
          <a:xfrm>
            <a:off x="685800" y="1143000"/>
            <a:ext cx="5486040" cy="3085920"/>
          </a:xfrm>
          <a:prstGeom prst="rect">
            <a:avLst/>
          </a:prstGeom>
          <a:ln w="0">
            <a:noFill/>
          </a:ln>
        </p:spPr>
      </p:sp>
      <p:sp>
        <p:nvSpPr>
          <p:cNvPr id="9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3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A coding assistant can be very effective because compilers, tests, linters, and runtime behavior provide machine-checkable feedback.</a:t>
            </a:r>
          </a:p>
          <a:p>
            <a:pPr indent="0">
              <a:buNone/>
            </a:pPr>
            <a:r>
              <a:rPr lang="en-US" sz="2000" b="0" u="none" strike="noStrike">
                <a:solidFill>
                  <a:srgbClr val="000000"/>
                </a:solidFill>
                <a:effectLst/>
                <a:uFillTx/>
                <a:latin typeface="Arial"/>
              </a:rPr>
              <a:t>• Ask for a diff or minimal patch when possible; large rewrites hide mistakes.</a:t>
            </a:r>
          </a:p>
          <a:p>
            <a:pPr indent="0">
              <a:buNone/>
            </a:pPr>
            <a:r>
              <a:rPr lang="en-US" sz="2000" b="0" u="none" strike="noStrike">
                <a:solidFill>
                  <a:srgbClr val="000000"/>
                </a:solidFill>
                <a:effectLst/>
                <a:uFillTx/>
                <a:latin typeface="Arial"/>
              </a:rPr>
              <a:t>• GitHub's own documentation states that different Copilot models have different capabilities and recommends choosing based on task, not model name alone.</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lnSpc>
                <a:spcPct val="100000"/>
              </a:lnSpc>
              <a:buNone/>
            </a:pPr>
            <a:r>
              <a:rPr lang="en-US" sz="2000" b="0" u="none" strike="noStrike">
                <a:solidFill>
                  <a:srgbClr val="000000"/>
                </a:solidFill>
                <a:effectLst/>
                <a:uFillTx/>
                <a:latin typeface="Arial"/>
              </a:rPr>
              <a:t>- GitHub Copilot model comparison: https://docs.github.com/en/copilot/reference/ai-models/model-comparison</a:t>
            </a:r>
          </a:p>
        </p:txBody>
      </p:sp>
      <p:sp>
        <p:nvSpPr>
          <p:cNvPr id="96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602277-3544-4F79-88D3-54EE5A68E4CB}" type="slidenum">
              <a:rPr lang="en-US" sz="1200" b="0" u="none" strike="noStrike">
                <a:solidFill>
                  <a:schemeClr val="dk1"/>
                </a:solidFill>
                <a:effectLst/>
                <a:uFillTx/>
                <a:latin typeface="+mn-lt"/>
                <a:ea typeface="+mn-ea"/>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 name="PlaceHolder 1"/>
          <p:cNvSpPr>
            <a:spLocks noGrp="1" noRot="1" noChangeAspect="1"/>
          </p:cNvSpPr>
          <p:nvPr>
            <p:ph type="sldImg"/>
          </p:nvPr>
        </p:nvSpPr>
        <p:spPr>
          <a:xfrm>
            <a:off x="685800" y="1143000"/>
            <a:ext cx="5486400" cy="3086100"/>
          </a:xfrm>
          <a:prstGeom prst="rect">
            <a:avLst/>
          </a:prstGeom>
          <a:ln w="0">
            <a:noFill/>
          </a:ln>
        </p:spPr>
      </p:sp>
      <p:sp>
        <p:nvSpPr>
          <p:cNvPr id="9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3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Differentiate 'AI search' from 'the model knows this.' Search tools fetch evidence at answer time.</a:t>
            </a:r>
          </a:p>
          <a:p>
            <a:pPr indent="0">
              <a:buNone/>
            </a:pPr>
            <a:r>
              <a:rPr lang="en-US" sz="2000" b="0" u="none" strike="noStrike">
                <a:solidFill>
                  <a:srgbClr val="000000"/>
                </a:solidFill>
                <a:effectLst/>
                <a:uFillTx/>
                <a:latin typeface="Arial"/>
              </a:rPr>
              <a:t>• Perplexity explicitly describes itself as a search engine with citations and links to original sources. Other assistants can also browse, but workflows differ.</a:t>
            </a:r>
          </a:p>
          <a:p>
            <a:pPr indent="0">
              <a:buNone/>
            </a:pPr>
            <a:r>
              <a:rPr lang="en-US" sz="2000" b="0" u="none" strike="noStrike">
                <a:solidFill>
                  <a:srgbClr val="000000"/>
                </a:solidFill>
                <a:effectLst/>
                <a:uFillTx/>
                <a:latin typeface="Arial"/>
              </a:rPr>
              <a:t>• Teach attendees to verify that a cited source actually says what the synthesis claims—it is possible to cite a real page incorrectly.</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Perplexity overview: https://www.perplexity.ai/help-center/en/articles/10352155-what-is-perplexity</a:t>
            </a:r>
          </a:p>
          <a:p>
            <a:pPr indent="0">
              <a:lnSpc>
                <a:spcPct val="100000"/>
              </a:lnSpc>
              <a:buNone/>
            </a:pPr>
            <a:r>
              <a:rPr lang="en-US" sz="2000" b="0" u="none" strike="noStrike">
                <a:solidFill>
                  <a:srgbClr val="000000"/>
                </a:solidFill>
                <a:effectLst/>
                <a:uFillTx/>
                <a:latin typeface="Arial"/>
              </a:rPr>
              <a:t>- Perplexity model/search modes: https://www.perplexity.ai/help-center/en/articles/10354919-what-advanced-ai-models-are-included-in-my-subscription</a:t>
            </a:r>
          </a:p>
        </p:txBody>
      </p:sp>
      <p:sp>
        <p:nvSpPr>
          <p:cNvPr id="96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181D11E-6E76-4FF2-92AB-5556476CA20E}"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 name="PlaceHolder 1"/>
          <p:cNvSpPr>
            <a:spLocks noGrp="1" noRot="1" noChangeAspect="1"/>
          </p:cNvSpPr>
          <p:nvPr>
            <p:ph type="sldImg"/>
          </p:nvPr>
        </p:nvSpPr>
        <p:spPr>
          <a:xfrm>
            <a:off x="685800" y="1143000"/>
            <a:ext cx="5486040" cy="3085920"/>
          </a:xfrm>
          <a:prstGeom prst="rect">
            <a:avLst/>
          </a:prstGeom>
          <a:ln w="0">
            <a:noFill/>
          </a:ln>
        </p:spPr>
      </p:sp>
      <p:sp>
        <p:nvSpPr>
          <p:cNvPr id="9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2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Invite attendees to mentally map one current project to one of these categories.</a:t>
            </a:r>
          </a:p>
          <a:p>
            <a:pPr indent="0">
              <a:lnSpc>
                <a:spcPct val="100000"/>
              </a:lnSpc>
              <a:buNone/>
            </a:pPr>
            <a:r>
              <a:rPr lang="en-US" sz="2000" b="0" u="none" strike="noStrike">
                <a:solidFill>
                  <a:srgbClr val="000000"/>
                </a:solidFill>
                <a:effectLst/>
                <a:uFillTx/>
                <a:latin typeface="Arial"/>
              </a:rPr>
              <a:t>• For visual inspection, AI can help point out visible features, but it cannot reliably infer hidden structural integrity or electrical safety from a photo alone.</a:t>
            </a:r>
          </a:p>
        </p:txBody>
      </p:sp>
      <p:sp>
        <p:nvSpPr>
          <p:cNvPr id="96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3BACCEB-010C-48CA-B2F3-780CDB123973}" type="slidenum">
              <a:rPr lang="en-US" sz="1200" b="0" u="none" strike="noStrike">
                <a:solidFill>
                  <a:schemeClr val="dk1"/>
                </a:solidFill>
                <a:effectLst/>
                <a:uFillTx/>
                <a:latin typeface="+mn-lt"/>
                <a:ea typeface="+mn-ea"/>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8" name="PlaceHolder 1"/>
          <p:cNvSpPr>
            <a:spLocks noGrp="1" noRot="1" noChangeAspect="1"/>
          </p:cNvSpPr>
          <p:nvPr>
            <p:ph type="sldImg"/>
          </p:nvPr>
        </p:nvSpPr>
        <p:spPr>
          <a:xfrm>
            <a:off x="685800" y="1143000"/>
            <a:ext cx="5486040" cy="3085920"/>
          </a:xfrm>
          <a:prstGeom prst="rect">
            <a:avLst/>
          </a:prstGeom>
          <a:ln w="0">
            <a:noFill/>
          </a:ln>
        </p:spPr>
      </p:sp>
      <p:sp>
        <p:nvSpPr>
          <p:cNvPr id="9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4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This slide intentionally describes workflow fit, not a permanent ranking.</a:t>
            </a:r>
          </a:p>
          <a:p>
            <a:pPr indent="0">
              <a:buNone/>
            </a:pPr>
            <a:r>
              <a:rPr lang="en-US" sz="2000" b="0" u="none" strike="noStrike">
                <a:solidFill>
                  <a:srgbClr val="000000"/>
                </a:solidFill>
                <a:effectLst/>
                <a:uFillTx/>
                <a:latin typeface="Arial"/>
              </a:rPr>
              <a:t>• Current official docs as of Aug. 16, 2026: OpenAI positions Sol/Terra/Luna as capability tiers; Anthropic lists Fable 5, Opus 5, Sonnet 5, Haiku 4.5; Google lists Gemini 3.x variants; GitHub supports multiple models and Auto; Perplexity dynamically changes available models.</a:t>
            </a:r>
          </a:p>
          <a:p>
            <a:pPr indent="0">
              <a:buNone/>
            </a:pPr>
            <a:r>
              <a:rPr lang="en-US" sz="2000" b="0" u="none" strike="noStrike">
                <a:solidFill>
                  <a:srgbClr val="000000"/>
                </a:solidFill>
                <a:effectLst/>
                <a:uFillTx/>
                <a:latin typeface="Arial"/>
              </a:rPr>
              <a:t>• For the audience, recommend trying the same real task across two or three tools instead of relying on online fan debates.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OpenAI GPT-5.6: https://openai.com/index/gpt-5-6/</a:t>
            </a:r>
          </a:p>
          <a:p>
            <a:pPr indent="0">
              <a:buNone/>
            </a:pPr>
            <a:r>
              <a:rPr lang="en-US" sz="2000" b="0" u="none" strike="noStrike">
                <a:solidFill>
                  <a:srgbClr val="000000"/>
                </a:solidFill>
                <a:effectLst/>
                <a:uFillTx/>
                <a:latin typeface="Arial"/>
              </a:rPr>
              <a:t>- Claude models: https://platform.claude.com/docs/en/about-claude/models/overview</a:t>
            </a:r>
          </a:p>
          <a:p>
            <a:pPr indent="0">
              <a:buNone/>
            </a:pPr>
            <a:r>
              <a:rPr lang="en-US" sz="2000" b="0" u="none" strike="noStrike">
                <a:solidFill>
                  <a:srgbClr val="000000"/>
                </a:solidFill>
                <a:effectLst/>
                <a:uFillTx/>
                <a:latin typeface="Arial"/>
              </a:rPr>
              <a:t>- Gemini models: https://ai.google.dev/gemini-api/docs/models</a:t>
            </a:r>
          </a:p>
          <a:p>
            <a:pPr indent="0">
              <a:buNone/>
            </a:pPr>
            <a:r>
              <a:rPr lang="en-US" sz="2000" b="0" u="none" strike="noStrike">
                <a:solidFill>
                  <a:srgbClr val="000000"/>
                </a:solidFill>
                <a:effectLst/>
                <a:uFillTx/>
                <a:latin typeface="Arial"/>
              </a:rPr>
              <a:t>- GitHub Copilot model comparison: https://docs.github.com/en/copilot/reference/ai-models/model-comparison</a:t>
            </a:r>
          </a:p>
          <a:p>
            <a:pPr indent="0">
              <a:lnSpc>
                <a:spcPct val="100000"/>
              </a:lnSpc>
              <a:buNone/>
            </a:pPr>
            <a:r>
              <a:rPr lang="en-US" sz="2000" b="0" u="none" strike="noStrike">
                <a:solidFill>
                  <a:srgbClr val="000000"/>
                </a:solidFill>
                <a:effectLst/>
                <a:uFillTx/>
                <a:latin typeface="Arial"/>
              </a:rPr>
              <a:t>- Perplexity models: https://www.perplexity.ai/help-center/en/articles/10354919-what-advanced-ai-models-are-included-in-my-subscription</a:t>
            </a:r>
          </a:p>
        </p:txBody>
      </p:sp>
      <p:sp>
        <p:nvSpPr>
          <p:cNvPr id="97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B4C344-41BB-4EAF-B0D3-FFEC36F0F5A6}" type="slidenum">
              <a:rPr lang="en-US" sz="1200" b="0" u="none" strike="noStrike">
                <a:solidFill>
                  <a:schemeClr val="dk1"/>
                </a:solidFill>
                <a:effectLst/>
                <a:uFillTx/>
                <a:latin typeface="+mn-lt"/>
                <a:ea typeface="+mn-ea"/>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 name="PlaceHolder 1"/>
          <p:cNvSpPr>
            <a:spLocks noGrp="1" noRot="1" noChangeAspect="1"/>
          </p:cNvSpPr>
          <p:nvPr>
            <p:ph type="sldImg"/>
          </p:nvPr>
        </p:nvSpPr>
        <p:spPr>
          <a:xfrm>
            <a:off x="685800" y="1143000"/>
            <a:ext cx="5486400" cy="3086100"/>
          </a:xfrm>
          <a:prstGeom prst="rect">
            <a:avLst/>
          </a:prstGeom>
          <a:ln w="0">
            <a:noFill/>
          </a:ln>
        </p:spPr>
      </p:sp>
      <p:sp>
        <p:nvSpPr>
          <p:cNvPr id="9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3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Explicitly date this slide. The point is to teach naming patterns, not freeze a fast-moving market in time.</a:t>
            </a:r>
          </a:p>
          <a:p>
            <a:pPr indent="0">
              <a:buNone/>
            </a:pPr>
            <a:r>
              <a:rPr lang="en-US" sz="2000" b="0" u="none" strike="noStrike" dirty="0">
                <a:solidFill>
                  <a:srgbClr val="000000"/>
                </a:solidFill>
                <a:effectLst/>
                <a:uFillTx/>
                <a:latin typeface="Arial"/>
              </a:rPr>
              <a:t>• Do not assume a product exposes every model a vendor offers through its API.</a:t>
            </a:r>
          </a:p>
          <a:p>
            <a:pPr indent="0">
              <a:buNone/>
            </a:pPr>
            <a:r>
              <a:rPr lang="en-US" sz="2000" b="0" u="none" strike="noStrike" dirty="0">
                <a:solidFill>
                  <a:srgbClr val="000000"/>
                </a:solidFill>
                <a:effectLst/>
                <a:uFillTx/>
                <a:latin typeface="Arial"/>
              </a:rPr>
              <a:t>• For local models, 'open weights' is more precise than automatically saying 'open source'; licenses and training openness differ by model.</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OpenAI GPT-5.6: https://openai.com/index/gpt-5-6/</a:t>
            </a:r>
          </a:p>
          <a:p>
            <a:pPr indent="0">
              <a:buNone/>
            </a:pPr>
            <a:r>
              <a:rPr lang="en-US" sz="2000" b="0" u="none" strike="noStrike" dirty="0">
                <a:solidFill>
                  <a:srgbClr val="000000"/>
                </a:solidFill>
                <a:effectLst/>
                <a:uFillTx/>
                <a:latin typeface="Arial"/>
              </a:rPr>
              <a:t>- Claude models: https://platform.claude.com/docs/en/about-claude/models/overview</a:t>
            </a:r>
          </a:p>
          <a:p>
            <a:pPr indent="0">
              <a:buNone/>
            </a:pPr>
            <a:r>
              <a:rPr lang="en-US" sz="2000" b="0" u="none" strike="noStrike" dirty="0">
                <a:solidFill>
                  <a:srgbClr val="000000"/>
                </a:solidFill>
                <a:effectLst/>
                <a:uFillTx/>
                <a:latin typeface="Arial"/>
              </a:rPr>
              <a:t>- Gemini models: https://ai.google.dev/gemini-api/docs/models</a:t>
            </a:r>
          </a:p>
          <a:p>
            <a:pPr indent="0">
              <a:lnSpc>
                <a:spcPct val="100000"/>
              </a:lnSpc>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Ollama</a:t>
            </a:r>
            <a:r>
              <a:rPr lang="en-US" sz="2000" b="0" u="none" strike="noStrike" dirty="0">
                <a:solidFill>
                  <a:srgbClr val="000000"/>
                </a:solidFill>
                <a:effectLst/>
                <a:uFillTx/>
                <a:latin typeface="Arial"/>
              </a:rPr>
              <a:t> library: https://ollama.com/library</a:t>
            </a:r>
          </a:p>
        </p:txBody>
      </p:sp>
      <p:sp>
        <p:nvSpPr>
          <p:cNvPr id="97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7B95B2FE-46B6-419E-8C09-CA8A2824CE5C}" type="slidenum">
              <a:rPr lang="en-US" sz="1200" b="0" u="none" strike="noStrike">
                <a:solidFill>
                  <a:schemeClr val="dk1"/>
                </a:solidFill>
                <a:effectLst/>
                <a:uFillTx/>
                <a:latin typeface="+mn-lt"/>
                <a:ea typeface="+mn-ea"/>
              </a:rPr>
              <a:t>14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 name="PlaceHolder 1"/>
          <p:cNvSpPr>
            <a:spLocks noGrp="1" noRot="1" noChangeAspect="1"/>
          </p:cNvSpPr>
          <p:nvPr>
            <p:ph type="sldImg"/>
          </p:nvPr>
        </p:nvSpPr>
        <p:spPr>
          <a:xfrm>
            <a:off x="685800" y="1143000"/>
            <a:ext cx="5486400" cy="3086100"/>
          </a:xfrm>
          <a:prstGeom prst="rect">
            <a:avLst/>
          </a:prstGeom>
          <a:ln w="0">
            <a:noFill/>
          </a:ln>
        </p:spPr>
      </p:sp>
      <p:sp>
        <p:nvSpPr>
          <p:cNvPr id="9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4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Show one live benchmark site if internet is available. Ask: what exactly is being measured?</a:t>
            </a:r>
          </a:p>
          <a:p>
            <a:pPr indent="0">
              <a:buNone/>
            </a:pPr>
            <a:r>
              <a:rPr lang="en-US" sz="2000" b="0" u="none" strike="noStrike" dirty="0">
                <a:solidFill>
                  <a:srgbClr val="000000"/>
                </a:solidFill>
                <a:effectLst/>
                <a:uFillTx/>
                <a:latin typeface="Arial"/>
              </a:rPr>
              <a:t>• Artificial Analysis publishes a methodology for its composite index; Arena documents its leaderboard policy; </a:t>
            </a:r>
            <a:r>
              <a:rPr lang="en-US" sz="2000" b="0" u="none" strike="noStrike" dirty="0" err="1">
                <a:solidFill>
                  <a:srgbClr val="000000"/>
                </a:solidFill>
                <a:effectLst/>
                <a:uFillTx/>
                <a:latin typeface="Arial"/>
              </a:rPr>
              <a:t>LiveBench</a:t>
            </a:r>
            <a:r>
              <a:rPr lang="en-US" sz="2000" b="0" u="none" strike="noStrike" dirty="0">
                <a:solidFill>
                  <a:srgbClr val="000000"/>
                </a:solidFill>
                <a:effectLst/>
                <a:uFillTx/>
                <a:latin typeface="Arial"/>
              </a:rPr>
              <a:t> refreshes questions; SWE-bench evaluates software engineering tasks.</a:t>
            </a:r>
          </a:p>
          <a:p>
            <a:pPr indent="0">
              <a:buNone/>
            </a:pPr>
            <a:r>
              <a:rPr lang="en-US" sz="2000" b="0" u="none" strike="noStrike" dirty="0">
                <a:solidFill>
                  <a:srgbClr val="000000"/>
                </a:solidFill>
                <a:effectLst/>
                <a:uFillTx/>
                <a:latin typeface="Arial"/>
              </a:rPr>
              <a:t>• OpenAI published a 2026 critique of SWE-bench Verified after auditing cases—good evidence that benchmarks are not sacred.</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Artificial Analysis methodology: https://artificialanalysis.ai/methodology/intelligence-benchmarking</a:t>
            </a:r>
          </a:p>
          <a:p>
            <a:pPr indent="0">
              <a:buNone/>
            </a:pPr>
            <a:r>
              <a:rPr lang="en-US" sz="2000" b="0" u="none" strike="noStrike" dirty="0">
                <a:solidFill>
                  <a:srgbClr val="000000"/>
                </a:solidFill>
                <a:effectLst/>
                <a:uFillTx/>
                <a:latin typeface="Arial"/>
              </a:rPr>
              <a:t>- Arena policy: https://arena.ai/blog/policy</a:t>
            </a:r>
          </a:p>
          <a:p>
            <a:pPr indent="0">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LiveBench</a:t>
            </a:r>
            <a:r>
              <a:rPr lang="en-US" sz="2000" b="0" u="none" strike="noStrike" dirty="0">
                <a:solidFill>
                  <a:srgbClr val="000000"/>
                </a:solidFill>
                <a:effectLst/>
                <a:uFillTx/>
                <a:latin typeface="Arial"/>
              </a:rPr>
              <a:t>: https://livebench.ai/</a:t>
            </a:r>
          </a:p>
          <a:p>
            <a:pPr indent="0">
              <a:buNone/>
            </a:pPr>
            <a:r>
              <a:rPr lang="en-US" sz="2000" b="0" u="none" strike="noStrike" dirty="0">
                <a:solidFill>
                  <a:srgbClr val="000000"/>
                </a:solidFill>
                <a:effectLst/>
                <a:uFillTx/>
                <a:latin typeface="Arial"/>
              </a:rPr>
              <a:t>- SWE-bench: https://www.swebench.com/</a:t>
            </a:r>
          </a:p>
          <a:p>
            <a:pPr indent="0">
              <a:lnSpc>
                <a:spcPct val="100000"/>
              </a:lnSpc>
              <a:buNone/>
            </a:pPr>
            <a:r>
              <a:rPr lang="en-US" sz="2000" b="0" u="none" strike="noStrike" dirty="0">
                <a:solidFill>
                  <a:srgbClr val="000000"/>
                </a:solidFill>
                <a:effectLst/>
                <a:uFillTx/>
                <a:latin typeface="Arial"/>
              </a:rPr>
              <a:t>- OpenAI: SWE-bench Verified limitations: https://openai.com/index/why-we-no-longer-evaluate-swe-bench-verified/</a:t>
            </a:r>
          </a:p>
        </p:txBody>
      </p:sp>
      <p:sp>
        <p:nvSpPr>
          <p:cNvPr id="97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7F4B1D4-D1B5-419E-B587-67D6293CACBE}" type="slidenum">
              <a:rPr lang="en-US" sz="1200" b="0" u="none" strike="noStrike">
                <a:solidFill>
                  <a:schemeClr val="dk1"/>
                </a:solidFill>
                <a:effectLst/>
                <a:uFillTx/>
                <a:latin typeface="+mn-lt"/>
                <a:ea typeface="+mn-ea"/>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7" name="PlaceHolder 1"/>
          <p:cNvSpPr>
            <a:spLocks noGrp="1" noRot="1" noChangeAspect="1"/>
          </p:cNvSpPr>
          <p:nvPr>
            <p:ph type="sldImg"/>
          </p:nvPr>
        </p:nvSpPr>
        <p:spPr>
          <a:xfrm>
            <a:off x="685800" y="1143000"/>
            <a:ext cx="5486400" cy="3086100"/>
          </a:xfrm>
          <a:prstGeom prst="rect">
            <a:avLst/>
          </a:prstGeom>
          <a:ln w="0">
            <a:noFill/>
          </a:ln>
        </p:spPr>
      </p:sp>
      <p:sp>
        <p:nvSpPr>
          <p:cNvPr id="9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3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OpenRouter</a:t>
            </a:r>
            <a:r>
              <a:rPr lang="en-US" sz="2000" b="0" u="none" strike="noStrike" dirty="0">
                <a:solidFill>
                  <a:srgbClr val="000000"/>
                </a:solidFill>
                <a:effectLst/>
                <a:uFillTx/>
                <a:latin typeface="Arial"/>
              </a:rPr>
              <a:t> is not an air-gapped component; it is a hosted routing/API service. In an offline stack, omit it or replace it with a local gateway.</a:t>
            </a:r>
          </a:p>
          <a:p>
            <a:pPr indent="0">
              <a:buNone/>
            </a:pPr>
            <a:r>
              <a:rPr lang="en-US" sz="2000" b="0" u="none" strike="noStrike" dirty="0">
                <a:solidFill>
                  <a:srgbClr val="000000"/>
                </a:solidFill>
                <a:effectLst/>
                <a:uFillTx/>
                <a:latin typeface="Arial"/>
              </a:rPr>
              <a:t>• Hermes and OpenClaw can work with local or remote model providers depending on configuration.</a:t>
            </a:r>
          </a:p>
          <a:p>
            <a:pPr indent="0">
              <a:buNone/>
            </a:pPr>
            <a:r>
              <a:rPr lang="en-US" sz="2000" b="0" u="none" strike="noStrike" dirty="0">
                <a:solidFill>
                  <a:srgbClr val="000000"/>
                </a:solidFill>
                <a:effectLst/>
                <a:uFillTx/>
                <a:latin typeface="Arial"/>
              </a:rPr>
              <a:t>• When somebody says 'my AI is local', ask four questions: inference location, storage location, tool/network access, and telemetry/update behavior.</a:t>
            </a:r>
          </a:p>
          <a:p>
            <a:pPr marL="171450" indent="-171450">
              <a:buFontTx/>
              <a:buChar char="-"/>
            </a:pPr>
            <a:r>
              <a:rPr lang="en-US" sz="1200" b="1" u="none" strike="noStrike" kern="1200" dirty="0">
                <a:solidFill>
                  <a:schemeClr val="tx1"/>
                </a:solidFill>
                <a:effectLst/>
                <a:latin typeface="+mn-lt"/>
                <a:ea typeface="+mn-ea"/>
                <a:cs typeface="+mn-cs"/>
              </a:rPr>
              <a:t>GGUF ecosystem</a:t>
            </a:r>
            <a:r>
              <a:rPr lang="en-US" sz="1200" b="0" u="none" strike="noStrike" kern="1200" dirty="0">
                <a:solidFill>
                  <a:schemeClr val="tx1"/>
                </a:solidFill>
                <a:effectLst/>
                <a:latin typeface="+mn-lt"/>
                <a:ea typeface="+mn-ea"/>
                <a:cs typeface="+mn-cs"/>
              </a:rPr>
              <a:t> is a leading open-source framework for running large language models locally on consumer hardware</a:t>
            </a:r>
          </a:p>
          <a:p>
            <a:pPr marL="342900" indent="-342900">
              <a:buFontTx/>
              <a:buChar char="-"/>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Ollama</a:t>
            </a:r>
            <a:r>
              <a:rPr lang="en-US" sz="2000" b="0" u="none" strike="noStrike" dirty="0">
                <a:solidFill>
                  <a:srgbClr val="000000"/>
                </a:solidFill>
                <a:effectLst/>
                <a:uFillTx/>
                <a:latin typeface="Arial"/>
              </a:rPr>
              <a:t>: https://ollama.com/</a:t>
            </a:r>
          </a:p>
          <a:p>
            <a:pPr indent="0">
              <a:buNone/>
            </a:pPr>
            <a:r>
              <a:rPr lang="en-US" sz="2000" b="0" u="none" strike="noStrike" dirty="0">
                <a:solidFill>
                  <a:srgbClr val="000000"/>
                </a:solidFill>
                <a:effectLst/>
                <a:uFillTx/>
                <a:latin typeface="Arial"/>
              </a:rPr>
              <a:t>- Open </a:t>
            </a:r>
            <a:r>
              <a:rPr lang="en-US" sz="2000" b="0" u="none" strike="noStrike" dirty="0" err="1">
                <a:solidFill>
                  <a:srgbClr val="000000"/>
                </a:solidFill>
                <a:effectLst/>
                <a:uFillTx/>
                <a:latin typeface="Arial"/>
              </a:rPr>
              <a:t>WebUI</a:t>
            </a:r>
            <a:r>
              <a:rPr lang="en-US" sz="2000" b="0" u="none" strike="noStrike" dirty="0">
                <a:solidFill>
                  <a:srgbClr val="000000"/>
                </a:solidFill>
                <a:effectLst/>
                <a:uFillTx/>
                <a:latin typeface="Arial"/>
              </a:rPr>
              <a:t>: https://docs.openwebui.com/</a:t>
            </a:r>
          </a:p>
          <a:p>
            <a:pPr indent="0">
              <a:buNone/>
            </a:pPr>
            <a:r>
              <a:rPr lang="en-US" sz="2000" b="0" u="none" strike="noStrike" dirty="0">
                <a:solidFill>
                  <a:srgbClr val="000000"/>
                </a:solidFill>
                <a:effectLst/>
                <a:uFillTx/>
                <a:latin typeface="Arial"/>
              </a:rPr>
              <a:t>- </a:t>
            </a:r>
            <a:r>
              <a:rPr lang="en-US" sz="2000" b="0" u="none" strike="noStrike" dirty="0" err="1">
                <a:solidFill>
                  <a:srgbClr val="000000"/>
                </a:solidFill>
                <a:effectLst/>
                <a:uFillTx/>
                <a:latin typeface="Arial"/>
              </a:rPr>
              <a:t>OpenRouter</a:t>
            </a:r>
            <a:r>
              <a:rPr lang="en-US" sz="2000" b="0" u="none" strike="noStrike" dirty="0">
                <a:solidFill>
                  <a:srgbClr val="000000"/>
                </a:solidFill>
                <a:effectLst/>
                <a:uFillTx/>
                <a:latin typeface="Arial"/>
              </a:rPr>
              <a:t>: https://openrouter.ai/docs/quickstart</a:t>
            </a:r>
          </a:p>
          <a:p>
            <a:pPr indent="0">
              <a:buNone/>
            </a:pPr>
            <a:r>
              <a:rPr lang="en-US" sz="2000" b="0" u="none" strike="noStrike" dirty="0">
                <a:solidFill>
                  <a:srgbClr val="000000"/>
                </a:solidFill>
                <a:effectLst/>
                <a:uFillTx/>
                <a:latin typeface="Arial"/>
              </a:rPr>
              <a:t>- Hermes: https://hermes-agent.nousresearch.com/docs/</a:t>
            </a:r>
          </a:p>
          <a:p>
            <a:pPr indent="0">
              <a:lnSpc>
                <a:spcPct val="100000"/>
              </a:lnSpc>
              <a:buNone/>
            </a:pPr>
            <a:r>
              <a:rPr lang="en-US" sz="2000" b="0" u="none" strike="noStrike" dirty="0">
                <a:solidFill>
                  <a:srgbClr val="000000"/>
                </a:solidFill>
                <a:effectLst/>
                <a:uFillTx/>
                <a:latin typeface="Arial"/>
              </a:rPr>
              <a:t>- OpenClaw: https://docs.openclaw.ai/</a:t>
            </a:r>
          </a:p>
        </p:txBody>
      </p:sp>
      <p:sp>
        <p:nvSpPr>
          <p:cNvPr id="97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74E89F6-F5B9-40A1-B292-68DD29260DAC}" type="slidenum">
              <a:rPr lang="en-US" sz="1200" b="0" u="none" strike="noStrike">
                <a:solidFill>
                  <a:schemeClr val="dk1"/>
                </a:solidFill>
                <a:effectLst/>
                <a:uFillTx/>
                <a:latin typeface="+mn-lt"/>
                <a:ea typeface="+mn-ea"/>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PlaceHolder 1"/>
          <p:cNvSpPr>
            <a:spLocks noGrp="1" noRot="1" noChangeAspect="1"/>
          </p:cNvSpPr>
          <p:nvPr>
            <p:ph type="sldImg"/>
          </p:nvPr>
        </p:nvSpPr>
        <p:spPr>
          <a:xfrm>
            <a:off x="685800" y="1143000"/>
            <a:ext cx="5486400" cy="3086100"/>
          </a:xfrm>
          <a:prstGeom prst="rect">
            <a:avLst/>
          </a:prstGeom>
          <a:ln w="0">
            <a:noFill/>
          </a:ln>
        </p:spPr>
      </p:sp>
      <p:sp>
        <p:nvSpPr>
          <p:cNvPr id="9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3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Explain the rough math: parameters × bits-per-weight ÷ 8. This estimates weight storage, not total runtime memory.</a:t>
            </a:r>
          </a:p>
          <a:p>
            <a:pPr indent="0">
              <a:buNone/>
            </a:pPr>
            <a:r>
              <a:rPr lang="en-US" sz="2000" b="0" u="none" strike="noStrike">
                <a:solidFill>
                  <a:srgbClr val="000000"/>
                </a:solidFill>
                <a:effectLst/>
                <a:uFillTx/>
                <a:latin typeface="Arial"/>
              </a:rPr>
              <a:t>• Quantization converts higher-precision weights to lower-bit formats. llama.cpp documents that this shrinks size and can improve inference speed while potentially introducing accuracy loss.</a:t>
            </a:r>
          </a:p>
          <a:p>
            <a:pPr indent="0">
              <a:buNone/>
            </a:pPr>
            <a:r>
              <a:rPr lang="en-US" sz="2000" b="0" u="none" strike="noStrike">
                <a:solidFill>
                  <a:srgbClr val="000000"/>
                </a:solidFill>
                <a:effectLst/>
                <a:uFillTx/>
                <a:latin typeface="Arial"/>
              </a:rPr>
              <a:t>• Model names are not standardized across all publishers; always open the model card / Ollama tag details.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llama.cpp quantize README: https://github.com/ggml-org/llama.cpp/blob/master/tools/quantize/README.md</a:t>
            </a:r>
          </a:p>
          <a:p>
            <a:pPr indent="0">
              <a:lnSpc>
                <a:spcPct val="100000"/>
              </a:lnSpc>
              <a:buNone/>
            </a:pPr>
            <a:r>
              <a:rPr lang="en-US" sz="2000" b="0" u="none" strike="noStrike">
                <a:solidFill>
                  <a:srgbClr val="000000"/>
                </a:solidFill>
                <a:effectLst/>
                <a:uFillTx/>
                <a:latin typeface="Arial"/>
              </a:rPr>
              <a:t>- Ollama Gemma 3 page: https://ollama.com/library/gemma3</a:t>
            </a:r>
          </a:p>
        </p:txBody>
      </p:sp>
      <p:sp>
        <p:nvSpPr>
          <p:cNvPr id="98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E3AD25-2AA1-4825-B162-ACDAF54EE26B}" type="slidenum">
              <a:rPr lang="en-US" sz="1200" b="0" u="none" strike="noStrike">
                <a:solidFill>
                  <a:schemeClr val="dk1"/>
                </a:solidFill>
                <a:effectLst/>
                <a:uFillTx/>
                <a:latin typeface="+mn-lt"/>
                <a:ea typeface="+mn-ea"/>
              </a:rPr>
              <a:t>17</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 name="PlaceHolder 1"/>
          <p:cNvSpPr>
            <a:spLocks noGrp="1" noRot="1" noChangeAspect="1"/>
          </p:cNvSpPr>
          <p:nvPr>
            <p:ph type="sldImg"/>
          </p:nvPr>
        </p:nvSpPr>
        <p:spPr>
          <a:xfrm>
            <a:off x="685800" y="1143000"/>
            <a:ext cx="5486040" cy="3085920"/>
          </a:xfrm>
          <a:prstGeom prst="rect">
            <a:avLst/>
          </a:prstGeom>
          <a:ln w="0">
            <a:noFill/>
          </a:ln>
        </p:spPr>
      </p:sp>
      <p:sp>
        <p:nvSpPr>
          <p:cNvPr id="9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4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Call this 'practical starting points' rather than hard requirements. Hardware requirements are model-specific.</a:t>
            </a:r>
          </a:p>
          <a:p>
            <a:pPr indent="0">
              <a:buNone/>
            </a:pPr>
            <a:r>
              <a:rPr lang="en-US" sz="2000" b="0" u="none" strike="noStrike">
                <a:solidFill>
                  <a:srgbClr val="000000"/>
                </a:solidFill>
                <a:effectLst/>
                <a:uFillTx/>
                <a:latin typeface="Arial"/>
              </a:rPr>
              <a:t>• The table's package-size bands are derived from common Q4-ish local packages; the exact file size varies. Ollama's Gemma 3 page gives concrete current examples: 4B ≈ 3.3 GB, 12B ≈ 8.1 GB, 27B ≈ 17 GB.</a:t>
            </a:r>
          </a:p>
          <a:p>
            <a:pPr indent="0">
              <a:buNone/>
            </a:pPr>
            <a:r>
              <a:rPr lang="en-US" sz="2000" b="0" u="none" strike="noStrike">
                <a:solidFill>
                  <a:srgbClr val="000000"/>
                </a:solidFill>
                <a:effectLst/>
                <a:uFillTx/>
                <a:latin typeface="Arial"/>
              </a:rPr>
              <a:t>• RAM recommendations leave room for OS/runtime/context. GPU VRAM values are comfort targets. Unified-memory Macs behave differently from discrete-GPU PCs.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Ollama Gemma 3: https://ollama.com/library/gemma3</a:t>
            </a:r>
          </a:p>
          <a:p>
            <a:pPr indent="0">
              <a:lnSpc>
                <a:spcPct val="100000"/>
              </a:lnSpc>
              <a:buNone/>
            </a:pPr>
            <a:r>
              <a:rPr lang="en-US" sz="2000" b="0" u="none" strike="noStrike">
                <a:solidFill>
                  <a:srgbClr val="000000"/>
                </a:solidFill>
                <a:effectLst/>
                <a:uFillTx/>
                <a:latin typeface="Arial"/>
              </a:rPr>
              <a:t>- llama.cpp quantization: https://github.com/ggml-org/llama.cpp/blob/master/tools/quantize/README.md</a:t>
            </a:r>
          </a:p>
        </p:txBody>
      </p:sp>
      <p:sp>
        <p:nvSpPr>
          <p:cNvPr id="98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1DDBB77-02E1-4CDC-B311-37C75B8DC3D4}" type="slidenum">
              <a:rPr lang="en-US" sz="1200" b="0" u="none" strike="noStrike">
                <a:solidFill>
                  <a:schemeClr val="dk1"/>
                </a:solidFill>
                <a:effectLst/>
                <a:uFillTx/>
                <a:latin typeface="+mn-lt"/>
                <a:ea typeface="+mn-ea"/>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 name="PlaceHolder 1"/>
          <p:cNvSpPr>
            <a:spLocks noGrp="1" noRot="1" noChangeAspect="1"/>
          </p:cNvSpPr>
          <p:nvPr>
            <p:ph type="sldImg"/>
          </p:nvPr>
        </p:nvSpPr>
        <p:spPr>
          <a:xfrm>
            <a:off x="685800" y="1143000"/>
            <a:ext cx="5486400" cy="3086100"/>
          </a:xfrm>
          <a:prstGeom prst="rect">
            <a:avLst/>
          </a:prstGeom>
          <a:ln w="0">
            <a:noFill/>
          </a:ln>
        </p:spPr>
      </p:sp>
      <p:sp>
        <p:nvSpPr>
          <p:cNvPr id="9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4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This is a strong 'hard proof' slide: Open WebUI explicitly distinguishes offline mode from a fully air-gapped environment and states that the instance must be isolated from the internet.</a:t>
            </a:r>
          </a:p>
          <a:p>
            <a:pPr indent="0">
              <a:buNone/>
            </a:pPr>
            <a:r>
              <a:rPr lang="en-US" sz="2000" b="0" u="none" strike="noStrike">
                <a:solidFill>
                  <a:srgbClr val="000000"/>
                </a:solidFill>
                <a:effectLst/>
                <a:uFillTx/>
                <a:latin typeface="Arial"/>
              </a:rPr>
              <a:t>• Pre-download embeddings, speech models, and any other dependencies before isolation; Open WebUI documents that some features will not work if those assets were not cached.</a:t>
            </a:r>
          </a:p>
          <a:p>
            <a:pPr indent="0">
              <a:buNone/>
            </a:pPr>
            <a:r>
              <a:rPr lang="en-US" sz="2000" b="0" u="none" strike="noStrike">
                <a:solidFill>
                  <a:srgbClr val="000000"/>
                </a:solidFill>
                <a:effectLst/>
                <a:uFillTx/>
                <a:latin typeface="Arial"/>
              </a:rPr>
              <a:t>• Air-gapping improves confidentiality against remote services, but it does not remove local malware, vulnerable plugins, untrusted model files, or prompt-injection risk from documents.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Open WebUI Offline Mode: https://docs.openwebui.com/tutorials/maintenance/offline-mode/</a:t>
            </a:r>
          </a:p>
          <a:p>
            <a:pPr indent="0">
              <a:lnSpc>
                <a:spcPct val="100000"/>
              </a:lnSpc>
              <a:buNone/>
            </a:pPr>
            <a:r>
              <a:rPr lang="en-US" sz="2000" b="0" u="none" strike="noStrike">
                <a:solidFill>
                  <a:srgbClr val="000000"/>
                </a:solidFill>
                <a:effectLst/>
                <a:uFillTx/>
                <a:latin typeface="Arial"/>
              </a:rPr>
              <a:t>- Open WebUI hardening: https://docs.openwebui.com/getting-started/advanced-topics/hardening/</a:t>
            </a:r>
          </a:p>
        </p:txBody>
      </p:sp>
      <p:sp>
        <p:nvSpPr>
          <p:cNvPr id="98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E631F6E-D923-4E05-A84C-545A6A8EEA73}" type="slidenum">
              <a:rPr lang="en-US" sz="1200" b="0" u="none" strike="noStrike">
                <a:solidFill>
                  <a:schemeClr val="dk1"/>
                </a:solidFill>
                <a:effectLst/>
                <a:uFillTx/>
                <a:latin typeface="+mn-lt"/>
                <a:ea typeface="+mn-ea"/>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 name="PlaceHolder 1"/>
          <p:cNvSpPr>
            <a:spLocks noGrp="1" noRot="1" noChangeAspect="1"/>
          </p:cNvSpPr>
          <p:nvPr>
            <p:ph type="sldImg"/>
          </p:nvPr>
        </p:nvSpPr>
        <p:spPr>
          <a:xfrm>
            <a:off x="685800" y="1143000"/>
            <a:ext cx="5486400" cy="3086100"/>
          </a:xfrm>
          <a:prstGeom prst="rect">
            <a:avLst/>
          </a:prstGeom>
          <a:ln w="0">
            <a:noFill/>
          </a:ln>
        </p:spPr>
      </p:sp>
      <p:sp>
        <p:nvSpPr>
          <p:cNvPr id="9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dirty="0">
                <a:solidFill>
                  <a:srgbClr val="000000"/>
                </a:solidFill>
                <a:effectLst/>
                <a:uFillTx/>
                <a:latin typeface="Arial"/>
              </a:rPr>
              <a:t>Presenter timing: 4 minutes</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 Hermes and OpenClaw are useful examples because they are agent frameworks, not merely local model runtimes.</a:t>
            </a:r>
          </a:p>
          <a:p>
            <a:pPr indent="0">
              <a:buNone/>
            </a:pPr>
            <a:r>
              <a:rPr lang="en-US" sz="2000" b="0" u="none" strike="noStrike" dirty="0">
                <a:solidFill>
                  <a:srgbClr val="000000"/>
                </a:solidFill>
                <a:effectLst/>
                <a:uFillTx/>
                <a:latin typeface="Arial"/>
              </a:rPr>
              <a:t>• OpenClaw's own FAQ warns that external content such as web pages, emails, docs, attachments, and logs can carry instructions that attempt to hijack the model.</a:t>
            </a:r>
          </a:p>
          <a:p>
            <a:pPr indent="0">
              <a:buNone/>
            </a:pPr>
            <a:r>
              <a:rPr lang="en-US" sz="2000" b="0" u="none" strike="noStrike" dirty="0">
                <a:solidFill>
                  <a:srgbClr val="000000"/>
                </a:solidFill>
                <a:effectLst/>
                <a:uFillTx/>
                <a:latin typeface="Arial"/>
              </a:rPr>
              <a:t>• Best practice: least privilege, explicit approvals for destructive actions, isolated workspaces/containers, backups, no root/admin by default, and separate secrets from model-visible context.</a:t>
            </a:r>
          </a:p>
          <a:p>
            <a:pPr indent="0">
              <a:buNone/>
            </a:pPr>
            <a:endParaRPr lang="en-US" sz="2000" b="0" u="none" strike="noStrike" dirty="0">
              <a:solidFill>
                <a:srgbClr val="000000"/>
              </a:solidFill>
              <a:effectLst/>
              <a:uFillTx/>
              <a:latin typeface="Arial"/>
            </a:endParaRPr>
          </a:p>
          <a:p>
            <a:pPr indent="0">
              <a:buNone/>
            </a:pPr>
            <a:r>
              <a:rPr lang="en-US" sz="2000" b="0" u="none" strike="noStrike" dirty="0">
                <a:solidFill>
                  <a:srgbClr val="000000"/>
                </a:solidFill>
                <a:effectLst/>
                <a:uFillTx/>
                <a:latin typeface="Arial"/>
              </a:rPr>
              <a:t>Sources / proof:</a:t>
            </a:r>
          </a:p>
          <a:p>
            <a:pPr indent="0">
              <a:buNone/>
            </a:pPr>
            <a:r>
              <a:rPr lang="en-US" sz="2000" b="0" u="none" strike="noStrike" dirty="0">
                <a:solidFill>
                  <a:srgbClr val="000000"/>
                </a:solidFill>
                <a:effectLst/>
                <a:uFillTx/>
                <a:latin typeface="Arial"/>
              </a:rPr>
              <a:t>- Hermes Agent: https://hermes-agent.nousresearch.com/docs/</a:t>
            </a:r>
          </a:p>
          <a:p>
            <a:pPr indent="0">
              <a:buNone/>
            </a:pPr>
            <a:r>
              <a:rPr lang="en-US" sz="2000" b="0" u="none" strike="noStrike" dirty="0">
                <a:solidFill>
                  <a:srgbClr val="000000"/>
                </a:solidFill>
                <a:effectLst/>
                <a:uFillTx/>
                <a:latin typeface="Arial"/>
              </a:rPr>
              <a:t>- OpenClaw FAQ: https://docs.openclaw.ai/help/faq</a:t>
            </a:r>
          </a:p>
          <a:p>
            <a:pPr indent="0">
              <a:lnSpc>
                <a:spcPct val="100000"/>
              </a:lnSpc>
              <a:buNone/>
            </a:pPr>
            <a:r>
              <a:rPr lang="en-US" sz="2000" b="0" u="none" strike="noStrike" dirty="0">
                <a:solidFill>
                  <a:srgbClr val="000000"/>
                </a:solidFill>
                <a:effectLst/>
                <a:uFillTx/>
                <a:latin typeface="Arial"/>
              </a:rPr>
              <a:t>- Open </a:t>
            </a:r>
            <a:r>
              <a:rPr lang="en-US" sz="2000" b="0" u="none" strike="noStrike" dirty="0" err="1">
                <a:solidFill>
                  <a:srgbClr val="000000"/>
                </a:solidFill>
                <a:effectLst/>
                <a:uFillTx/>
                <a:latin typeface="Arial"/>
              </a:rPr>
              <a:t>WebUI</a:t>
            </a:r>
            <a:r>
              <a:rPr lang="en-US" sz="2000" b="0" u="none" strike="noStrike" dirty="0">
                <a:solidFill>
                  <a:srgbClr val="000000"/>
                </a:solidFill>
                <a:effectLst/>
                <a:uFillTx/>
                <a:latin typeface="Arial"/>
              </a:rPr>
              <a:t> hardening: https://docs.openwebui.com/getting-started/advanced-topics/hardening/</a:t>
            </a:r>
          </a:p>
        </p:txBody>
      </p:sp>
      <p:sp>
        <p:nvSpPr>
          <p:cNvPr id="99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49DCC4E-1B0B-4E54-BD07-ACEA16C27F76}" type="slidenum">
              <a:rPr lang="en-US" sz="1200" b="0" u="none" strike="noStrike">
                <a:solidFill>
                  <a:schemeClr val="dk1"/>
                </a:solidFill>
                <a:effectLst/>
                <a:uFillTx/>
                <a:latin typeface="+mn-lt"/>
                <a:ea typeface="+mn-ea"/>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2" name="PlaceHolder 1"/>
          <p:cNvSpPr>
            <a:spLocks noGrp="1" noRot="1" noChangeAspect="1"/>
          </p:cNvSpPr>
          <p:nvPr>
            <p:ph type="sldImg"/>
          </p:nvPr>
        </p:nvSpPr>
        <p:spPr>
          <a:xfrm>
            <a:off x="685800" y="1143000"/>
            <a:ext cx="5486040" cy="3085920"/>
          </a:xfrm>
          <a:prstGeom prst="rect">
            <a:avLst/>
          </a:prstGeom>
          <a:ln w="0">
            <a:noFill/>
          </a:ln>
        </p:spPr>
      </p:sp>
      <p:sp>
        <p:nvSpPr>
          <p:cNvPr id="9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4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This is policy guidance, not legal/compliance advice. Organizations should use their own data-classification and approved-tool policy.</a:t>
            </a:r>
          </a:p>
          <a:p>
            <a:pPr indent="0">
              <a:buNone/>
            </a:pPr>
            <a:r>
              <a:rPr lang="en-US" sz="2000" b="0" u="none" strike="noStrike">
                <a:solidFill>
                  <a:srgbClr val="000000"/>
                </a:solidFill>
                <a:effectLst/>
                <a:uFillTx/>
                <a:latin typeface="Arial"/>
              </a:rPr>
              <a:t>• Avoid blanket claims like 'consumer AI trains on everything.' Terms and controls vary by product, plan, and setting and change over time.</a:t>
            </a:r>
          </a:p>
          <a:p>
            <a:pPr indent="0">
              <a:buNone/>
            </a:pPr>
            <a:r>
              <a:rPr lang="en-US" sz="2000" b="0" u="none" strike="noStrike">
                <a:solidFill>
                  <a:srgbClr val="000000"/>
                </a:solidFill>
                <a:effectLst/>
                <a:uFillTx/>
                <a:latin typeface="Arial"/>
              </a:rPr>
              <a:t>• For maker-space use, the simple rule is: never paste secrets; treat private client/member data as protected; and inspect outbound paths in local stacks.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Open WebUI hardening: https://docs.openwebui.com/getting-started/advanced-topics/hardening/</a:t>
            </a:r>
          </a:p>
          <a:p>
            <a:pPr indent="0">
              <a:buNone/>
            </a:pPr>
            <a:r>
              <a:rPr lang="en-US" sz="2000" b="0" u="none" strike="noStrike">
                <a:solidFill>
                  <a:srgbClr val="000000"/>
                </a:solidFill>
                <a:effectLst/>
                <a:uFillTx/>
                <a:latin typeface="Arial"/>
              </a:rPr>
              <a:t>- OpenClaw FAQ: https://docs.openclaw.ai/help/faq</a:t>
            </a:r>
          </a:p>
          <a:p>
            <a:pPr indent="0">
              <a:lnSpc>
                <a:spcPct val="100000"/>
              </a:lnSpc>
              <a:buNone/>
            </a:pPr>
            <a:r>
              <a:rPr lang="en-US" sz="2000" b="0" u="none" strike="noStrike">
                <a:solidFill>
                  <a:srgbClr val="000000"/>
                </a:solidFill>
                <a:effectLst/>
                <a:uFillTx/>
                <a:latin typeface="Arial"/>
              </a:rPr>
              <a:t>- OpenAI API data controls: https://platform.openai.com/docs/models/default-usage-policies-by-endpoint</a:t>
            </a:r>
          </a:p>
        </p:txBody>
      </p:sp>
      <p:sp>
        <p:nvSpPr>
          <p:cNvPr id="99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0A95F47D-4072-43E0-A851-8E6F8A2DA8BB}" type="slidenum">
              <a:rPr lang="en-US" sz="1200" b="0" u="none" strike="noStrike">
                <a:solidFill>
                  <a:schemeClr val="dk1"/>
                </a:solidFill>
                <a:effectLst/>
                <a:uFillTx/>
                <a:latin typeface="+mn-lt"/>
                <a:ea typeface="+mn-ea"/>
              </a:rPr>
              <a:t>21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5" name="PlaceHolder 1"/>
          <p:cNvSpPr>
            <a:spLocks noGrp="1" noRot="1" noChangeAspect="1"/>
          </p:cNvSpPr>
          <p:nvPr>
            <p:ph type="sldImg"/>
          </p:nvPr>
        </p:nvSpPr>
        <p:spPr>
          <a:xfrm>
            <a:off x="685800" y="1143000"/>
            <a:ext cx="5486040" cy="3085920"/>
          </a:xfrm>
          <a:prstGeom prst="rect">
            <a:avLst/>
          </a:prstGeom>
          <a:ln w="0">
            <a:noFill/>
          </a:ln>
        </p:spPr>
      </p:sp>
      <p:sp>
        <p:nvSpPr>
          <p:cNvPr id="9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12–15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Pre-stage local models before the meeting. Do not rely on downloading multi-GB models at the library.</a:t>
            </a:r>
          </a:p>
          <a:p>
            <a:pPr indent="0">
              <a:buNone/>
            </a:pPr>
            <a:r>
              <a:rPr lang="en-US" sz="2000" b="0" u="none" strike="noStrike">
                <a:solidFill>
                  <a:srgbClr val="000000"/>
                </a:solidFill>
                <a:effectLst/>
                <a:uFillTx/>
                <a:latin typeface="Arial"/>
              </a:rPr>
              <a:t>• For demo 3, use the same prompt and same evidence so the comparison is fair. Make clear that model size, quantization, and hardware affect local results.</a:t>
            </a:r>
          </a:p>
          <a:p>
            <a:pPr indent="0">
              <a:lnSpc>
                <a:spcPct val="100000"/>
              </a:lnSpc>
              <a:buNone/>
            </a:pPr>
            <a:r>
              <a:rPr lang="en-US" sz="2000" b="0" u="none" strike="noStrike">
                <a:solidFill>
                  <a:srgbClr val="000000"/>
                </a:solidFill>
                <a:effectLst/>
                <a:uFillTx/>
                <a:latin typeface="Arial"/>
              </a:rPr>
              <a:t>• If time is running long, skip demo 3 and show the local stack UI for 60 seconds instead.</a:t>
            </a:r>
          </a:p>
        </p:txBody>
      </p:sp>
      <p:sp>
        <p:nvSpPr>
          <p:cNvPr id="99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2C606F05-53C8-463C-8375-8DBEA537D2D8}" type="slidenum">
              <a:rPr lang="en-US" sz="1200" b="0" u="none" strike="noStrike">
                <a:solidFill>
                  <a:schemeClr val="dk1"/>
                </a:solidFill>
                <a:effectLst/>
                <a:uFillTx/>
                <a:latin typeface="+mn-lt"/>
                <a:ea typeface="+mn-ea"/>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 name="PlaceHolder 1"/>
          <p:cNvSpPr>
            <a:spLocks noGrp="1" noRot="1" noChangeAspect="1"/>
          </p:cNvSpPr>
          <p:nvPr>
            <p:ph type="sldImg"/>
          </p:nvPr>
        </p:nvSpPr>
        <p:spPr>
          <a:xfrm>
            <a:off x="685800" y="1143000"/>
            <a:ext cx="5486040" cy="3085920"/>
          </a:xfrm>
          <a:prstGeom prst="rect">
            <a:avLst/>
          </a:prstGeom>
          <a:ln w="0">
            <a:noFill/>
          </a:ln>
        </p:spPr>
      </p:sp>
      <p:sp>
        <p:nvSpPr>
          <p:cNvPr id="9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1–2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These are take-home patterns; audience members can photograph this slide.</a:t>
            </a:r>
          </a:p>
          <a:p>
            <a:pPr indent="0">
              <a:buNone/>
            </a:pPr>
            <a:r>
              <a:rPr lang="en-US" sz="2000" b="0" u="none" strike="noStrike">
                <a:solidFill>
                  <a:srgbClr val="000000"/>
                </a:solidFill>
                <a:effectLst/>
                <a:uFillTx/>
                <a:latin typeface="Arial"/>
              </a:rPr>
              <a:t>• The structure deliberately asks for disconfirming evidence and uncertainty instead of a single confident answer.</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lnSpc>
                <a:spcPct val="100000"/>
              </a:lnSpc>
              <a:buNone/>
            </a:pPr>
            <a:r>
              <a:rPr lang="en-US" sz="2000" b="0" u="none" strike="noStrike">
                <a:solidFill>
                  <a:srgbClr val="000000"/>
                </a:solidFill>
                <a:effectLst/>
                <a:uFillTx/>
                <a:latin typeface="Arial"/>
              </a:rPr>
              <a:t>- Google prompt design strategies: https://ai.google.dev/gemini-api/docs/prompting-strategies</a:t>
            </a:r>
          </a:p>
        </p:txBody>
      </p:sp>
      <p:sp>
        <p:nvSpPr>
          <p:cNvPr id="100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46E7DADE-2320-4DAE-B99D-C473A1B9546D}" type="slidenum">
              <a:rPr lang="en-US" sz="1200" b="0" u="none" strike="noStrike">
                <a:solidFill>
                  <a:schemeClr val="dk1"/>
                </a:solidFill>
                <a:effectLst/>
                <a:uFillTx/>
                <a:latin typeface="+mn-lt"/>
                <a:ea typeface="+mn-ea"/>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PlaceHolder 1"/>
          <p:cNvSpPr>
            <a:spLocks noGrp="1" noRot="1" noChangeAspect="1"/>
          </p:cNvSpPr>
          <p:nvPr>
            <p:ph type="sldImg"/>
          </p:nvPr>
        </p:nvSpPr>
        <p:spPr>
          <a:xfrm>
            <a:off x="685800" y="1143000"/>
            <a:ext cx="5486400" cy="3086100"/>
          </a:xfrm>
          <a:prstGeom prst="rect">
            <a:avLst/>
          </a:prstGeom>
          <a:ln w="0">
            <a:noFill/>
          </a:ln>
        </p:spPr>
      </p:sp>
      <p:sp>
        <p:nvSpPr>
          <p:cNvPr id="10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3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Walk one example through the tree: public 3D-printer troubleshooting vs confidential client code vs offline proprietary design files.</a:t>
            </a:r>
          </a:p>
          <a:p>
            <a:pPr indent="0">
              <a:lnSpc>
                <a:spcPct val="100000"/>
              </a:lnSpc>
              <a:buNone/>
            </a:pPr>
            <a:r>
              <a:rPr lang="en-US" sz="2000" b="0" u="none" strike="noStrike">
                <a:solidFill>
                  <a:srgbClr val="000000"/>
                </a:solidFill>
                <a:effectLst/>
                <a:uFillTx/>
                <a:latin typeface="Arial"/>
              </a:rPr>
              <a:t>• The biggest model is not automatically the right answer. If a 9B local model reliably extracts data from your manuals, a frontier cloud model may be unnecessary.</a:t>
            </a:r>
          </a:p>
        </p:txBody>
      </p:sp>
      <p:sp>
        <p:nvSpPr>
          <p:cNvPr id="100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5A9484B-6236-4665-A5A4-BE0A7C207463}" type="slidenum">
              <a:rPr lang="en-US" sz="1200" b="0" u="none" strike="noStrike">
                <a:solidFill>
                  <a:schemeClr val="dk1"/>
                </a:solidFill>
                <a:effectLst/>
                <a:uFillTx/>
                <a:latin typeface="+mn-lt"/>
                <a:ea typeface="+mn-ea"/>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 name="PlaceHolder 1"/>
          <p:cNvSpPr>
            <a:spLocks noGrp="1" noRot="1" noChangeAspect="1"/>
          </p:cNvSpPr>
          <p:nvPr>
            <p:ph type="sldImg"/>
          </p:nvPr>
        </p:nvSpPr>
        <p:spPr>
          <a:xfrm>
            <a:off x="685800" y="1143000"/>
            <a:ext cx="5486400" cy="3086100"/>
          </a:xfrm>
          <a:prstGeom prst="rect">
            <a:avLst/>
          </a:prstGeom>
          <a:ln w="0">
            <a:noFill/>
          </a:ln>
        </p:spPr>
      </p:sp>
      <p:sp>
        <p:nvSpPr>
          <p:cNvPr id="10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2 minutes</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Pause after each rule. These are the workshop's core principles.</a:t>
            </a:r>
          </a:p>
          <a:p>
            <a:pPr indent="0">
              <a:lnSpc>
                <a:spcPct val="100000"/>
              </a:lnSpc>
              <a:buNone/>
            </a:pPr>
            <a:r>
              <a:rPr lang="en-US" sz="2000" b="0" u="none" strike="noStrike">
                <a:solidFill>
                  <a:srgbClr val="000000"/>
                </a:solidFill>
                <a:effectLst/>
                <a:uFillTx/>
                <a:latin typeface="Arial"/>
              </a:rPr>
              <a:t>• Invite attendees to pick one upcoming maker project and decide which rule will change how they use AI on it.</a:t>
            </a:r>
          </a:p>
        </p:txBody>
      </p:sp>
      <p:sp>
        <p:nvSpPr>
          <p:cNvPr id="100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18C0DC4-38DE-4D4E-9E88-DFE2C411796C}" type="slidenum">
              <a:rPr lang="en-US" sz="1200" b="0" u="none" strike="noStrike">
                <a:solidFill>
                  <a:schemeClr val="dk1"/>
                </a:solidFill>
                <a:effectLst/>
                <a:uFillTx/>
                <a:latin typeface="+mn-lt"/>
                <a:ea typeface="+mn-ea"/>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 name="PlaceHolder 1"/>
          <p:cNvSpPr>
            <a:spLocks noGrp="1" noRot="1" noChangeAspect="1"/>
          </p:cNvSpPr>
          <p:nvPr>
            <p:ph type="sldImg"/>
          </p:nvPr>
        </p:nvSpPr>
        <p:spPr>
          <a:xfrm>
            <a:off x="685800" y="1143000"/>
            <a:ext cx="5486040" cy="3085920"/>
          </a:xfrm>
          <a:prstGeom prst="rect">
            <a:avLst/>
          </a:prstGeom>
          <a:ln w="0">
            <a:noFill/>
          </a:ln>
        </p:spPr>
      </p:sp>
      <p:sp>
        <p:nvSpPr>
          <p:cNvPr id="10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Reference slide</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This slide is mainly for attendees after the talk. All links are intended to be clickable in PowerPoint.</a:t>
            </a:r>
          </a:p>
          <a:p>
            <a:pPr indent="0">
              <a:buNone/>
            </a:pPr>
            <a:r>
              <a:rPr lang="en-US" sz="2000" b="0" u="none" strike="noStrike">
                <a:solidFill>
                  <a:srgbClr val="000000"/>
                </a:solidFill>
                <a:effectLst/>
                <a:uFillTx/>
                <a:latin typeface="Arial"/>
              </a:rPr>
              <a:t>• The deck uses vendor primary documentation for product/model claims and independent benchmark sources for cross-model evaluation methodology.</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Sources / proof:</a:t>
            </a:r>
          </a:p>
          <a:p>
            <a:pPr indent="0">
              <a:buNone/>
            </a:pPr>
            <a:r>
              <a:rPr lang="en-US" sz="2000" b="0" u="none" strike="noStrike">
                <a:solidFill>
                  <a:srgbClr val="000000"/>
                </a:solidFill>
                <a:effectLst/>
                <a:uFillTx/>
                <a:latin typeface="Arial"/>
              </a:rPr>
              <a:t>- Attention Is All You Need: https://arxiv.org/abs/1706.03762</a:t>
            </a:r>
          </a:p>
          <a:p>
            <a:pPr indent="0">
              <a:buNone/>
            </a:pPr>
            <a:r>
              <a:rPr lang="en-US" sz="2000" b="0" u="none" strike="noStrike">
                <a:solidFill>
                  <a:srgbClr val="000000"/>
                </a:solidFill>
                <a:effectLst/>
                <a:uFillTx/>
                <a:latin typeface="Arial"/>
              </a:rPr>
              <a:t>- OpenAI token guide + tokenizer: https://help.openai.com/en/articles/4936856-what-are-tokens-and-how-to-count-them</a:t>
            </a:r>
          </a:p>
          <a:p>
            <a:pPr indent="0">
              <a:buNone/>
            </a:pPr>
            <a:r>
              <a:rPr lang="en-US" sz="2000" b="0" u="none" strike="noStrike">
                <a:solidFill>
                  <a:srgbClr val="000000"/>
                </a:solidFill>
                <a:effectLst/>
                <a:uFillTx/>
                <a:latin typeface="Arial"/>
              </a:rPr>
              <a:t>- GPT-5.6 family / evaluations: https://openai.com/index/gpt-5-6/</a:t>
            </a:r>
          </a:p>
          <a:p>
            <a:pPr indent="0">
              <a:buNone/>
            </a:pPr>
            <a:r>
              <a:rPr lang="en-US" sz="2000" b="0" u="none" strike="noStrike">
                <a:solidFill>
                  <a:srgbClr val="000000"/>
                </a:solidFill>
                <a:effectLst/>
                <a:uFillTx/>
                <a:latin typeface="Arial"/>
              </a:rPr>
              <a:t>- Claude model overview: https://platform.claude.com/docs/en/about-claude/models/overview</a:t>
            </a:r>
          </a:p>
          <a:p>
            <a:pPr indent="0">
              <a:buNone/>
            </a:pPr>
            <a:r>
              <a:rPr lang="en-US" sz="2000" b="0" u="none" strike="noStrike">
                <a:solidFill>
                  <a:srgbClr val="000000"/>
                </a:solidFill>
                <a:effectLst/>
                <a:uFillTx/>
                <a:latin typeface="Arial"/>
              </a:rPr>
              <a:t>- Gemini API model catalog: https://ai.google.dev/gemini-api/docs/models</a:t>
            </a:r>
          </a:p>
          <a:p>
            <a:pPr indent="0">
              <a:buNone/>
            </a:pPr>
            <a:r>
              <a:rPr lang="en-US" sz="2000" b="0" u="none" strike="noStrike">
                <a:solidFill>
                  <a:srgbClr val="000000"/>
                </a:solidFill>
                <a:effectLst/>
                <a:uFillTx/>
                <a:latin typeface="Arial"/>
              </a:rPr>
              <a:t>- GitHub model comparison: https://docs.github.com/en/copilot/reference/ai-models/model-comparison</a:t>
            </a:r>
          </a:p>
          <a:p>
            <a:pPr indent="0">
              <a:buNone/>
            </a:pPr>
            <a:r>
              <a:rPr lang="en-US" sz="2000" b="0" u="none" strike="noStrike">
                <a:solidFill>
                  <a:srgbClr val="000000"/>
                </a:solidFill>
                <a:effectLst/>
                <a:uFillTx/>
                <a:latin typeface="Arial"/>
              </a:rPr>
              <a:t>- Search + model documentation: https://www.perplexity.ai/help-center/en/articles/10354919-what-advanced-ai-models-are-included-in-my-subscription</a:t>
            </a:r>
          </a:p>
          <a:p>
            <a:pPr indent="0">
              <a:buNone/>
            </a:pPr>
            <a:r>
              <a:rPr lang="en-US" sz="2000" b="0" u="none" strike="noStrike">
                <a:solidFill>
                  <a:srgbClr val="000000"/>
                </a:solidFill>
                <a:effectLst/>
                <a:uFillTx/>
                <a:latin typeface="Arial"/>
              </a:rPr>
              <a:t>- Artificial Analysis methodology: https://artificialanalysis.ai/methodology/intelligence-benchmarking</a:t>
            </a:r>
          </a:p>
          <a:p>
            <a:pPr indent="0">
              <a:buNone/>
            </a:pPr>
            <a:r>
              <a:rPr lang="en-US" sz="2000" b="0" u="none" strike="noStrike">
                <a:solidFill>
                  <a:srgbClr val="000000"/>
                </a:solidFill>
                <a:effectLst/>
                <a:uFillTx/>
                <a:latin typeface="Arial"/>
              </a:rPr>
              <a:t>- Arena leaderboard policy: https://arena.ai/blog/policy</a:t>
            </a:r>
          </a:p>
          <a:p>
            <a:pPr indent="0">
              <a:buNone/>
            </a:pPr>
            <a:r>
              <a:rPr lang="en-US" sz="2000" b="0" u="none" strike="noStrike">
                <a:solidFill>
                  <a:srgbClr val="000000"/>
                </a:solidFill>
                <a:effectLst/>
                <a:uFillTx/>
                <a:latin typeface="Arial"/>
              </a:rPr>
              <a:t>- LiveBench: https://livebench.ai/</a:t>
            </a:r>
          </a:p>
          <a:p>
            <a:pPr indent="0">
              <a:buNone/>
            </a:pPr>
            <a:r>
              <a:rPr lang="en-US" sz="2000" b="0" u="none" strike="noStrike">
                <a:solidFill>
                  <a:srgbClr val="000000"/>
                </a:solidFill>
                <a:effectLst/>
                <a:uFillTx/>
                <a:latin typeface="Arial"/>
              </a:rPr>
              <a:t>- SWE-bench: https://www.swebench.com/</a:t>
            </a:r>
          </a:p>
          <a:p>
            <a:pPr indent="0">
              <a:buNone/>
            </a:pPr>
            <a:r>
              <a:rPr lang="en-US" sz="2000" b="0" u="none" strike="noStrike">
                <a:solidFill>
                  <a:srgbClr val="000000"/>
                </a:solidFill>
                <a:effectLst/>
                <a:uFillTx/>
                <a:latin typeface="Arial"/>
              </a:rPr>
              <a:t>- Ollama: https://ollama.com/</a:t>
            </a:r>
          </a:p>
          <a:p>
            <a:pPr indent="0">
              <a:buNone/>
            </a:pPr>
            <a:r>
              <a:rPr lang="en-US" sz="2000" b="0" u="none" strike="noStrike">
                <a:solidFill>
                  <a:srgbClr val="000000"/>
                </a:solidFill>
                <a:effectLst/>
                <a:uFillTx/>
                <a:latin typeface="Arial"/>
              </a:rPr>
              <a:t>- llama.cpp quantize docs: https://github.com/ggml-org/llama.cpp/blob/master/tools/quantize/README.md</a:t>
            </a:r>
          </a:p>
          <a:p>
            <a:pPr indent="0">
              <a:buNone/>
            </a:pPr>
            <a:r>
              <a:rPr lang="en-US" sz="2000" b="0" u="none" strike="noStrike">
                <a:solidFill>
                  <a:srgbClr val="000000"/>
                </a:solidFill>
                <a:effectLst/>
                <a:uFillTx/>
                <a:latin typeface="Arial"/>
              </a:rPr>
              <a:t>- Open WebUI offline mode: https://docs.openwebui.com/tutorials/maintenance/offline-mode/</a:t>
            </a:r>
          </a:p>
          <a:p>
            <a:pPr indent="0">
              <a:buNone/>
            </a:pPr>
            <a:r>
              <a:rPr lang="en-US" sz="2000" b="0" u="none" strike="noStrike">
                <a:solidFill>
                  <a:srgbClr val="000000"/>
                </a:solidFill>
                <a:effectLst/>
                <a:uFillTx/>
                <a:latin typeface="Arial"/>
              </a:rPr>
              <a:t>- Hermes Agent docs: https://hermes-agent.nousresearch.com/docs/</a:t>
            </a:r>
          </a:p>
          <a:p>
            <a:pPr indent="0">
              <a:lnSpc>
                <a:spcPct val="100000"/>
              </a:lnSpc>
              <a:buNone/>
            </a:pPr>
            <a:r>
              <a:rPr lang="en-US" sz="2000" b="0" u="none" strike="noStrike">
                <a:solidFill>
                  <a:srgbClr val="000000"/>
                </a:solidFill>
                <a:effectLst/>
                <a:uFillTx/>
                <a:latin typeface="Arial"/>
              </a:rPr>
              <a:t>- OpenClaw docs / FAQ: https://docs.openclaw.ai/help/faq</a:t>
            </a:r>
          </a:p>
        </p:txBody>
      </p:sp>
      <p:sp>
        <p:nvSpPr>
          <p:cNvPr id="100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4FE61BB-BA22-4224-A6EB-1BDE18D219E2}" type="slidenum">
              <a:rPr lang="en-US" sz="1200" b="0" u="none" strike="noStrike">
                <a:solidFill>
                  <a:schemeClr val="dk1"/>
                </a:solidFill>
                <a:effectLst/>
                <a:uFillTx/>
                <a:latin typeface="+mn-lt"/>
                <a:ea typeface="+mn-ea"/>
              </a:rPr>
              <a:t>26</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0" name="PlaceHolder 1"/>
          <p:cNvSpPr>
            <a:spLocks noGrp="1" noRot="1" noChangeAspect="1"/>
          </p:cNvSpPr>
          <p:nvPr>
            <p:ph type="sldImg"/>
          </p:nvPr>
        </p:nvSpPr>
        <p:spPr>
          <a:xfrm>
            <a:off x="685800" y="1143000"/>
            <a:ext cx="5486400" cy="3086100"/>
          </a:xfrm>
          <a:prstGeom prst="rect">
            <a:avLst/>
          </a:prstGeom>
          <a:ln w="0">
            <a:noFill/>
          </a:ln>
        </p:spPr>
      </p:sp>
      <p:sp>
        <p:nvSpPr>
          <p:cNvPr id="10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buNone/>
            </a:pPr>
            <a:r>
              <a:rPr lang="en-US" sz="2000" b="0" u="none" strike="noStrike">
                <a:solidFill>
                  <a:srgbClr val="000000"/>
                </a:solidFill>
                <a:effectLst/>
                <a:uFillTx/>
                <a:latin typeface="Arial"/>
              </a:rPr>
              <a:t>Presenter timing: Remaining time</a:t>
            </a:r>
          </a:p>
          <a:p>
            <a:pPr indent="0">
              <a:buNone/>
            </a:pPr>
            <a:endParaRPr lang="en-US" sz="2000" b="0" u="none" strike="noStrike">
              <a:solidFill>
                <a:srgbClr val="000000"/>
              </a:solidFill>
              <a:effectLst/>
              <a:uFillTx/>
              <a:latin typeface="Arial"/>
            </a:endParaRPr>
          </a:p>
          <a:p>
            <a:pPr indent="0">
              <a:buNone/>
            </a:pPr>
            <a:r>
              <a:rPr lang="en-US" sz="2000" b="0" u="none" strike="noStrike">
                <a:solidFill>
                  <a:srgbClr val="000000"/>
                </a:solidFill>
                <a:effectLst/>
                <a:uFillTx/>
                <a:latin typeface="Arial"/>
              </a:rPr>
              <a:t>• Open Q&amp;A. If someone asks for 'best model', ask what task, data sensitivity, latency/cost constraints, and required tools.</a:t>
            </a:r>
          </a:p>
          <a:p>
            <a:pPr indent="0">
              <a:lnSpc>
                <a:spcPct val="100000"/>
              </a:lnSpc>
              <a:buNone/>
            </a:pPr>
            <a:r>
              <a:rPr lang="en-US" sz="2000" b="0" u="none" strike="noStrike">
                <a:solidFill>
                  <a:srgbClr val="000000"/>
                </a:solidFill>
                <a:effectLst/>
                <a:uFillTx/>
                <a:latin typeface="Arial"/>
              </a:rPr>
              <a:t>• If someone asks a niche current model question, use the live vendor model page or benchmark page rather than relying on memory.</a:t>
            </a:r>
          </a:p>
        </p:txBody>
      </p:sp>
      <p:sp>
        <p:nvSpPr>
          <p:cNvPr id="101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DEAE0280-6879-491E-9D73-23268B7C24ED}" type="slidenum">
              <a:rPr lang="en-US" sz="1200" b="0" u="none" strike="noStrike">
                <a:solidFill>
                  <a:schemeClr val="dk1"/>
                </a:solidFill>
                <a:effectLst/>
                <a:uFillTx/>
                <a:latin typeface="+mn-lt"/>
                <a:ea typeface="+mn-ea"/>
              </a:rPr>
              <a:t>27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MASTER">
    <p:bg>
      <p:bgPr>
        <a:solidFill>
          <a:srgbClr val="0A1020"/>
        </a:solidFill>
        <a:effectLst/>
      </p:bgPr>
    </p:bg>
    <p:spTree>
      <p:nvGrpSpPr>
        <p:cNvPr id="1" name=""/>
        <p:cNvGrpSpPr/>
        <p:nvPr/>
      </p:nvGrpSpPr>
      <p:grpSpPr>
        <a:xfrm>
          <a:off x="0" y="0"/>
          <a:ext cx="0" cy="0"/>
          <a:chOff x="0" y="0"/>
          <a:chExt cx="0" cy="0"/>
        </a:xfrm>
      </p:grpSpPr>
      <p:sp>
        <p:nvSpPr>
          <p:cNvPr id="6" name="Shape 0"/>
          <p:cNvSpPr/>
          <p:nvPr/>
        </p:nvSpPr>
        <p:spPr>
          <a:xfrm>
            <a:off x="0" y="0"/>
            <a:ext cx="12191400" cy="10944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 name="Text 1"/>
          <p:cNvSpPr/>
          <p:nvPr/>
        </p:nvSpPr>
        <p:spPr>
          <a:xfrm>
            <a:off x="411480" y="6492240"/>
            <a:ext cx="38401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750" b="0" u="none" strike="noStrike">
                <a:solidFill>
                  <a:srgbClr val="73809A"/>
                </a:solidFill>
                <a:effectLst/>
                <a:uFillTx/>
                <a:latin typeface="Aptos"/>
                <a:ea typeface="Aptos"/>
              </a:rPr>
              <a:t>AI FOR MAKERS • AUG 17, 2026</a:t>
            </a:r>
            <a:endParaRPr lang="en-US" sz="750" b="0" u="none" strike="noStrike">
              <a:solidFill>
                <a:srgbClr val="FFFFFF"/>
              </a:solidFill>
              <a:effectLst/>
              <a:uFillTx/>
              <a:latin typeface="Arial"/>
            </a:endParaRPr>
          </a:p>
        </p:txBody>
      </p:sp>
      <p:sp>
        <p:nvSpPr>
          <p:cNvPr id="2" name="Text 2"/>
          <p:cNvSpPr/>
          <p:nvPr/>
        </p:nvSpPr>
        <p:spPr>
          <a:xfrm>
            <a:off x="8915400" y="6492240"/>
            <a:ext cx="28342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none" strike="noStrike">
                <a:solidFill>
                  <a:srgbClr val="73809A"/>
                </a:solidFill>
                <a:effectLst/>
                <a:uFillTx/>
                <a:latin typeface="Aptos"/>
                <a:ea typeface="Aptos"/>
              </a:rPr>
              <a:t>Local Makerspace Workshop</a:t>
            </a:r>
            <a:endParaRPr lang="en-US" sz="750" b="0" u="none" strike="noStrike">
              <a:solidFill>
                <a:srgbClr val="FFFFFF"/>
              </a:solidFill>
              <a:effectLst/>
              <a:uFillTx/>
              <a:latin typeface="Arial"/>
            </a:endParaRPr>
          </a:p>
        </p:txBody>
      </p:sp>
      <p:sp>
        <p:nvSpPr>
          <p:cNvPr id="3" name="PlaceHolder 1"/>
          <p:cNvSpPr>
            <a:spLocks noGrp="1"/>
          </p:cNvSpPr>
          <p:nvPr>
            <p:ph type="sldNum" idx="1"/>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5561A25E-3191-4C3E-A4A6-B7E7F82F3A2D}" type="slidenum">
              <a:rPr lang="en-US" sz="750" b="0" u="none" strike="noStrike">
                <a:solidFill>
                  <a:srgbClr val="73809A"/>
                </a:solidFill>
                <a:effectLst/>
                <a:uFillTx/>
                <a:latin typeface="Aptos"/>
                <a:ea typeface="Aptos"/>
              </a:rPr>
              <a:t>‹#›</a:t>
            </a:fld>
            <a:endParaRPr lang="en-US" sz="750" b="0" u="none" strike="noStrike">
              <a:solidFill>
                <a:srgbClr val="FFFFFF"/>
              </a:solidFill>
              <a:effectLst/>
              <a:uFillTx/>
              <a:latin typeface="Times New Roman"/>
            </a:endParaRPr>
          </a:p>
        </p:txBody>
      </p:sp>
      <p:sp>
        <p:nvSpPr>
          <p:cNvPr id="4"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ptos"/>
              </a:rPr>
              <a:t>Click to edit the title text format</a:t>
            </a:r>
          </a:p>
        </p:txBody>
      </p:sp>
      <p:sp>
        <p:nvSpPr>
          <p:cNvPr id="5"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en-US" sz="3200" b="0" u="none" strike="noStrike">
                <a:solidFill>
                  <a:schemeClr val="dk1"/>
                </a:solidFill>
                <a:effectLst/>
                <a:uFillTx/>
                <a:latin typeface="Aptos"/>
              </a:rPr>
              <a:t>Click to edit the outline text format</a:t>
            </a:r>
          </a:p>
          <a:p>
            <a:pPr marL="864000" lvl="1" indent="-324000">
              <a:spcBef>
                <a:spcPts val="1134"/>
              </a:spcBef>
              <a:buClr>
                <a:srgbClr val="FFFFFF"/>
              </a:buClr>
              <a:buSzPct val="75000"/>
              <a:buFont typeface="Symbol" charset="2"/>
              <a:buChar char=""/>
            </a:pPr>
            <a:r>
              <a:rPr lang="en-US" sz="2400" b="0" u="none" strike="noStrike">
                <a:solidFill>
                  <a:schemeClr val="dk1"/>
                </a:solidFill>
                <a:effectLst/>
                <a:uFillTx/>
                <a:latin typeface="Aptos"/>
              </a:rPr>
              <a:t>Second Outline Level</a:t>
            </a:r>
          </a:p>
          <a:p>
            <a:pPr marL="1296000" lvl="2" indent="-288000">
              <a:spcBef>
                <a:spcPts val="850"/>
              </a:spcBef>
              <a:buClr>
                <a:srgbClr val="FFFFFF"/>
              </a:buClr>
              <a:buSzPct val="45000"/>
              <a:buFont typeface="Wingdings" charset="2"/>
              <a:buChar char=""/>
            </a:pPr>
            <a:r>
              <a:rPr lang="en-US" sz="2000" b="0" u="none" strike="noStrike">
                <a:solidFill>
                  <a:schemeClr val="dk1"/>
                </a:solidFill>
                <a:effectLst/>
                <a:uFillTx/>
                <a:latin typeface="Aptos"/>
              </a:rPr>
              <a:t>Third Outline Level</a:t>
            </a:r>
          </a:p>
          <a:p>
            <a:pPr marL="1728000" lvl="3" indent="-216000">
              <a:spcBef>
                <a:spcPts val="567"/>
              </a:spcBef>
              <a:buClr>
                <a:srgbClr val="FFFFFF"/>
              </a:buClr>
              <a:buSzPct val="75000"/>
              <a:buFont typeface="Symbol" charset="2"/>
              <a:buChar char=""/>
            </a:pPr>
            <a:r>
              <a:rPr lang="en-US" sz="2000" b="0" u="none" strike="noStrike">
                <a:solidFill>
                  <a:schemeClr val="dk1"/>
                </a:solidFill>
                <a:effectLst/>
                <a:uFillTx/>
                <a:latin typeface="Aptos"/>
              </a:rPr>
              <a:t>Fourth Outline Level</a:t>
            </a:r>
          </a:p>
          <a:p>
            <a:pPr marL="2160000" lvl="4" indent="-216000">
              <a:spcBef>
                <a:spcPts val="283"/>
              </a:spcBef>
              <a:buClr>
                <a:srgbClr val="FFFFFF"/>
              </a:buClr>
              <a:buSzPct val="45000"/>
              <a:buFont typeface="Wingdings" charset="2"/>
              <a:buChar char=""/>
            </a:pPr>
            <a:r>
              <a:rPr lang="en-US" sz="2000" b="0" u="none" strike="noStrike">
                <a:solidFill>
                  <a:schemeClr val="dk1"/>
                </a:solidFill>
                <a:effectLst/>
                <a:uFillTx/>
                <a:latin typeface="Aptos"/>
              </a:rPr>
              <a:t>Fifth Outline Level</a:t>
            </a:r>
          </a:p>
          <a:p>
            <a:pPr marL="2592000" lvl="5" indent="-216000">
              <a:spcBef>
                <a:spcPts val="283"/>
              </a:spcBef>
              <a:buClr>
                <a:srgbClr val="FFFFFF"/>
              </a:buClr>
              <a:buSzPct val="45000"/>
              <a:buFont typeface="Wingdings" charset="2"/>
              <a:buChar char=""/>
            </a:pPr>
            <a:r>
              <a:rPr lang="en-US" sz="2000" b="0" u="none" strike="noStrike">
                <a:solidFill>
                  <a:schemeClr val="dk1"/>
                </a:solidFill>
                <a:effectLst/>
                <a:uFillTx/>
                <a:latin typeface="Aptos"/>
              </a:rPr>
              <a:t>Sixth Outline Level</a:t>
            </a:r>
          </a:p>
          <a:p>
            <a:pPr marL="3024000" lvl="6" indent="-216000">
              <a:spcBef>
                <a:spcPts val="283"/>
              </a:spcBef>
              <a:buClr>
                <a:srgbClr val="FFFFFF"/>
              </a:buClr>
              <a:buSzPct val="45000"/>
              <a:buFont typeface="Wingdings" charset="2"/>
              <a:buChar char=""/>
            </a:pPr>
            <a:r>
              <a:rPr lang="en-US" sz="2000" b="0" u="none" strike="noStrike">
                <a:solidFill>
                  <a:schemeClr val="dk1"/>
                </a:solidFill>
                <a:effectLst/>
                <a:uFillTx/>
                <a:latin typeface="Aptos"/>
              </a:rPr>
              <a:t>Seventh Outline Level</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openrouter.ai/docs/quickstart"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hyperlink" Target="https://docs.openclaw.ai/" TargetMode="External"/><Relationship Id="rId5" Type="http://schemas.openxmlformats.org/officeDocument/2006/relationships/hyperlink" Target="https://hermes-agent.nousresearch.com/docs/" TargetMode="External"/><Relationship Id="rId4" Type="http://schemas.openxmlformats.org/officeDocument/2006/relationships/hyperlink" Target="https://docs.openwebui.com/"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arxiv.org/abs/1706.03762"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help.openai.com/en/articles/4936856-what-are-tokens-and-how-to-count-them"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help.openai.com/en/articles/4936856-what-are-tokens-and-how-to-count-them"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hyperlink" Target="https://token-calculator.net/#calculator" TargetMode="External"/><Relationship Id="rId4" Type="http://schemas.openxmlformats.org/officeDocument/2006/relationships/hyperlink" Target="https://platform.openai.com/tokenizer"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help.openai.com/en/articles/4936856-what-are-tokens-and-how-to-count-them"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i.google.dev/gemini-api/docs/prompting-strategie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hyperlink" Target="https://openai.com/index/why-we-no-longer-evaluate-swe-bench-verified/"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ai.google.dev/gemini-api/docs/prompting-strategies"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ocs.github.com/en/copilot/reference/ai-models/model-comparison"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perplexity.ai/help-center/en/articles/10352155-what-is-perplexity"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www.perplexity.ai/help-center/en/articles/10354919-what-advanced-ai-models-are-included-in-my-subscription"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openai.com/index/gpt-5-6/" TargetMode="External"/><Relationship Id="rId7" Type="http://schemas.openxmlformats.org/officeDocument/2006/relationships/hyperlink" Target="https://www.perplexity.ai/help-center/en/articles/10354919-what-advanced-ai-models-are-included-in-my-subscription"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hyperlink" Target="https://docs.github.com/en/copilot/reference/ai-models/model-comparison" TargetMode="External"/><Relationship Id="rId5" Type="http://schemas.openxmlformats.org/officeDocument/2006/relationships/hyperlink" Target="https://ai.google.dev/gemini-api/docs/models" TargetMode="External"/><Relationship Id="rId4" Type="http://schemas.openxmlformats.org/officeDocument/2006/relationships/hyperlink" Target="https://platform.claude.com/docs/en/about-claude/models/overview"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openai.com/index/gpt-5-6/"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ollama.com/library" TargetMode="External"/><Relationship Id="rId5" Type="http://schemas.openxmlformats.org/officeDocument/2006/relationships/hyperlink" Target="https://ai.google.dev/gemini-api/docs/models" TargetMode="External"/><Relationship Id="rId4" Type="http://schemas.openxmlformats.org/officeDocument/2006/relationships/hyperlink" Target="https://platform.claude.com/docs/en/about-claude/models/overview"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artificialanalysis.ai/methodology/intelligence-benchmarking" TargetMode="External"/><Relationship Id="rId7" Type="http://schemas.openxmlformats.org/officeDocument/2006/relationships/hyperlink" Target="https://openai.com/index/why-we-no-longer-evaluate-swe-bench-verified/"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swebench.com/" TargetMode="External"/><Relationship Id="rId5" Type="http://schemas.openxmlformats.org/officeDocument/2006/relationships/hyperlink" Target="https://livebench.ai/" TargetMode="External"/><Relationship Id="rId4" Type="http://schemas.openxmlformats.org/officeDocument/2006/relationships/hyperlink" Target="https://arena.ai/blog/policy"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ollama.com/" TargetMode="External"/><Relationship Id="rId7" Type="http://schemas.openxmlformats.org/officeDocument/2006/relationships/hyperlink" Target="https://docs.openclaw.ai/"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hyperlink" Target="https://hermes-agent.nousresearch.com/docs/" TargetMode="External"/><Relationship Id="rId5" Type="http://schemas.openxmlformats.org/officeDocument/2006/relationships/hyperlink" Target="https://openrouter.ai/docs/quickstart" TargetMode="External"/><Relationship Id="rId4" Type="http://schemas.openxmlformats.org/officeDocument/2006/relationships/hyperlink" Target="https://docs.openwebui.com/"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ggml-org/llama.cpp/blob/master/tools/quantize/README.md"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hyperlink" Target="https://ollama.com/library/gemma3"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ollama.com/library/gemma3"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hyperlink" Target="https://github.com/ggml-org/llama.cpp/blob/master/tools/quantize/README.md"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ocs.openwebui.com/tutorials/maintenance/offline-mode/"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hermes-agent.nousresearch.com/doc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docs.openclaw.ai/help/faq"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docs.openwebui.com/getting-started/advanced-topics/hardening/" TargetMode="Externa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hyperlink" Target="https://platform.openai.com/docs/models/default-usage-policies-by-endpoint" TargetMode="External"/><Relationship Id="rId4" Type="http://schemas.openxmlformats.org/officeDocument/2006/relationships/hyperlink" Target="https://docs.openclaw.ai/help/faq"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docs.github.com/en/copilot/reference/ai-models/model-comparison" TargetMode="External"/><Relationship Id="rId13" Type="http://schemas.openxmlformats.org/officeDocument/2006/relationships/hyperlink" Target="https://www.swebench.com/" TargetMode="External"/><Relationship Id="rId18" Type="http://schemas.openxmlformats.org/officeDocument/2006/relationships/hyperlink" Target="https://docs.openclaw.ai/help/faq" TargetMode="External"/><Relationship Id="rId3" Type="http://schemas.openxmlformats.org/officeDocument/2006/relationships/hyperlink" Target="https://arxiv.org/abs/1706.03762" TargetMode="External"/><Relationship Id="rId7" Type="http://schemas.openxmlformats.org/officeDocument/2006/relationships/hyperlink" Target="https://ai.google.dev/gemini-api/docs/models" TargetMode="External"/><Relationship Id="rId12" Type="http://schemas.openxmlformats.org/officeDocument/2006/relationships/hyperlink" Target="https://livebench.ai/" TargetMode="External"/><Relationship Id="rId17" Type="http://schemas.openxmlformats.org/officeDocument/2006/relationships/hyperlink" Target="https://hermes-agent.nousresearch.com/docs/" TargetMode="External"/><Relationship Id="rId2" Type="http://schemas.openxmlformats.org/officeDocument/2006/relationships/notesSlide" Target="../notesSlides/notesSlide26.xml"/><Relationship Id="rId16" Type="http://schemas.openxmlformats.org/officeDocument/2006/relationships/hyperlink" Target="https://docs.openwebui.com/tutorials/maintenance/offline-mode/" TargetMode="External"/><Relationship Id="rId1" Type="http://schemas.openxmlformats.org/officeDocument/2006/relationships/slideLayout" Target="../slideLayouts/slideLayout2.xml"/><Relationship Id="rId6" Type="http://schemas.openxmlformats.org/officeDocument/2006/relationships/hyperlink" Target="https://platform.claude.com/docs/en/about-claude/models/overview" TargetMode="External"/><Relationship Id="rId11" Type="http://schemas.openxmlformats.org/officeDocument/2006/relationships/hyperlink" Target="https://arena.ai/blog/policy" TargetMode="External"/><Relationship Id="rId5" Type="http://schemas.openxmlformats.org/officeDocument/2006/relationships/hyperlink" Target="https://openai.com/index/gpt-5-6/" TargetMode="External"/><Relationship Id="rId15" Type="http://schemas.openxmlformats.org/officeDocument/2006/relationships/hyperlink" Target="https://github.com/ggml-org/llama.cpp/blob/master/tools/quantize/README.md" TargetMode="External"/><Relationship Id="rId10" Type="http://schemas.openxmlformats.org/officeDocument/2006/relationships/hyperlink" Target="https://artificialanalysis.ai/methodology/intelligence-benchmarking" TargetMode="External"/><Relationship Id="rId4" Type="http://schemas.openxmlformats.org/officeDocument/2006/relationships/hyperlink" Target="https://help.openai.com/en/articles/4936856-what-are-tokens-and-how-to-count-them" TargetMode="External"/><Relationship Id="rId9" Type="http://schemas.openxmlformats.org/officeDocument/2006/relationships/hyperlink" Target="https://www.perplexity.ai/help-center/en/articles/10354919-what-advanced-ai-models-are-included-in-my-subscription" TargetMode="External"/><Relationship Id="rId14" Type="http://schemas.openxmlformats.org/officeDocument/2006/relationships/hyperlink" Target="https://ollama.co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020"/>
        </a:solidFill>
        <a:effectLst/>
      </p:bgPr>
    </p:bg>
    <p:spTree>
      <p:nvGrpSpPr>
        <p:cNvPr id="1" name=""/>
        <p:cNvGrpSpPr/>
        <p:nvPr/>
      </p:nvGrpSpPr>
      <p:grpSpPr>
        <a:xfrm>
          <a:off x="0" y="0"/>
          <a:ext cx="0" cy="0"/>
          <a:chOff x="0" y="0"/>
          <a:chExt cx="0" cy="0"/>
        </a:xfrm>
      </p:grpSpPr>
      <p:sp>
        <p:nvSpPr>
          <p:cNvPr id="12" name="Shape 0"/>
          <p:cNvSpPr/>
          <p:nvPr/>
        </p:nvSpPr>
        <p:spPr>
          <a:xfrm>
            <a:off x="8046720" y="731520"/>
            <a:ext cx="3200040" cy="3200040"/>
          </a:xfrm>
          <a:prstGeom prst="ellipse">
            <a:avLst/>
          </a:prstGeom>
          <a:solidFill>
            <a:srgbClr val="33D6FF">
              <a:alpha val="13000"/>
            </a:srgbClr>
          </a:solidFill>
          <a:ln w="12700">
            <a:solidFill>
              <a:srgbClr val="33D6FF">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 name="Shape 1"/>
          <p:cNvSpPr/>
          <p:nvPr/>
        </p:nvSpPr>
        <p:spPr>
          <a:xfrm>
            <a:off x="8778240" y="1417320"/>
            <a:ext cx="1919880" cy="1919880"/>
          </a:xfrm>
          <a:prstGeom prst="ellipse">
            <a:avLst/>
          </a:prstGeom>
          <a:solidFill>
            <a:srgbClr val="A78BFA">
              <a:alpha val="18000"/>
            </a:srgbClr>
          </a:solidFill>
          <a:ln w="12700">
            <a:solidFill>
              <a:srgbClr val="A78BFA">
                <a:alpha val="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 name="Shape 2"/>
          <p:cNvSpPr/>
          <p:nvPr/>
        </p:nvSpPr>
        <p:spPr>
          <a:xfrm>
            <a:off x="8595360" y="1417320"/>
            <a:ext cx="731520" cy="1051560"/>
          </a:xfrm>
          <a:prstGeom prst="line">
            <a:avLst/>
          </a:prstGeom>
          <a:ln w="12700">
            <a:solidFill>
              <a:srgbClr val="33D6FF">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5" name="Shape 3"/>
          <p:cNvSpPr/>
          <p:nvPr/>
        </p:nvSpPr>
        <p:spPr>
          <a:xfrm>
            <a:off x="9784080" y="1051560"/>
            <a:ext cx="914400" cy="822960"/>
          </a:xfrm>
          <a:prstGeom prst="line">
            <a:avLst/>
          </a:prstGeom>
          <a:ln w="12700">
            <a:solidFill>
              <a:srgbClr val="33D6FF">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6" name="Shape 4"/>
          <p:cNvSpPr/>
          <p:nvPr/>
        </p:nvSpPr>
        <p:spPr>
          <a:xfrm flipH="1">
            <a:off x="8412480" y="1051560"/>
            <a:ext cx="1371600" cy="2148840"/>
          </a:xfrm>
          <a:prstGeom prst="line">
            <a:avLst/>
          </a:prstGeom>
          <a:ln w="12700">
            <a:solidFill>
              <a:srgbClr val="33D6FF">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7" name="Shape 5"/>
          <p:cNvSpPr/>
          <p:nvPr/>
        </p:nvSpPr>
        <p:spPr>
          <a:xfrm flipH="1">
            <a:off x="10287000" y="1874520"/>
            <a:ext cx="411480" cy="1188720"/>
          </a:xfrm>
          <a:prstGeom prst="line">
            <a:avLst/>
          </a:prstGeom>
          <a:ln w="12700">
            <a:solidFill>
              <a:srgbClr val="33D6FF">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8" name="Shape 6"/>
          <p:cNvSpPr/>
          <p:nvPr/>
        </p:nvSpPr>
        <p:spPr>
          <a:xfrm flipH="1">
            <a:off x="8412480" y="3063240"/>
            <a:ext cx="1874520" cy="137160"/>
          </a:xfrm>
          <a:prstGeom prst="line">
            <a:avLst/>
          </a:prstGeom>
          <a:ln w="12700">
            <a:solidFill>
              <a:srgbClr val="33D6FF">
                <a:alpha val="55000"/>
              </a:srgbClr>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19" name="Shape 7"/>
          <p:cNvSpPr/>
          <p:nvPr/>
        </p:nvSpPr>
        <p:spPr>
          <a:xfrm>
            <a:off x="8531280" y="1353240"/>
            <a:ext cx="127800" cy="127800"/>
          </a:xfrm>
          <a:prstGeom prst="ellipse">
            <a:avLst/>
          </a:prstGeom>
          <a:solidFill>
            <a:srgbClr val="33D6FF"/>
          </a:solidFill>
          <a:ln w="6350">
            <a:solidFill>
              <a:srgbClr val="0A1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0" name="Shape 8"/>
          <p:cNvSpPr/>
          <p:nvPr/>
        </p:nvSpPr>
        <p:spPr>
          <a:xfrm>
            <a:off x="9720000" y="987480"/>
            <a:ext cx="127800" cy="127800"/>
          </a:xfrm>
          <a:prstGeom prst="ellipse">
            <a:avLst/>
          </a:prstGeom>
          <a:solidFill>
            <a:srgbClr val="A78BFA"/>
          </a:solidFill>
          <a:ln w="6350">
            <a:solidFill>
              <a:srgbClr val="0A1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 name="Shape 9"/>
          <p:cNvSpPr/>
          <p:nvPr/>
        </p:nvSpPr>
        <p:spPr>
          <a:xfrm>
            <a:off x="10634400" y="1810440"/>
            <a:ext cx="127800" cy="127800"/>
          </a:xfrm>
          <a:prstGeom prst="ellipse">
            <a:avLst/>
          </a:prstGeom>
          <a:solidFill>
            <a:srgbClr val="33D6FF"/>
          </a:solidFill>
          <a:ln w="6350">
            <a:solidFill>
              <a:srgbClr val="0A1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 name="Shape 10"/>
          <p:cNvSpPr/>
          <p:nvPr/>
        </p:nvSpPr>
        <p:spPr>
          <a:xfrm>
            <a:off x="9262800" y="2404800"/>
            <a:ext cx="127800" cy="127800"/>
          </a:xfrm>
          <a:prstGeom prst="ellipse">
            <a:avLst/>
          </a:prstGeom>
          <a:solidFill>
            <a:srgbClr val="A78BFA"/>
          </a:solidFill>
          <a:ln w="6350">
            <a:solidFill>
              <a:srgbClr val="0A1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 name="Shape 11"/>
          <p:cNvSpPr/>
          <p:nvPr/>
        </p:nvSpPr>
        <p:spPr>
          <a:xfrm>
            <a:off x="10222920" y="2999160"/>
            <a:ext cx="127800" cy="127800"/>
          </a:xfrm>
          <a:prstGeom prst="ellipse">
            <a:avLst/>
          </a:prstGeom>
          <a:solidFill>
            <a:srgbClr val="33D6FF"/>
          </a:solidFill>
          <a:ln w="6350">
            <a:solidFill>
              <a:srgbClr val="0A1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 name="Shape 12"/>
          <p:cNvSpPr/>
          <p:nvPr/>
        </p:nvSpPr>
        <p:spPr>
          <a:xfrm>
            <a:off x="8348400" y="3136320"/>
            <a:ext cx="127800" cy="127800"/>
          </a:xfrm>
          <a:prstGeom prst="ellipse">
            <a:avLst/>
          </a:prstGeom>
          <a:solidFill>
            <a:srgbClr val="A78BFA"/>
          </a:solidFill>
          <a:ln w="6350">
            <a:solidFill>
              <a:srgbClr val="0A102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5" name="Text 13"/>
          <p:cNvSpPr/>
          <p:nvPr/>
        </p:nvSpPr>
        <p:spPr>
          <a:xfrm>
            <a:off x="567000" y="932760"/>
            <a:ext cx="30171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spc="150">
                <a:solidFill>
                  <a:srgbClr val="40E0A1"/>
                </a:solidFill>
                <a:effectLst/>
                <a:uFillTx/>
                <a:latin typeface="Aptos"/>
              </a:rPr>
              <a:t>MAKERSPACE WORKSHOP</a:t>
            </a:r>
            <a:endParaRPr lang="en-US" sz="850" b="0" u="none" strike="noStrike">
              <a:solidFill>
                <a:srgbClr val="FFFFFF"/>
              </a:solidFill>
              <a:effectLst/>
              <a:uFillTx/>
              <a:latin typeface="Arial"/>
            </a:endParaRPr>
          </a:p>
        </p:txBody>
      </p:sp>
      <p:sp>
        <p:nvSpPr>
          <p:cNvPr id="26" name="Text 14"/>
          <p:cNvSpPr/>
          <p:nvPr/>
        </p:nvSpPr>
        <p:spPr>
          <a:xfrm>
            <a:off x="567000" y="1325880"/>
            <a:ext cx="6766200" cy="67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u="none" strike="noStrike">
                <a:solidFill>
                  <a:srgbClr val="F5F8FC"/>
                </a:solidFill>
                <a:effectLst/>
                <a:uFillTx/>
                <a:latin typeface="Aptos"/>
              </a:rPr>
              <a:t>AI for Makers</a:t>
            </a:r>
            <a:endParaRPr lang="en-US" sz="3800" b="0" u="none" strike="noStrike">
              <a:solidFill>
                <a:srgbClr val="FFFFFF"/>
              </a:solidFill>
              <a:effectLst/>
              <a:uFillTx/>
              <a:latin typeface="Arial"/>
            </a:endParaRPr>
          </a:p>
        </p:txBody>
      </p:sp>
      <p:sp>
        <p:nvSpPr>
          <p:cNvPr id="27" name="Text 15"/>
          <p:cNvSpPr/>
          <p:nvPr/>
        </p:nvSpPr>
        <p:spPr>
          <a:xfrm>
            <a:off x="567000" y="2066400"/>
            <a:ext cx="649188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33D6FF"/>
                </a:solidFill>
                <a:effectLst/>
                <a:uFillTx/>
                <a:latin typeface="Aptos"/>
              </a:rPr>
              <a:t>From prompt to prototype</a:t>
            </a:r>
            <a:endParaRPr lang="en-US" sz="2600" b="0" u="none" strike="noStrike">
              <a:solidFill>
                <a:srgbClr val="FFFFFF"/>
              </a:solidFill>
              <a:effectLst/>
              <a:uFillTx/>
              <a:latin typeface="Arial"/>
            </a:endParaRPr>
          </a:p>
        </p:txBody>
      </p:sp>
      <p:sp>
        <p:nvSpPr>
          <p:cNvPr id="28" name="Text 16"/>
          <p:cNvSpPr/>
          <p:nvPr/>
        </p:nvSpPr>
        <p:spPr>
          <a:xfrm>
            <a:off x="567000" y="2788920"/>
            <a:ext cx="6766200" cy="100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0" u="none" strike="noStrike">
                <a:solidFill>
                  <a:srgbClr val="AAB5C8"/>
                </a:solidFill>
                <a:effectLst/>
                <a:uFillTx/>
                <a:latin typeface="Aptos"/>
              </a:rPr>
              <a:t>How LLMs work • Tokens • Prompting • Troubleshooting • Coding • Research • Model selection • Local &amp; air-gapped AI • Safety</a:t>
            </a:r>
            <a:endParaRPr lang="en-US" sz="1600" b="0" u="none" strike="noStrike">
              <a:solidFill>
                <a:srgbClr val="FFFFFF"/>
              </a:solidFill>
              <a:effectLst/>
              <a:uFillTx/>
              <a:latin typeface="Arial"/>
            </a:endParaRPr>
          </a:p>
        </p:txBody>
      </p:sp>
      <p:sp>
        <p:nvSpPr>
          <p:cNvPr id="29" name="Shape 17"/>
          <p:cNvSpPr/>
          <p:nvPr/>
        </p:nvSpPr>
        <p:spPr>
          <a:xfrm>
            <a:off x="567000" y="4160520"/>
            <a:ext cx="1416960" cy="310680"/>
          </a:xfrm>
          <a:prstGeom prst="roundRect">
            <a:avLst>
              <a:gd name="adj" fmla="val 50000"/>
            </a:avLst>
          </a:prstGeom>
          <a:solidFill>
            <a:srgbClr val="18233A"/>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 name="Text 18"/>
          <p:cNvSpPr/>
          <p:nvPr/>
        </p:nvSpPr>
        <p:spPr>
          <a:xfrm>
            <a:off x="640080" y="4224600"/>
            <a:ext cx="127080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FFC857"/>
                </a:solidFill>
                <a:effectLst/>
                <a:uFillTx/>
                <a:latin typeface="Aptos"/>
              </a:rPr>
              <a:t>~55 MIN + Q&amp;A</a:t>
            </a:r>
            <a:endParaRPr lang="en-US" sz="860" b="0" u="none" strike="noStrike">
              <a:solidFill>
                <a:srgbClr val="FFFFFF"/>
              </a:solidFill>
              <a:effectLst/>
              <a:uFillTx/>
              <a:latin typeface="Arial"/>
            </a:endParaRPr>
          </a:p>
        </p:txBody>
      </p:sp>
      <p:sp>
        <p:nvSpPr>
          <p:cNvPr id="31" name="Shape 19"/>
          <p:cNvSpPr/>
          <p:nvPr/>
        </p:nvSpPr>
        <p:spPr>
          <a:xfrm>
            <a:off x="2130480" y="4160520"/>
            <a:ext cx="1234080" cy="310680"/>
          </a:xfrm>
          <a:prstGeom prst="roundRect">
            <a:avLst>
              <a:gd name="adj" fmla="val 50000"/>
            </a:avLst>
          </a:prstGeom>
          <a:solidFill>
            <a:srgbClr val="18233A"/>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2" name="Text 20"/>
          <p:cNvSpPr/>
          <p:nvPr/>
        </p:nvSpPr>
        <p:spPr>
          <a:xfrm>
            <a:off x="2203560" y="4224600"/>
            <a:ext cx="108792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40E0A1"/>
                </a:solidFill>
                <a:effectLst/>
                <a:uFillTx/>
                <a:latin typeface="Aptos"/>
              </a:rPr>
              <a:t>LIVE DEMOS</a:t>
            </a:r>
            <a:endParaRPr lang="en-US" sz="860" b="0" u="none" strike="noStrike">
              <a:solidFill>
                <a:srgbClr val="FFFFFF"/>
              </a:solidFill>
              <a:effectLst/>
              <a:uFillTx/>
              <a:latin typeface="Arial"/>
            </a:endParaRPr>
          </a:p>
        </p:txBody>
      </p:sp>
      <p:sp>
        <p:nvSpPr>
          <p:cNvPr id="33" name="Shape 21"/>
          <p:cNvSpPr/>
          <p:nvPr/>
        </p:nvSpPr>
        <p:spPr>
          <a:xfrm>
            <a:off x="3511440" y="4160520"/>
            <a:ext cx="1416960" cy="310680"/>
          </a:xfrm>
          <a:prstGeom prst="roundRect">
            <a:avLst>
              <a:gd name="adj" fmla="val 50000"/>
            </a:avLst>
          </a:prstGeom>
          <a:solidFill>
            <a:srgbClr val="18233A"/>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 name="Text 22"/>
          <p:cNvSpPr/>
          <p:nvPr/>
        </p:nvSpPr>
        <p:spPr>
          <a:xfrm>
            <a:off x="3584520" y="4224600"/>
            <a:ext cx="127080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3D6FF"/>
                </a:solidFill>
                <a:effectLst/>
                <a:uFillTx/>
                <a:latin typeface="Aptos"/>
              </a:rPr>
              <a:t>SOURCE-BACKED</a:t>
            </a:r>
            <a:endParaRPr lang="en-US" sz="860" b="0" u="none" strike="noStrike">
              <a:solidFill>
                <a:srgbClr val="FFFFFF"/>
              </a:solidFill>
              <a:effectLst/>
              <a:uFillTx/>
              <a:latin typeface="Arial"/>
            </a:endParaRPr>
          </a:p>
        </p:txBody>
      </p:sp>
      <p:sp>
        <p:nvSpPr>
          <p:cNvPr id="35" name="Text 23"/>
          <p:cNvSpPr/>
          <p:nvPr/>
        </p:nvSpPr>
        <p:spPr>
          <a:xfrm>
            <a:off x="567000" y="4827960"/>
            <a:ext cx="59432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u="none" strike="noStrike">
                <a:solidFill>
                  <a:srgbClr val="73809A"/>
                </a:solidFill>
                <a:effectLst/>
                <a:uFillTx/>
                <a:latin typeface="Aptos"/>
              </a:rPr>
              <a:t>Prepared for a mixed technical + beginner audience</a:t>
            </a:r>
            <a:endParaRPr lang="en-US" sz="1100" b="0" u="none" strike="noStrike">
              <a:solidFill>
                <a:srgbClr val="FFFFFF"/>
              </a:solidFill>
              <a:effectLst/>
              <a:uFillTx/>
              <a:latin typeface="Arial"/>
            </a:endParaRPr>
          </a:p>
        </p:txBody>
      </p:sp>
      <p:sp>
        <p:nvSpPr>
          <p:cNvPr id="36" name="PlaceHolder 1"/>
          <p:cNvSpPr>
            <a:spLocks noGrp="1"/>
          </p:cNvSpPr>
          <p:nvPr>
            <p:ph type="sldNum" idx="5"/>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BE830B47-A1C1-4CAB-90B1-563E2D76374C}" type="slidenum">
              <a:rPr lang="en-US" sz="750" b="0" u="none" strike="noStrike">
                <a:solidFill>
                  <a:srgbClr val="73809A"/>
                </a:solidFill>
                <a:effectLst/>
                <a:uFillTx/>
                <a:latin typeface="Aptos"/>
                <a:ea typeface="Aptos"/>
              </a:rPr>
              <a:t>1</a:t>
            </a:fld>
            <a:endParaRPr lang="en-US" sz="750" b="0" u="none" strike="noStrike">
              <a:solidFill>
                <a:srgbClr val="FFFFFF"/>
              </a:solidFill>
              <a:effectLst/>
              <a:uFillTx/>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What you should be able to do by the end</a:t>
            </a:r>
            <a:endParaRPr lang="en-US" sz="2600" b="0" u="none" strike="noStrike">
              <a:solidFill>
                <a:srgbClr val="FFFFFF"/>
              </a:solidFill>
              <a:effectLst/>
              <a:uFillTx/>
              <a:latin typeface="Arial"/>
            </a:endParaRPr>
          </a:p>
        </p:txBody>
      </p:sp>
      <p:sp>
        <p:nvSpPr>
          <p:cNvPr id="38"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A practical mental model, not a vocabulary test.</a:t>
            </a:r>
            <a:endParaRPr lang="en-US" sz="1150" b="0" u="none" strike="noStrike">
              <a:solidFill>
                <a:srgbClr val="FFFFFF"/>
              </a:solidFill>
              <a:effectLst/>
              <a:uFillTx/>
              <a:latin typeface="Arial"/>
            </a:endParaRPr>
          </a:p>
        </p:txBody>
      </p:sp>
      <p:sp>
        <p:nvSpPr>
          <p:cNvPr id="39" name="Shape 2"/>
          <p:cNvSpPr/>
          <p:nvPr/>
        </p:nvSpPr>
        <p:spPr>
          <a:xfrm>
            <a:off x="667440" y="1234440"/>
            <a:ext cx="10835280" cy="712800"/>
          </a:xfrm>
          <a:prstGeom prst="roundRect">
            <a:avLst>
              <a:gd name="adj" fmla="val 10256"/>
            </a:avLst>
          </a:prstGeom>
          <a:solidFill>
            <a:srgbClr val="0F1728"/>
          </a:solidFill>
          <a:ln w="889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 name="Shape 3"/>
          <p:cNvSpPr/>
          <p:nvPr/>
        </p:nvSpPr>
        <p:spPr>
          <a:xfrm>
            <a:off x="877680" y="1389960"/>
            <a:ext cx="392760" cy="39276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 name="Text 4"/>
          <p:cNvSpPr/>
          <p:nvPr/>
        </p:nvSpPr>
        <p:spPr>
          <a:xfrm>
            <a:off x="877680" y="1458360"/>
            <a:ext cx="3927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0A1020"/>
                </a:solidFill>
                <a:effectLst/>
                <a:uFillTx/>
                <a:latin typeface="Aptos"/>
              </a:rPr>
              <a:t>1</a:t>
            </a:r>
            <a:endParaRPr lang="en-US" sz="900" b="0" u="none" strike="noStrike">
              <a:solidFill>
                <a:srgbClr val="FFFFFF"/>
              </a:solidFill>
              <a:effectLst/>
              <a:uFillTx/>
              <a:latin typeface="Arial"/>
            </a:endParaRPr>
          </a:p>
        </p:txBody>
      </p:sp>
      <p:sp>
        <p:nvSpPr>
          <p:cNvPr id="42" name="Text 5"/>
          <p:cNvSpPr/>
          <p:nvPr/>
        </p:nvSpPr>
        <p:spPr>
          <a:xfrm>
            <a:off x="1481400" y="136260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F8FC"/>
                </a:solidFill>
                <a:effectLst/>
                <a:uFillTx/>
                <a:latin typeface="Aptos"/>
              </a:rPr>
              <a:t>Explain what an LLM is</a:t>
            </a:r>
            <a:endParaRPr lang="en-US" sz="1500" b="0" u="none" strike="noStrike">
              <a:solidFill>
                <a:srgbClr val="FFFFFF"/>
              </a:solidFill>
              <a:effectLst/>
              <a:uFillTx/>
              <a:latin typeface="Arial"/>
            </a:endParaRPr>
          </a:p>
        </p:txBody>
      </p:sp>
      <p:sp>
        <p:nvSpPr>
          <p:cNvPr id="43" name="Text 6"/>
          <p:cNvSpPr/>
          <p:nvPr/>
        </p:nvSpPr>
        <p:spPr>
          <a:xfrm>
            <a:off x="4206240" y="1362600"/>
            <a:ext cx="6811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AAB5C8"/>
                </a:solidFill>
                <a:effectLst/>
                <a:uFillTx/>
                <a:latin typeface="Aptos"/>
              </a:rPr>
              <a:t>…and why it can sound confident while being wrong.</a:t>
            </a:r>
            <a:endParaRPr lang="en-US" sz="1150" b="0" u="none" strike="noStrike">
              <a:solidFill>
                <a:srgbClr val="FFFFFF"/>
              </a:solidFill>
              <a:effectLst/>
              <a:uFillTx/>
              <a:latin typeface="Arial"/>
            </a:endParaRPr>
          </a:p>
        </p:txBody>
      </p:sp>
      <p:sp>
        <p:nvSpPr>
          <p:cNvPr id="44" name="Shape 7"/>
          <p:cNvSpPr/>
          <p:nvPr/>
        </p:nvSpPr>
        <p:spPr>
          <a:xfrm>
            <a:off x="667440" y="2130480"/>
            <a:ext cx="10835280" cy="712800"/>
          </a:xfrm>
          <a:prstGeom prst="roundRect">
            <a:avLst>
              <a:gd name="adj" fmla="val 10256"/>
            </a:avLst>
          </a:prstGeom>
          <a:solidFill>
            <a:srgbClr val="121A2B"/>
          </a:solidFill>
          <a:ln w="889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 name="Shape 8"/>
          <p:cNvSpPr/>
          <p:nvPr/>
        </p:nvSpPr>
        <p:spPr>
          <a:xfrm>
            <a:off x="877680" y="2286000"/>
            <a:ext cx="392760" cy="39276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6" name="Text 9"/>
          <p:cNvSpPr/>
          <p:nvPr/>
        </p:nvSpPr>
        <p:spPr>
          <a:xfrm>
            <a:off x="877680" y="2354760"/>
            <a:ext cx="3927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0A1020"/>
                </a:solidFill>
                <a:effectLst/>
                <a:uFillTx/>
                <a:latin typeface="Aptos"/>
              </a:rPr>
              <a:t>2</a:t>
            </a:r>
            <a:endParaRPr lang="en-US" sz="900" b="0" u="none" strike="noStrike">
              <a:solidFill>
                <a:srgbClr val="FFFFFF"/>
              </a:solidFill>
              <a:effectLst/>
              <a:uFillTx/>
              <a:latin typeface="Arial"/>
            </a:endParaRPr>
          </a:p>
        </p:txBody>
      </p:sp>
      <p:sp>
        <p:nvSpPr>
          <p:cNvPr id="47" name="Text 10"/>
          <p:cNvSpPr/>
          <p:nvPr/>
        </p:nvSpPr>
        <p:spPr>
          <a:xfrm>
            <a:off x="1481400" y="225864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F8FC"/>
                </a:solidFill>
                <a:effectLst/>
                <a:uFillTx/>
                <a:latin typeface="Aptos"/>
              </a:rPr>
              <a:t>Write better prompts</a:t>
            </a:r>
            <a:endParaRPr lang="en-US" sz="1500" b="0" u="none" strike="noStrike">
              <a:solidFill>
                <a:srgbClr val="FFFFFF"/>
              </a:solidFill>
              <a:effectLst/>
              <a:uFillTx/>
              <a:latin typeface="Arial"/>
            </a:endParaRPr>
          </a:p>
        </p:txBody>
      </p:sp>
      <p:sp>
        <p:nvSpPr>
          <p:cNvPr id="48" name="Text 11"/>
          <p:cNvSpPr/>
          <p:nvPr/>
        </p:nvSpPr>
        <p:spPr>
          <a:xfrm>
            <a:off x="4206240" y="2258640"/>
            <a:ext cx="6811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AAB5C8"/>
                </a:solidFill>
                <a:effectLst/>
                <a:uFillTx/>
                <a:latin typeface="Aptos"/>
              </a:rPr>
              <a:t>Use a repeatable structure instead of “magic words.”</a:t>
            </a:r>
            <a:endParaRPr lang="en-US" sz="1150" b="0" u="none" strike="noStrike">
              <a:solidFill>
                <a:srgbClr val="FFFFFF"/>
              </a:solidFill>
              <a:effectLst/>
              <a:uFillTx/>
              <a:latin typeface="Arial"/>
            </a:endParaRPr>
          </a:p>
        </p:txBody>
      </p:sp>
      <p:sp>
        <p:nvSpPr>
          <p:cNvPr id="49" name="Shape 12"/>
          <p:cNvSpPr/>
          <p:nvPr/>
        </p:nvSpPr>
        <p:spPr>
          <a:xfrm>
            <a:off x="667440" y="3026520"/>
            <a:ext cx="10835280" cy="712800"/>
          </a:xfrm>
          <a:prstGeom prst="roundRect">
            <a:avLst>
              <a:gd name="adj" fmla="val 10256"/>
            </a:avLst>
          </a:prstGeom>
          <a:solidFill>
            <a:srgbClr val="0F1728"/>
          </a:solidFill>
          <a:ln w="889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 name="Shape 13"/>
          <p:cNvSpPr/>
          <p:nvPr/>
        </p:nvSpPr>
        <p:spPr>
          <a:xfrm>
            <a:off x="877680" y="3182040"/>
            <a:ext cx="392760" cy="392760"/>
          </a:xfrm>
          <a:prstGeom prst="ellipse">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1" name="Text 14"/>
          <p:cNvSpPr/>
          <p:nvPr/>
        </p:nvSpPr>
        <p:spPr>
          <a:xfrm>
            <a:off x="877680" y="3250800"/>
            <a:ext cx="3927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0A1020"/>
                </a:solidFill>
                <a:effectLst/>
                <a:uFillTx/>
                <a:latin typeface="Aptos"/>
              </a:rPr>
              <a:t>3</a:t>
            </a:r>
            <a:endParaRPr lang="en-US" sz="900" b="0" u="none" strike="noStrike">
              <a:solidFill>
                <a:srgbClr val="FFFFFF"/>
              </a:solidFill>
              <a:effectLst/>
              <a:uFillTx/>
              <a:latin typeface="Arial"/>
            </a:endParaRPr>
          </a:p>
        </p:txBody>
      </p:sp>
      <p:sp>
        <p:nvSpPr>
          <p:cNvPr id="52" name="Text 15"/>
          <p:cNvSpPr/>
          <p:nvPr/>
        </p:nvSpPr>
        <p:spPr>
          <a:xfrm>
            <a:off x="1481400" y="315468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F8FC"/>
                </a:solidFill>
                <a:effectLst/>
                <a:uFillTx/>
                <a:latin typeface="Aptos"/>
              </a:rPr>
              <a:t>Choose the right tool</a:t>
            </a:r>
            <a:endParaRPr lang="en-US" sz="1500" b="0" u="none" strike="noStrike">
              <a:solidFill>
                <a:srgbClr val="FFFFFF"/>
              </a:solidFill>
              <a:effectLst/>
              <a:uFillTx/>
              <a:latin typeface="Arial"/>
            </a:endParaRPr>
          </a:p>
        </p:txBody>
      </p:sp>
      <p:sp>
        <p:nvSpPr>
          <p:cNvPr id="53" name="Text 16"/>
          <p:cNvSpPr/>
          <p:nvPr/>
        </p:nvSpPr>
        <p:spPr>
          <a:xfrm>
            <a:off x="4206240" y="3154680"/>
            <a:ext cx="6811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AAB5C8"/>
                </a:solidFill>
                <a:effectLst/>
                <a:uFillTx/>
                <a:latin typeface="Aptos"/>
              </a:rPr>
              <a:t>Match task → product → model → tools → privacy level.</a:t>
            </a:r>
            <a:endParaRPr lang="en-US" sz="1150" b="0" u="none" strike="noStrike">
              <a:solidFill>
                <a:srgbClr val="FFFFFF"/>
              </a:solidFill>
              <a:effectLst/>
              <a:uFillTx/>
              <a:latin typeface="Arial"/>
            </a:endParaRPr>
          </a:p>
        </p:txBody>
      </p:sp>
      <p:sp>
        <p:nvSpPr>
          <p:cNvPr id="54" name="Shape 17"/>
          <p:cNvSpPr/>
          <p:nvPr/>
        </p:nvSpPr>
        <p:spPr>
          <a:xfrm>
            <a:off x="667440" y="3922920"/>
            <a:ext cx="10835280" cy="712800"/>
          </a:xfrm>
          <a:prstGeom prst="roundRect">
            <a:avLst>
              <a:gd name="adj" fmla="val 10256"/>
            </a:avLst>
          </a:prstGeom>
          <a:solidFill>
            <a:srgbClr val="121A2B"/>
          </a:solidFill>
          <a:ln w="889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 name="Shape 18"/>
          <p:cNvSpPr/>
          <p:nvPr/>
        </p:nvSpPr>
        <p:spPr>
          <a:xfrm>
            <a:off x="877680" y="4078080"/>
            <a:ext cx="392760" cy="392760"/>
          </a:xfrm>
          <a:prstGeom prst="ellipse">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 name="Text 19"/>
          <p:cNvSpPr/>
          <p:nvPr/>
        </p:nvSpPr>
        <p:spPr>
          <a:xfrm>
            <a:off x="877680" y="4146840"/>
            <a:ext cx="3927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0A1020"/>
                </a:solidFill>
                <a:effectLst/>
                <a:uFillTx/>
                <a:latin typeface="Aptos"/>
              </a:rPr>
              <a:t>4</a:t>
            </a:r>
            <a:endParaRPr lang="en-US" sz="900" b="0" u="none" strike="noStrike">
              <a:solidFill>
                <a:srgbClr val="FFFFFF"/>
              </a:solidFill>
              <a:effectLst/>
              <a:uFillTx/>
              <a:latin typeface="Arial"/>
            </a:endParaRPr>
          </a:p>
        </p:txBody>
      </p:sp>
      <p:sp>
        <p:nvSpPr>
          <p:cNvPr id="57" name="Text 20"/>
          <p:cNvSpPr/>
          <p:nvPr/>
        </p:nvSpPr>
        <p:spPr>
          <a:xfrm>
            <a:off x="1481400" y="405072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F8FC"/>
                </a:solidFill>
                <a:effectLst/>
                <a:uFillTx/>
                <a:latin typeface="Aptos"/>
              </a:rPr>
              <a:t>Run AI locally</a:t>
            </a:r>
            <a:endParaRPr lang="en-US" sz="1500" b="0" u="none" strike="noStrike">
              <a:solidFill>
                <a:srgbClr val="FFFFFF"/>
              </a:solidFill>
              <a:effectLst/>
              <a:uFillTx/>
              <a:latin typeface="Arial"/>
            </a:endParaRPr>
          </a:p>
        </p:txBody>
      </p:sp>
      <p:sp>
        <p:nvSpPr>
          <p:cNvPr id="58" name="Text 21"/>
          <p:cNvSpPr/>
          <p:nvPr/>
        </p:nvSpPr>
        <p:spPr>
          <a:xfrm>
            <a:off x="4206240" y="4050720"/>
            <a:ext cx="6811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AAB5C8"/>
                </a:solidFill>
                <a:effectLst/>
                <a:uFillTx/>
                <a:latin typeface="Aptos"/>
              </a:rPr>
              <a:t>Understand Ollama, Open WebUI, model sizes, quantization, and air gaps.</a:t>
            </a:r>
            <a:endParaRPr lang="en-US" sz="1150" b="0" u="none" strike="noStrike">
              <a:solidFill>
                <a:srgbClr val="FFFFFF"/>
              </a:solidFill>
              <a:effectLst/>
              <a:uFillTx/>
              <a:latin typeface="Arial"/>
            </a:endParaRPr>
          </a:p>
        </p:txBody>
      </p:sp>
      <p:sp>
        <p:nvSpPr>
          <p:cNvPr id="59" name="Shape 22"/>
          <p:cNvSpPr/>
          <p:nvPr/>
        </p:nvSpPr>
        <p:spPr>
          <a:xfrm>
            <a:off x="667440" y="4818960"/>
            <a:ext cx="10835280" cy="712800"/>
          </a:xfrm>
          <a:prstGeom prst="roundRect">
            <a:avLst>
              <a:gd name="adj" fmla="val 10256"/>
            </a:avLst>
          </a:prstGeom>
          <a:solidFill>
            <a:srgbClr val="0F1728"/>
          </a:solidFill>
          <a:ln w="889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 name="Shape 23"/>
          <p:cNvSpPr/>
          <p:nvPr/>
        </p:nvSpPr>
        <p:spPr>
          <a:xfrm>
            <a:off x="877680" y="4974480"/>
            <a:ext cx="392760" cy="39276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 name="Text 24"/>
          <p:cNvSpPr/>
          <p:nvPr/>
        </p:nvSpPr>
        <p:spPr>
          <a:xfrm>
            <a:off x="877680" y="5042880"/>
            <a:ext cx="392760" cy="12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0A1020"/>
                </a:solidFill>
                <a:effectLst/>
                <a:uFillTx/>
                <a:latin typeface="Aptos"/>
              </a:rPr>
              <a:t>5</a:t>
            </a:r>
            <a:endParaRPr lang="en-US" sz="900" b="0" u="none" strike="noStrike">
              <a:solidFill>
                <a:srgbClr val="FFFFFF"/>
              </a:solidFill>
              <a:effectLst/>
              <a:uFillTx/>
              <a:latin typeface="Arial"/>
            </a:endParaRPr>
          </a:p>
        </p:txBody>
      </p:sp>
      <p:sp>
        <p:nvSpPr>
          <p:cNvPr id="62" name="Text 25"/>
          <p:cNvSpPr/>
          <p:nvPr/>
        </p:nvSpPr>
        <p:spPr>
          <a:xfrm>
            <a:off x="1481400" y="4946760"/>
            <a:ext cx="27428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F5F8FC"/>
                </a:solidFill>
                <a:effectLst/>
                <a:uFillTx/>
                <a:latin typeface="Aptos"/>
              </a:rPr>
              <a:t>Verify important answers</a:t>
            </a:r>
            <a:endParaRPr lang="en-US" sz="1500" b="0" u="none" strike="noStrike">
              <a:solidFill>
                <a:srgbClr val="FFFFFF"/>
              </a:solidFill>
              <a:effectLst/>
              <a:uFillTx/>
              <a:latin typeface="Arial"/>
            </a:endParaRPr>
          </a:p>
        </p:txBody>
      </p:sp>
      <p:sp>
        <p:nvSpPr>
          <p:cNvPr id="63" name="Text 26"/>
          <p:cNvSpPr/>
          <p:nvPr/>
        </p:nvSpPr>
        <p:spPr>
          <a:xfrm>
            <a:off x="4206240" y="4946760"/>
            <a:ext cx="68119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50" b="0" u="none" strike="noStrike">
                <a:solidFill>
                  <a:srgbClr val="AAB5C8"/>
                </a:solidFill>
                <a:effectLst/>
                <a:uFillTx/>
                <a:latin typeface="Aptos"/>
              </a:rPr>
              <a:t>Use sources, tests, logs, measurements, and independent benchmarks.</a:t>
            </a:r>
            <a:endParaRPr lang="en-US" sz="1150" b="0" u="none" strike="noStrike">
              <a:solidFill>
                <a:srgbClr val="FFFFFF"/>
              </a:solidFill>
              <a:effectLst/>
              <a:uFillTx/>
              <a:latin typeface="Arial"/>
            </a:endParaRPr>
          </a:p>
        </p:txBody>
      </p:sp>
      <p:sp>
        <p:nvSpPr>
          <p:cNvPr id="64" name="PlaceHolder 1"/>
          <p:cNvSpPr>
            <a:spLocks noGrp="1"/>
          </p:cNvSpPr>
          <p:nvPr>
            <p:ph type="sldNum" idx="6"/>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9A010F09-8F7E-47AE-8DBA-ACB3949F4C9F}" type="slidenum">
              <a:rPr lang="en-US" sz="750" b="0" u="none" strike="noStrike">
                <a:solidFill>
                  <a:srgbClr val="73809A"/>
                </a:solidFill>
                <a:effectLst/>
                <a:uFillTx/>
                <a:latin typeface="Aptos"/>
                <a:ea typeface="Aptos"/>
              </a:rPr>
              <a:t>2</a:t>
            </a:fld>
            <a:endParaRPr lang="en-US" sz="750" b="0" u="none" strike="noStrike">
              <a:solidFill>
                <a:srgbClr val="FFFFFF"/>
              </a:solidFill>
              <a:effectLst/>
              <a:uFillTx/>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AI is not one thing</a:t>
            </a:r>
            <a:endParaRPr lang="en-US" sz="2600" b="0" u="none" strike="noStrike">
              <a:solidFill>
                <a:srgbClr val="FFFFFF"/>
              </a:solidFill>
              <a:effectLst/>
              <a:uFillTx/>
              <a:latin typeface="Arial"/>
            </a:endParaRPr>
          </a:p>
        </p:txBody>
      </p:sp>
      <p:sp>
        <p:nvSpPr>
          <p:cNvPr id="66"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Separate the interface from the model and the model from the tools.</a:t>
            </a:r>
            <a:endParaRPr lang="en-US" sz="1150" b="0" u="none" strike="noStrike">
              <a:solidFill>
                <a:srgbClr val="FFFFFF"/>
              </a:solidFill>
              <a:effectLst/>
              <a:uFillTx/>
              <a:latin typeface="Arial"/>
            </a:endParaRPr>
          </a:p>
        </p:txBody>
      </p:sp>
      <p:sp>
        <p:nvSpPr>
          <p:cNvPr id="67" name="Shape 2"/>
          <p:cNvSpPr/>
          <p:nvPr/>
        </p:nvSpPr>
        <p:spPr>
          <a:xfrm>
            <a:off x="1143000" y="1234440"/>
            <a:ext cx="9509400" cy="621360"/>
          </a:xfrm>
          <a:prstGeom prst="roundRect">
            <a:avLst>
              <a:gd name="adj" fmla="val 8824"/>
            </a:avLst>
          </a:prstGeom>
          <a:solidFill>
            <a:srgbClr val="121A2B"/>
          </a:solidFill>
          <a:ln w="1524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 name="Text 3"/>
          <p:cNvSpPr/>
          <p:nvPr/>
        </p:nvSpPr>
        <p:spPr>
          <a:xfrm>
            <a:off x="1417320" y="135324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33D6FF"/>
                </a:solidFill>
                <a:effectLst/>
                <a:uFillTx/>
                <a:latin typeface="Aptos"/>
              </a:rPr>
              <a:t>PRODUCT / UI</a:t>
            </a:r>
            <a:endParaRPr lang="en-US" sz="1200" b="0" u="none" strike="noStrike">
              <a:solidFill>
                <a:srgbClr val="FFFFFF"/>
              </a:solidFill>
              <a:effectLst/>
              <a:uFillTx/>
              <a:latin typeface="Arial"/>
            </a:endParaRPr>
          </a:p>
        </p:txBody>
      </p:sp>
      <p:sp>
        <p:nvSpPr>
          <p:cNvPr id="69" name="Text 4"/>
          <p:cNvSpPr/>
          <p:nvPr/>
        </p:nvSpPr>
        <p:spPr>
          <a:xfrm>
            <a:off x="3749040" y="1353240"/>
            <a:ext cx="61261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ChatGPT • Claude • Gemini • Perplexity • Copilot</a:t>
            </a:r>
            <a:endParaRPr lang="en-US" sz="1070" b="0" u="none" strike="noStrike">
              <a:solidFill>
                <a:srgbClr val="FFFFFF"/>
              </a:solidFill>
              <a:effectLst/>
              <a:uFillTx/>
              <a:latin typeface="Arial"/>
            </a:endParaRPr>
          </a:p>
        </p:txBody>
      </p:sp>
      <p:sp>
        <p:nvSpPr>
          <p:cNvPr id="70" name="Shape 5"/>
          <p:cNvSpPr/>
          <p:nvPr/>
        </p:nvSpPr>
        <p:spPr>
          <a:xfrm>
            <a:off x="1252800" y="2075760"/>
            <a:ext cx="9289800" cy="621360"/>
          </a:xfrm>
          <a:prstGeom prst="roundRect">
            <a:avLst>
              <a:gd name="adj" fmla="val 8824"/>
            </a:avLst>
          </a:prstGeom>
          <a:solidFill>
            <a:srgbClr val="121A2B"/>
          </a:solidFill>
          <a:ln w="1524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 name="Text 6"/>
          <p:cNvSpPr/>
          <p:nvPr/>
        </p:nvSpPr>
        <p:spPr>
          <a:xfrm>
            <a:off x="1527120" y="219456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A78BFA"/>
                </a:solidFill>
                <a:effectLst/>
                <a:uFillTx/>
                <a:latin typeface="Aptos"/>
              </a:rPr>
              <a:t>AGENT / WORKFLOW</a:t>
            </a:r>
            <a:endParaRPr lang="en-US" sz="1200" b="0" u="none" strike="noStrike">
              <a:solidFill>
                <a:srgbClr val="FFFFFF"/>
              </a:solidFill>
              <a:effectLst/>
              <a:uFillTx/>
              <a:latin typeface="Arial"/>
            </a:endParaRPr>
          </a:p>
        </p:txBody>
      </p:sp>
      <p:sp>
        <p:nvSpPr>
          <p:cNvPr id="72" name="Text 7"/>
          <p:cNvSpPr/>
          <p:nvPr/>
        </p:nvSpPr>
        <p:spPr>
          <a:xfrm>
            <a:off x="3794760" y="2194560"/>
            <a:ext cx="598896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Hermes • OpenClaw • coding agents • automations</a:t>
            </a:r>
            <a:endParaRPr lang="en-US" sz="1070" b="0" u="none" strike="noStrike">
              <a:solidFill>
                <a:srgbClr val="FFFFFF"/>
              </a:solidFill>
              <a:effectLst/>
              <a:uFillTx/>
              <a:latin typeface="Arial"/>
            </a:endParaRPr>
          </a:p>
        </p:txBody>
      </p:sp>
      <p:sp>
        <p:nvSpPr>
          <p:cNvPr id="73" name="Shape 8"/>
          <p:cNvSpPr/>
          <p:nvPr/>
        </p:nvSpPr>
        <p:spPr>
          <a:xfrm>
            <a:off x="1362600" y="2917080"/>
            <a:ext cx="9070560" cy="621360"/>
          </a:xfrm>
          <a:prstGeom prst="roundRect">
            <a:avLst>
              <a:gd name="adj" fmla="val 8824"/>
            </a:avLst>
          </a:prstGeom>
          <a:solidFill>
            <a:srgbClr val="121A2B"/>
          </a:solidFill>
          <a:ln w="1524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 name="Text 9"/>
          <p:cNvSpPr/>
          <p:nvPr/>
        </p:nvSpPr>
        <p:spPr>
          <a:xfrm>
            <a:off x="1636920" y="303588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FFC857"/>
                </a:solidFill>
                <a:effectLst/>
                <a:uFillTx/>
                <a:latin typeface="Aptos"/>
              </a:rPr>
              <a:t>ROUTER / GATEWAY</a:t>
            </a:r>
            <a:endParaRPr lang="en-US" sz="1200" b="0" u="none" strike="noStrike">
              <a:solidFill>
                <a:srgbClr val="FFFFFF"/>
              </a:solidFill>
              <a:effectLst/>
              <a:uFillTx/>
              <a:latin typeface="Arial"/>
            </a:endParaRPr>
          </a:p>
        </p:txBody>
      </p:sp>
      <p:sp>
        <p:nvSpPr>
          <p:cNvPr id="75" name="Text 10"/>
          <p:cNvSpPr/>
          <p:nvPr/>
        </p:nvSpPr>
        <p:spPr>
          <a:xfrm>
            <a:off x="3840480" y="3035880"/>
            <a:ext cx="5851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OpenRouter • model gateways • fallback / cost routing</a:t>
            </a:r>
            <a:endParaRPr lang="en-US" sz="1070" b="0" u="none" strike="noStrike">
              <a:solidFill>
                <a:srgbClr val="FFFFFF"/>
              </a:solidFill>
              <a:effectLst/>
              <a:uFillTx/>
              <a:latin typeface="Arial"/>
            </a:endParaRPr>
          </a:p>
        </p:txBody>
      </p:sp>
      <p:sp>
        <p:nvSpPr>
          <p:cNvPr id="76" name="Shape 11"/>
          <p:cNvSpPr/>
          <p:nvPr/>
        </p:nvSpPr>
        <p:spPr>
          <a:xfrm>
            <a:off x="1472040" y="3758040"/>
            <a:ext cx="8850960" cy="621360"/>
          </a:xfrm>
          <a:prstGeom prst="roundRect">
            <a:avLst>
              <a:gd name="adj" fmla="val 8824"/>
            </a:avLst>
          </a:prstGeom>
          <a:solidFill>
            <a:srgbClr val="121A2B"/>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 name="Text 12"/>
          <p:cNvSpPr/>
          <p:nvPr/>
        </p:nvSpPr>
        <p:spPr>
          <a:xfrm>
            <a:off x="1746360" y="387720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40E0A1"/>
                </a:solidFill>
                <a:effectLst/>
                <a:uFillTx/>
                <a:latin typeface="Aptos"/>
              </a:rPr>
              <a:t>MODEL</a:t>
            </a:r>
            <a:endParaRPr lang="en-US" sz="1200" b="0" u="none" strike="noStrike">
              <a:solidFill>
                <a:srgbClr val="FFFFFF"/>
              </a:solidFill>
              <a:effectLst/>
              <a:uFillTx/>
              <a:latin typeface="Arial"/>
            </a:endParaRPr>
          </a:p>
        </p:txBody>
      </p:sp>
      <p:sp>
        <p:nvSpPr>
          <p:cNvPr id="78" name="Text 13"/>
          <p:cNvSpPr/>
          <p:nvPr/>
        </p:nvSpPr>
        <p:spPr>
          <a:xfrm>
            <a:off x="3886200" y="3877200"/>
            <a:ext cx="5714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GPT • Claude • Gemini • Qwen • Gemma • Llama</a:t>
            </a:r>
            <a:endParaRPr lang="en-US" sz="1070" b="0" u="none" strike="noStrike">
              <a:solidFill>
                <a:srgbClr val="FFFFFF"/>
              </a:solidFill>
              <a:effectLst/>
              <a:uFillTx/>
              <a:latin typeface="Arial"/>
            </a:endParaRPr>
          </a:p>
        </p:txBody>
      </p:sp>
      <p:sp>
        <p:nvSpPr>
          <p:cNvPr id="79" name="Shape 14"/>
          <p:cNvSpPr/>
          <p:nvPr/>
        </p:nvSpPr>
        <p:spPr>
          <a:xfrm>
            <a:off x="1581840" y="4599360"/>
            <a:ext cx="8631720" cy="621360"/>
          </a:xfrm>
          <a:prstGeom prst="roundRect">
            <a:avLst>
              <a:gd name="adj" fmla="val 8824"/>
            </a:avLst>
          </a:prstGeom>
          <a:solidFill>
            <a:srgbClr val="121A2B"/>
          </a:solidFill>
          <a:ln w="1524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 name="Text 15"/>
          <p:cNvSpPr/>
          <p:nvPr/>
        </p:nvSpPr>
        <p:spPr>
          <a:xfrm>
            <a:off x="1856160" y="4718160"/>
            <a:ext cx="2377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u="none" strike="noStrike">
                <a:solidFill>
                  <a:srgbClr val="FF6B6B"/>
                </a:solidFill>
                <a:effectLst/>
                <a:uFillTx/>
                <a:latin typeface="Aptos"/>
              </a:rPr>
              <a:t>RUNTIME / HARDWARE</a:t>
            </a:r>
            <a:endParaRPr lang="en-US" sz="1200" b="0" u="none" strike="noStrike">
              <a:solidFill>
                <a:srgbClr val="FFFFFF"/>
              </a:solidFill>
              <a:effectLst/>
              <a:uFillTx/>
              <a:latin typeface="Arial"/>
            </a:endParaRPr>
          </a:p>
        </p:txBody>
      </p:sp>
      <p:sp>
        <p:nvSpPr>
          <p:cNvPr id="81" name="Text 16"/>
          <p:cNvSpPr/>
          <p:nvPr/>
        </p:nvSpPr>
        <p:spPr>
          <a:xfrm>
            <a:off x="3931920" y="4718160"/>
            <a:ext cx="55774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Ollama • llama.cpp • GPU / CPU / RAM</a:t>
            </a:r>
            <a:endParaRPr lang="en-US" sz="1070" b="0" u="none" strike="noStrike">
              <a:solidFill>
                <a:srgbClr val="FFFFFF"/>
              </a:solidFill>
              <a:effectLst/>
              <a:uFillTx/>
              <a:latin typeface="Arial"/>
            </a:endParaRPr>
          </a:p>
        </p:txBody>
      </p:sp>
      <p:sp>
        <p:nvSpPr>
          <p:cNvPr id="82" name="Text 17"/>
          <p:cNvSpPr/>
          <p:nvPr/>
        </p:nvSpPr>
        <p:spPr>
          <a:xfrm>
            <a:off x="1143000" y="5605200"/>
            <a:ext cx="9509400" cy="420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5F8FC"/>
                </a:solidFill>
                <a:effectLst/>
                <a:uFillTx/>
                <a:latin typeface="Aptos"/>
              </a:rPr>
              <a:t>Why this matters: “I use ChatGPT” does not tell you which model, tools, privacy mode, or data path produced the answer.</a:t>
            </a:r>
            <a:endParaRPr lang="en-US" sz="1300" b="0" u="none" strike="noStrike">
              <a:solidFill>
                <a:srgbClr val="FFFFFF"/>
              </a:solidFill>
              <a:effectLst/>
              <a:uFillTx/>
              <a:latin typeface="Arial"/>
            </a:endParaRPr>
          </a:p>
        </p:txBody>
      </p:sp>
      <p:sp>
        <p:nvSpPr>
          <p:cNvPr id="83" name="Text 18">
            <a:hlinkClick r:id="rId3"/>
          </p:cNvPr>
          <p:cNvSpPr/>
          <p:nvPr/>
        </p:nvSpPr>
        <p:spPr>
          <a:xfrm>
            <a:off x="521280" y="6190560"/>
            <a:ext cx="1709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OpenRouter docs</a:t>
            </a:r>
            <a:endParaRPr lang="en-US" sz="720" b="0" u="none" strike="noStrike">
              <a:solidFill>
                <a:srgbClr val="FFFFFF"/>
              </a:solidFill>
              <a:effectLst/>
              <a:uFillTx/>
              <a:latin typeface="Arial"/>
            </a:endParaRPr>
          </a:p>
        </p:txBody>
      </p:sp>
      <p:sp>
        <p:nvSpPr>
          <p:cNvPr id="84" name="Text 19">
            <a:hlinkClick r:id="rId4"/>
          </p:cNvPr>
          <p:cNvSpPr/>
          <p:nvPr/>
        </p:nvSpPr>
        <p:spPr>
          <a:xfrm>
            <a:off x="2231280" y="6190560"/>
            <a:ext cx="14079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Open WebUI docs</a:t>
            </a:r>
            <a:endParaRPr lang="en-US" sz="720" b="0" u="none" strike="noStrike">
              <a:solidFill>
                <a:srgbClr val="FFFFFF"/>
              </a:solidFill>
              <a:effectLst/>
              <a:uFillTx/>
              <a:latin typeface="Arial"/>
            </a:endParaRPr>
          </a:p>
        </p:txBody>
      </p:sp>
      <p:sp>
        <p:nvSpPr>
          <p:cNvPr id="85" name="Text 20">
            <a:hlinkClick r:id="rId5"/>
          </p:cNvPr>
          <p:cNvSpPr/>
          <p:nvPr/>
        </p:nvSpPr>
        <p:spPr>
          <a:xfrm>
            <a:off x="3639240" y="6190560"/>
            <a:ext cx="1206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5"/>
              </a:rPr>
              <a:t> • Hermes docs</a:t>
            </a:r>
            <a:endParaRPr lang="en-US" sz="720" b="0" u="none" strike="noStrike">
              <a:solidFill>
                <a:srgbClr val="FFFFFF"/>
              </a:solidFill>
              <a:effectLst/>
              <a:uFillTx/>
              <a:latin typeface="Arial"/>
            </a:endParaRPr>
          </a:p>
        </p:txBody>
      </p:sp>
      <p:sp>
        <p:nvSpPr>
          <p:cNvPr id="86" name="Text 21">
            <a:hlinkClick r:id="rId6"/>
          </p:cNvPr>
          <p:cNvSpPr/>
          <p:nvPr/>
        </p:nvSpPr>
        <p:spPr>
          <a:xfrm>
            <a:off x="4846320" y="6190560"/>
            <a:ext cx="130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6"/>
              </a:rPr>
              <a:t> • OpenClaw docs</a:t>
            </a:r>
            <a:endParaRPr lang="en-US" sz="720" b="0" u="none" strike="noStrike">
              <a:solidFill>
                <a:srgbClr val="FFFFFF"/>
              </a:solidFill>
              <a:effectLst/>
              <a:uFillTx/>
              <a:latin typeface="Arial"/>
            </a:endParaRPr>
          </a:p>
        </p:txBody>
      </p:sp>
      <p:sp>
        <p:nvSpPr>
          <p:cNvPr id="87" name="PlaceHolder 1"/>
          <p:cNvSpPr>
            <a:spLocks noGrp="1"/>
          </p:cNvSpPr>
          <p:nvPr>
            <p:ph type="sldNum" idx="7"/>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13680970-FFFB-4B89-B97D-025D72ECEC11}" type="slidenum">
              <a:rPr lang="en-US" sz="750" b="0" u="none" strike="noStrike">
                <a:solidFill>
                  <a:srgbClr val="73809A"/>
                </a:solidFill>
                <a:effectLst/>
                <a:uFillTx/>
                <a:latin typeface="Aptos"/>
                <a:ea typeface="Aptos"/>
              </a:rPr>
              <a:t>3</a:t>
            </a:fld>
            <a:endParaRPr lang="en-US" sz="750" b="0" u="none" strike="noStrike">
              <a:solidFill>
                <a:srgbClr val="FFFFFF"/>
              </a:solidFill>
              <a:effectLst/>
              <a:uFillTx/>
              <a:latin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How an LLM works — useful simplification</a:t>
            </a:r>
            <a:endParaRPr lang="en-US" sz="2600" b="0" u="none" strike="noStrike">
              <a:solidFill>
                <a:srgbClr val="FFFFFF"/>
              </a:solidFill>
              <a:effectLst/>
              <a:uFillTx/>
              <a:latin typeface="Arial"/>
            </a:endParaRPr>
          </a:p>
        </p:txBody>
      </p:sp>
      <p:sp>
        <p:nvSpPr>
          <p:cNvPr id="89"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Text goes in. The model repeatedly predicts a next token based on the context it can see.</a:t>
            </a:r>
            <a:endParaRPr lang="en-US" sz="1150" b="0" u="none" strike="noStrike">
              <a:solidFill>
                <a:srgbClr val="FFFFFF"/>
              </a:solidFill>
              <a:effectLst/>
              <a:uFillTx/>
              <a:latin typeface="Arial"/>
            </a:endParaRPr>
          </a:p>
        </p:txBody>
      </p:sp>
      <p:sp>
        <p:nvSpPr>
          <p:cNvPr id="90" name="Shape 2"/>
          <p:cNvSpPr/>
          <p:nvPr/>
        </p:nvSpPr>
        <p:spPr>
          <a:xfrm>
            <a:off x="567000" y="1536120"/>
            <a:ext cx="1919880" cy="1965600"/>
          </a:xfrm>
          <a:prstGeom prst="roundRect">
            <a:avLst>
              <a:gd name="adj" fmla="val 3810"/>
            </a:avLst>
          </a:prstGeom>
          <a:solidFill>
            <a:srgbClr val="121A2B"/>
          </a:solidFill>
          <a:ln w="1524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 name="Shape 3"/>
          <p:cNvSpPr/>
          <p:nvPr/>
        </p:nvSpPr>
        <p:spPr>
          <a:xfrm>
            <a:off x="1225440" y="1792080"/>
            <a:ext cx="603000" cy="60300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 name="Text 4"/>
          <p:cNvSpPr/>
          <p:nvPr/>
        </p:nvSpPr>
        <p:spPr>
          <a:xfrm>
            <a:off x="1225440" y="1956960"/>
            <a:ext cx="603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1</a:t>
            </a:r>
            <a:endParaRPr lang="en-US" sz="1300" b="0" u="none" strike="noStrike">
              <a:solidFill>
                <a:srgbClr val="FFFFFF"/>
              </a:solidFill>
              <a:effectLst/>
              <a:uFillTx/>
              <a:latin typeface="Arial"/>
            </a:endParaRPr>
          </a:p>
        </p:txBody>
      </p:sp>
      <p:sp>
        <p:nvSpPr>
          <p:cNvPr id="93" name="Text 5"/>
          <p:cNvSpPr/>
          <p:nvPr/>
        </p:nvSpPr>
        <p:spPr>
          <a:xfrm>
            <a:off x="731520" y="2597040"/>
            <a:ext cx="1590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5F8FC"/>
                </a:solidFill>
                <a:effectLst/>
                <a:uFillTx/>
                <a:latin typeface="Aptos"/>
              </a:rPr>
              <a:t>Tokenize</a:t>
            </a:r>
            <a:endParaRPr lang="en-US" sz="1500" b="0" u="none" strike="noStrike">
              <a:solidFill>
                <a:srgbClr val="FFFFFF"/>
              </a:solidFill>
              <a:effectLst/>
              <a:uFillTx/>
              <a:latin typeface="Arial"/>
            </a:endParaRPr>
          </a:p>
        </p:txBody>
      </p:sp>
      <p:sp>
        <p:nvSpPr>
          <p:cNvPr id="94" name="Text 6"/>
          <p:cNvSpPr/>
          <p:nvPr/>
        </p:nvSpPr>
        <p:spPr>
          <a:xfrm>
            <a:off x="713160" y="2907720"/>
            <a:ext cx="16272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u="none" strike="noStrike">
                <a:solidFill>
                  <a:srgbClr val="AAB5C8"/>
                </a:solidFill>
                <a:effectLst/>
                <a:uFillTx/>
                <a:latin typeface="Aptos"/>
              </a:rPr>
              <a:t>Split text into token IDs</a:t>
            </a:r>
            <a:endParaRPr lang="en-US" sz="939" b="0" u="none" strike="noStrike">
              <a:solidFill>
                <a:srgbClr val="FFFFFF"/>
              </a:solidFill>
              <a:effectLst/>
              <a:uFillTx/>
              <a:latin typeface="Arial"/>
            </a:endParaRPr>
          </a:p>
        </p:txBody>
      </p:sp>
      <p:sp>
        <p:nvSpPr>
          <p:cNvPr id="95" name="Shape 7"/>
          <p:cNvSpPr/>
          <p:nvPr/>
        </p:nvSpPr>
        <p:spPr>
          <a:xfrm>
            <a:off x="2505240" y="2505240"/>
            <a:ext cx="27432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96" name="Shape 8"/>
          <p:cNvSpPr/>
          <p:nvPr/>
        </p:nvSpPr>
        <p:spPr>
          <a:xfrm>
            <a:off x="2871360" y="1536120"/>
            <a:ext cx="1919880" cy="1965600"/>
          </a:xfrm>
          <a:prstGeom prst="roundRect">
            <a:avLst>
              <a:gd name="adj" fmla="val 3810"/>
            </a:avLst>
          </a:prstGeom>
          <a:solidFill>
            <a:srgbClr val="121A2B"/>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7" name="Shape 9"/>
          <p:cNvSpPr/>
          <p:nvPr/>
        </p:nvSpPr>
        <p:spPr>
          <a:xfrm>
            <a:off x="3529440" y="1792080"/>
            <a:ext cx="603000" cy="60300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8" name="Text 10"/>
          <p:cNvSpPr/>
          <p:nvPr/>
        </p:nvSpPr>
        <p:spPr>
          <a:xfrm>
            <a:off x="3529440" y="1956960"/>
            <a:ext cx="603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2</a:t>
            </a:r>
            <a:endParaRPr lang="en-US" sz="1300" b="0" u="none" strike="noStrike">
              <a:solidFill>
                <a:srgbClr val="FFFFFF"/>
              </a:solidFill>
              <a:effectLst/>
              <a:uFillTx/>
              <a:latin typeface="Arial"/>
            </a:endParaRPr>
          </a:p>
        </p:txBody>
      </p:sp>
      <p:sp>
        <p:nvSpPr>
          <p:cNvPr id="99" name="Text 11"/>
          <p:cNvSpPr/>
          <p:nvPr/>
        </p:nvSpPr>
        <p:spPr>
          <a:xfrm>
            <a:off x="3035880" y="2597040"/>
            <a:ext cx="1590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5F8FC"/>
                </a:solidFill>
                <a:effectLst/>
                <a:uFillTx/>
                <a:latin typeface="Aptos"/>
              </a:rPr>
              <a:t>Represent</a:t>
            </a:r>
            <a:endParaRPr lang="en-US" sz="1500" b="0" u="none" strike="noStrike">
              <a:solidFill>
                <a:srgbClr val="FFFFFF"/>
              </a:solidFill>
              <a:effectLst/>
              <a:uFillTx/>
              <a:latin typeface="Arial"/>
            </a:endParaRPr>
          </a:p>
        </p:txBody>
      </p:sp>
      <p:sp>
        <p:nvSpPr>
          <p:cNvPr id="100" name="Text 12"/>
          <p:cNvSpPr/>
          <p:nvPr/>
        </p:nvSpPr>
        <p:spPr>
          <a:xfrm>
            <a:off x="3017520" y="2907720"/>
            <a:ext cx="16272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u="none" strike="noStrike">
                <a:solidFill>
                  <a:srgbClr val="AAB5C8"/>
                </a:solidFill>
                <a:effectLst/>
                <a:uFillTx/>
                <a:latin typeface="Aptos"/>
              </a:rPr>
              <a:t>Map tokens into learned numeric vectors</a:t>
            </a:r>
            <a:endParaRPr lang="en-US" sz="939" b="0" u="none" strike="noStrike">
              <a:solidFill>
                <a:srgbClr val="FFFFFF"/>
              </a:solidFill>
              <a:effectLst/>
              <a:uFillTx/>
              <a:latin typeface="Arial"/>
            </a:endParaRPr>
          </a:p>
        </p:txBody>
      </p:sp>
      <p:sp>
        <p:nvSpPr>
          <p:cNvPr id="101" name="Shape 13"/>
          <p:cNvSpPr/>
          <p:nvPr/>
        </p:nvSpPr>
        <p:spPr>
          <a:xfrm>
            <a:off x="4809600" y="2505240"/>
            <a:ext cx="27432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02" name="Shape 14"/>
          <p:cNvSpPr/>
          <p:nvPr/>
        </p:nvSpPr>
        <p:spPr>
          <a:xfrm>
            <a:off x="5175360" y="1536120"/>
            <a:ext cx="1919880" cy="1965600"/>
          </a:xfrm>
          <a:prstGeom prst="roundRect">
            <a:avLst>
              <a:gd name="adj" fmla="val 3810"/>
            </a:avLst>
          </a:prstGeom>
          <a:solidFill>
            <a:srgbClr val="121A2B"/>
          </a:solidFill>
          <a:ln w="1524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3" name="Shape 15"/>
          <p:cNvSpPr/>
          <p:nvPr/>
        </p:nvSpPr>
        <p:spPr>
          <a:xfrm>
            <a:off x="5833800" y="1792080"/>
            <a:ext cx="603000" cy="603000"/>
          </a:xfrm>
          <a:prstGeom prst="ellipse">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4" name="Text 16"/>
          <p:cNvSpPr/>
          <p:nvPr/>
        </p:nvSpPr>
        <p:spPr>
          <a:xfrm>
            <a:off x="5833800" y="1956960"/>
            <a:ext cx="603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3</a:t>
            </a:r>
            <a:endParaRPr lang="en-US" sz="1300" b="0" u="none" strike="noStrike">
              <a:solidFill>
                <a:srgbClr val="FFFFFF"/>
              </a:solidFill>
              <a:effectLst/>
              <a:uFillTx/>
              <a:latin typeface="Arial"/>
            </a:endParaRPr>
          </a:p>
        </p:txBody>
      </p:sp>
      <p:sp>
        <p:nvSpPr>
          <p:cNvPr id="105" name="Text 17"/>
          <p:cNvSpPr/>
          <p:nvPr/>
        </p:nvSpPr>
        <p:spPr>
          <a:xfrm>
            <a:off x="5340240" y="2597040"/>
            <a:ext cx="1590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5F8FC"/>
                </a:solidFill>
                <a:effectLst/>
                <a:uFillTx/>
                <a:latin typeface="Aptos"/>
              </a:rPr>
              <a:t>Attend</a:t>
            </a:r>
            <a:endParaRPr lang="en-US" sz="1500" b="0" u="none" strike="noStrike">
              <a:solidFill>
                <a:srgbClr val="FFFFFF"/>
              </a:solidFill>
              <a:effectLst/>
              <a:uFillTx/>
              <a:latin typeface="Arial"/>
            </a:endParaRPr>
          </a:p>
        </p:txBody>
      </p:sp>
      <p:sp>
        <p:nvSpPr>
          <p:cNvPr id="106" name="Text 18"/>
          <p:cNvSpPr/>
          <p:nvPr/>
        </p:nvSpPr>
        <p:spPr>
          <a:xfrm>
            <a:off x="5321880" y="2907720"/>
            <a:ext cx="16272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u="none" strike="noStrike">
                <a:solidFill>
                  <a:srgbClr val="AAB5C8"/>
                </a:solidFill>
                <a:effectLst/>
                <a:uFillTx/>
                <a:latin typeface="Aptos"/>
              </a:rPr>
              <a:t>Transformer layers weigh relationships in context</a:t>
            </a:r>
            <a:endParaRPr lang="en-US" sz="939" b="0" u="none" strike="noStrike">
              <a:solidFill>
                <a:srgbClr val="FFFFFF"/>
              </a:solidFill>
              <a:effectLst/>
              <a:uFillTx/>
              <a:latin typeface="Arial"/>
            </a:endParaRPr>
          </a:p>
        </p:txBody>
      </p:sp>
      <p:sp>
        <p:nvSpPr>
          <p:cNvPr id="107" name="Shape 19"/>
          <p:cNvSpPr/>
          <p:nvPr/>
        </p:nvSpPr>
        <p:spPr>
          <a:xfrm>
            <a:off x="7113960" y="2505240"/>
            <a:ext cx="27432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08" name="Shape 20"/>
          <p:cNvSpPr/>
          <p:nvPr/>
        </p:nvSpPr>
        <p:spPr>
          <a:xfrm>
            <a:off x="7479720" y="1536120"/>
            <a:ext cx="1919880" cy="1965600"/>
          </a:xfrm>
          <a:prstGeom prst="roundRect">
            <a:avLst>
              <a:gd name="adj" fmla="val 3810"/>
            </a:avLst>
          </a:prstGeom>
          <a:solidFill>
            <a:srgbClr val="121A2B"/>
          </a:solidFill>
          <a:ln w="1524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09" name="Shape 21"/>
          <p:cNvSpPr/>
          <p:nvPr/>
        </p:nvSpPr>
        <p:spPr>
          <a:xfrm>
            <a:off x="8138160" y="1792080"/>
            <a:ext cx="603000" cy="603000"/>
          </a:xfrm>
          <a:prstGeom prst="ellipse">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10" name="Text 22"/>
          <p:cNvSpPr/>
          <p:nvPr/>
        </p:nvSpPr>
        <p:spPr>
          <a:xfrm>
            <a:off x="8138160" y="1956960"/>
            <a:ext cx="603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4</a:t>
            </a:r>
            <a:endParaRPr lang="en-US" sz="1300" b="0" u="none" strike="noStrike">
              <a:solidFill>
                <a:srgbClr val="FFFFFF"/>
              </a:solidFill>
              <a:effectLst/>
              <a:uFillTx/>
              <a:latin typeface="Arial"/>
            </a:endParaRPr>
          </a:p>
        </p:txBody>
      </p:sp>
      <p:sp>
        <p:nvSpPr>
          <p:cNvPr id="111" name="Text 23"/>
          <p:cNvSpPr/>
          <p:nvPr/>
        </p:nvSpPr>
        <p:spPr>
          <a:xfrm>
            <a:off x="7644240" y="2597040"/>
            <a:ext cx="1590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5F8FC"/>
                </a:solidFill>
                <a:effectLst/>
                <a:uFillTx/>
                <a:latin typeface="Aptos"/>
              </a:rPr>
              <a:t>Score</a:t>
            </a:r>
            <a:endParaRPr lang="en-US" sz="1500" b="0" u="none" strike="noStrike">
              <a:solidFill>
                <a:srgbClr val="FFFFFF"/>
              </a:solidFill>
              <a:effectLst/>
              <a:uFillTx/>
              <a:latin typeface="Arial"/>
            </a:endParaRPr>
          </a:p>
        </p:txBody>
      </p:sp>
      <p:sp>
        <p:nvSpPr>
          <p:cNvPr id="112" name="Text 24"/>
          <p:cNvSpPr/>
          <p:nvPr/>
        </p:nvSpPr>
        <p:spPr>
          <a:xfrm>
            <a:off x="7626240" y="2907720"/>
            <a:ext cx="16272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u="none" strike="noStrike">
                <a:solidFill>
                  <a:srgbClr val="AAB5C8"/>
                </a:solidFill>
                <a:effectLst/>
                <a:uFillTx/>
                <a:latin typeface="Aptos"/>
              </a:rPr>
              <a:t>Produce probabilities for possible next tokens</a:t>
            </a:r>
            <a:endParaRPr lang="en-US" sz="939" b="0" u="none" strike="noStrike">
              <a:solidFill>
                <a:srgbClr val="FFFFFF"/>
              </a:solidFill>
              <a:effectLst/>
              <a:uFillTx/>
              <a:latin typeface="Arial"/>
            </a:endParaRPr>
          </a:p>
        </p:txBody>
      </p:sp>
      <p:sp>
        <p:nvSpPr>
          <p:cNvPr id="113" name="Shape 25"/>
          <p:cNvSpPr/>
          <p:nvPr/>
        </p:nvSpPr>
        <p:spPr>
          <a:xfrm>
            <a:off x="9418320" y="2505240"/>
            <a:ext cx="27432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114" name="Shape 26"/>
          <p:cNvSpPr/>
          <p:nvPr/>
        </p:nvSpPr>
        <p:spPr>
          <a:xfrm>
            <a:off x="9784080" y="1536120"/>
            <a:ext cx="1919880" cy="1965600"/>
          </a:xfrm>
          <a:prstGeom prst="roundRect">
            <a:avLst>
              <a:gd name="adj" fmla="val 3810"/>
            </a:avLst>
          </a:prstGeom>
          <a:solidFill>
            <a:srgbClr val="121A2B"/>
          </a:solidFill>
          <a:ln w="1524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5" name="Shape 27"/>
          <p:cNvSpPr/>
          <p:nvPr/>
        </p:nvSpPr>
        <p:spPr>
          <a:xfrm>
            <a:off x="10442520" y="1792080"/>
            <a:ext cx="603000" cy="60300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16" name="Text 28"/>
          <p:cNvSpPr/>
          <p:nvPr/>
        </p:nvSpPr>
        <p:spPr>
          <a:xfrm>
            <a:off x="10442520" y="1956960"/>
            <a:ext cx="603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5</a:t>
            </a:r>
            <a:endParaRPr lang="en-US" sz="1300" b="0" u="none" strike="noStrike">
              <a:solidFill>
                <a:srgbClr val="FFFFFF"/>
              </a:solidFill>
              <a:effectLst/>
              <a:uFillTx/>
              <a:latin typeface="Arial"/>
            </a:endParaRPr>
          </a:p>
        </p:txBody>
      </p:sp>
      <p:sp>
        <p:nvSpPr>
          <p:cNvPr id="117" name="Text 29"/>
          <p:cNvSpPr/>
          <p:nvPr/>
        </p:nvSpPr>
        <p:spPr>
          <a:xfrm>
            <a:off x="9948600" y="2597040"/>
            <a:ext cx="15908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5F8FC"/>
                </a:solidFill>
                <a:effectLst/>
                <a:uFillTx/>
                <a:latin typeface="Aptos"/>
              </a:rPr>
              <a:t>Generate</a:t>
            </a:r>
            <a:endParaRPr lang="en-US" sz="1500" b="0" u="none" strike="noStrike">
              <a:solidFill>
                <a:srgbClr val="FFFFFF"/>
              </a:solidFill>
              <a:effectLst/>
              <a:uFillTx/>
              <a:latin typeface="Arial"/>
            </a:endParaRPr>
          </a:p>
        </p:txBody>
      </p:sp>
      <p:sp>
        <p:nvSpPr>
          <p:cNvPr id="118" name="Text 30"/>
          <p:cNvSpPr/>
          <p:nvPr/>
        </p:nvSpPr>
        <p:spPr>
          <a:xfrm>
            <a:off x="9930240" y="2907720"/>
            <a:ext cx="16272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39" b="0" u="none" strike="noStrike">
                <a:solidFill>
                  <a:srgbClr val="AAB5C8"/>
                </a:solidFill>
                <a:effectLst/>
                <a:uFillTx/>
                <a:latin typeface="Aptos"/>
              </a:rPr>
              <a:t>Choose a token, append it, repeat</a:t>
            </a:r>
            <a:endParaRPr lang="en-US" sz="939" b="0" u="none" strike="noStrike">
              <a:solidFill>
                <a:srgbClr val="FFFFFF"/>
              </a:solidFill>
              <a:effectLst/>
              <a:uFillTx/>
              <a:latin typeface="Arial"/>
            </a:endParaRPr>
          </a:p>
        </p:txBody>
      </p:sp>
      <p:sp>
        <p:nvSpPr>
          <p:cNvPr id="119" name="Shape 31"/>
          <p:cNvSpPr/>
          <p:nvPr/>
        </p:nvSpPr>
        <p:spPr>
          <a:xfrm>
            <a:off x="914400" y="4160520"/>
            <a:ext cx="10286640" cy="1051200"/>
          </a:xfrm>
          <a:prstGeom prst="roundRect">
            <a:avLst>
              <a:gd name="adj" fmla="val 6957"/>
            </a:avLst>
          </a:prstGeom>
          <a:solidFill>
            <a:srgbClr val="0E1B2B"/>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20" name="Text 32"/>
          <p:cNvSpPr/>
          <p:nvPr/>
        </p:nvSpPr>
        <p:spPr>
          <a:xfrm>
            <a:off x="1152000" y="4443840"/>
            <a:ext cx="98020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0" u="none" strike="noStrike">
                <a:solidFill>
                  <a:srgbClr val="F5F8FC"/>
                </a:solidFill>
                <a:effectLst/>
                <a:uFillTx/>
                <a:latin typeface="Aptos"/>
              </a:rPr>
              <a:t>Important: “predicting the next token” does not mean “simple autocomplete.” The learned transformer has billions of parameters and can encode rich statistical structure — but generation is still probabilistic, not a database lookup.</a:t>
            </a:r>
            <a:endParaRPr lang="en-US" sz="1300" b="0" u="none" strike="noStrike">
              <a:solidFill>
                <a:srgbClr val="FFFFFF"/>
              </a:solidFill>
              <a:effectLst/>
              <a:uFillTx/>
              <a:latin typeface="Arial"/>
            </a:endParaRPr>
          </a:p>
        </p:txBody>
      </p:sp>
      <p:sp>
        <p:nvSpPr>
          <p:cNvPr id="121" name="Text 33">
            <a:hlinkClick r:id="rId3"/>
          </p:cNvPr>
          <p:cNvSpPr/>
          <p:nvPr/>
        </p:nvSpPr>
        <p:spPr>
          <a:xfrm>
            <a:off x="521280" y="6190560"/>
            <a:ext cx="3017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Vaswani et al., Attention Is All You Need</a:t>
            </a:r>
            <a:endParaRPr lang="en-US" sz="720" b="0" u="none" strike="noStrike">
              <a:solidFill>
                <a:srgbClr val="FFFFFF"/>
              </a:solidFill>
              <a:effectLst/>
              <a:uFillTx/>
              <a:latin typeface="Arial"/>
            </a:endParaRPr>
          </a:p>
        </p:txBody>
      </p:sp>
      <p:sp>
        <p:nvSpPr>
          <p:cNvPr id="122" name="Text 34">
            <a:hlinkClick r:id="rId4"/>
          </p:cNvPr>
          <p:cNvSpPr/>
          <p:nvPr/>
        </p:nvSpPr>
        <p:spPr>
          <a:xfrm>
            <a:off x="3538800" y="6190560"/>
            <a:ext cx="1608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OpenAI tokenization</a:t>
            </a:r>
            <a:endParaRPr lang="en-US" sz="720" b="0" u="none" strike="noStrike">
              <a:solidFill>
                <a:srgbClr val="FFFFFF"/>
              </a:solidFill>
              <a:effectLst/>
              <a:uFillTx/>
              <a:latin typeface="Arial"/>
            </a:endParaRPr>
          </a:p>
        </p:txBody>
      </p:sp>
      <p:sp>
        <p:nvSpPr>
          <p:cNvPr id="123" name="PlaceHolder 1"/>
          <p:cNvSpPr>
            <a:spLocks noGrp="1"/>
          </p:cNvSpPr>
          <p:nvPr>
            <p:ph type="sldNum" idx="8"/>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8EF95F55-F833-41F9-83F6-94C5D93D0FBF}" type="slidenum">
              <a:rPr lang="en-US" sz="750" b="0" u="none" strike="noStrike">
                <a:solidFill>
                  <a:srgbClr val="73809A"/>
                </a:solidFill>
                <a:effectLst/>
                <a:uFillTx/>
                <a:latin typeface="Aptos"/>
                <a:ea typeface="Aptos"/>
              </a:rPr>
              <a:t>4</a:t>
            </a:fld>
            <a:endParaRPr lang="en-US" sz="750" b="0" u="none" strike="noStrike">
              <a:solidFill>
                <a:srgbClr val="FFFFFF"/>
              </a:solidFill>
              <a:effectLst/>
              <a:uFillTx/>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dirty="0">
                <a:solidFill>
                  <a:srgbClr val="F5F8FC"/>
                </a:solidFill>
                <a:effectLst/>
                <a:uFillTx/>
                <a:latin typeface="Aptos Display"/>
                <a:ea typeface="Aptos Display"/>
              </a:rPr>
              <a:t>Tokens: the unit the model actually sees</a:t>
            </a:r>
            <a:endParaRPr lang="en-US" sz="2600" b="0" u="none" strike="noStrike" dirty="0">
              <a:solidFill>
                <a:srgbClr val="FFFFFF"/>
              </a:solidFill>
              <a:effectLst/>
              <a:uFillTx/>
              <a:latin typeface="Arial"/>
            </a:endParaRPr>
          </a:p>
        </p:txBody>
      </p:sp>
      <p:sp>
        <p:nvSpPr>
          <p:cNvPr id="125"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A token can be a word, part of a word, punctuation, whitespace, or another learned text chunk.</a:t>
            </a:r>
            <a:endParaRPr lang="en-US" sz="1150" b="0" u="none" strike="noStrike">
              <a:solidFill>
                <a:srgbClr val="FFFFFF"/>
              </a:solidFill>
              <a:effectLst/>
              <a:uFillTx/>
              <a:latin typeface="Arial"/>
            </a:endParaRPr>
          </a:p>
        </p:txBody>
      </p:sp>
      <p:sp>
        <p:nvSpPr>
          <p:cNvPr id="126" name="Text 2"/>
          <p:cNvSpPr/>
          <p:nvPr/>
        </p:nvSpPr>
        <p:spPr>
          <a:xfrm>
            <a:off x="658440" y="1225440"/>
            <a:ext cx="2559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spc="150">
                <a:solidFill>
                  <a:srgbClr val="40E0A1"/>
                </a:solidFill>
                <a:effectLst/>
                <a:uFillTx/>
                <a:latin typeface="Aptos"/>
              </a:rPr>
              <a:t>EXAMPLE — CONCEPTUAL ONLY</a:t>
            </a:r>
            <a:endParaRPr lang="en-US" sz="850" b="0" u="none" strike="noStrike">
              <a:solidFill>
                <a:srgbClr val="FFFFFF"/>
              </a:solidFill>
              <a:effectLst/>
              <a:uFillTx/>
              <a:latin typeface="Arial"/>
            </a:endParaRPr>
          </a:p>
        </p:txBody>
      </p:sp>
      <p:sp>
        <p:nvSpPr>
          <p:cNvPr id="127" name="Shape 3"/>
          <p:cNvSpPr/>
          <p:nvPr/>
        </p:nvSpPr>
        <p:spPr>
          <a:xfrm>
            <a:off x="685800" y="1600200"/>
            <a:ext cx="658080" cy="520920"/>
          </a:xfrm>
          <a:prstGeom prst="roundRect">
            <a:avLst>
              <a:gd name="adj" fmla="val 8772"/>
            </a:avLst>
          </a:prstGeom>
          <a:solidFill>
            <a:srgbClr val="33D6FF">
              <a:alpha val="18000"/>
            </a:srgbClr>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28" name="Text 4"/>
          <p:cNvSpPr/>
          <p:nvPr/>
        </p:nvSpPr>
        <p:spPr>
          <a:xfrm>
            <a:off x="722520" y="1764720"/>
            <a:ext cx="585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The</a:t>
            </a:r>
            <a:endParaRPr lang="en-US" sz="1100" b="0" u="none" strike="noStrike">
              <a:solidFill>
                <a:srgbClr val="FFFFFF"/>
              </a:solidFill>
              <a:effectLst/>
              <a:uFillTx/>
              <a:latin typeface="Arial"/>
            </a:endParaRPr>
          </a:p>
        </p:txBody>
      </p:sp>
      <p:sp>
        <p:nvSpPr>
          <p:cNvPr id="129" name="Shape 5"/>
          <p:cNvSpPr/>
          <p:nvPr/>
        </p:nvSpPr>
        <p:spPr>
          <a:xfrm>
            <a:off x="1417320" y="1600200"/>
            <a:ext cx="932400" cy="520920"/>
          </a:xfrm>
          <a:prstGeom prst="roundRect">
            <a:avLst>
              <a:gd name="adj" fmla="val 8772"/>
            </a:avLst>
          </a:prstGeom>
          <a:solidFill>
            <a:srgbClr val="40E0A1">
              <a:alpha val="18000"/>
            </a:srgbClr>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0" name="Text 6"/>
          <p:cNvSpPr/>
          <p:nvPr/>
        </p:nvSpPr>
        <p:spPr>
          <a:xfrm>
            <a:off x="1454040" y="1764720"/>
            <a:ext cx="8593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 maker</a:t>
            </a:r>
            <a:endParaRPr lang="en-US" sz="1100" b="0" u="none" strike="noStrike">
              <a:solidFill>
                <a:srgbClr val="FFFFFF"/>
              </a:solidFill>
              <a:effectLst/>
              <a:uFillTx/>
              <a:latin typeface="Arial"/>
            </a:endParaRPr>
          </a:p>
        </p:txBody>
      </p:sp>
      <p:sp>
        <p:nvSpPr>
          <p:cNvPr id="131" name="Shape 7"/>
          <p:cNvSpPr/>
          <p:nvPr/>
        </p:nvSpPr>
        <p:spPr>
          <a:xfrm>
            <a:off x="2423160" y="1600200"/>
            <a:ext cx="840960" cy="520920"/>
          </a:xfrm>
          <a:prstGeom prst="roundRect">
            <a:avLst>
              <a:gd name="adj" fmla="val 8772"/>
            </a:avLst>
          </a:prstGeom>
          <a:solidFill>
            <a:srgbClr val="A78BFA">
              <a:alpha val="18000"/>
            </a:srgbClr>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2" name="Text 8"/>
          <p:cNvSpPr/>
          <p:nvPr/>
        </p:nvSpPr>
        <p:spPr>
          <a:xfrm>
            <a:off x="2459880" y="1764720"/>
            <a:ext cx="76788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space</a:t>
            </a:r>
            <a:endParaRPr lang="en-US" sz="1100" b="0" u="none" strike="noStrike">
              <a:solidFill>
                <a:srgbClr val="FFFFFF"/>
              </a:solidFill>
              <a:effectLst/>
              <a:uFillTx/>
              <a:latin typeface="Arial"/>
            </a:endParaRPr>
          </a:p>
        </p:txBody>
      </p:sp>
      <p:sp>
        <p:nvSpPr>
          <p:cNvPr id="133" name="Shape 9"/>
          <p:cNvSpPr/>
          <p:nvPr/>
        </p:nvSpPr>
        <p:spPr>
          <a:xfrm>
            <a:off x="3337560" y="1600200"/>
            <a:ext cx="749520" cy="520920"/>
          </a:xfrm>
          <a:prstGeom prst="roundRect">
            <a:avLst>
              <a:gd name="adj" fmla="val 8772"/>
            </a:avLst>
          </a:prstGeom>
          <a:solidFill>
            <a:srgbClr val="FFC857">
              <a:alpha val="18000"/>
            </a:srgbClr>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4" name="Text 10"/>
          <p:cNvSpPr/>
          <p:nvPr/>
        </p:nvSpPr>
        <p:spPr>
          <a:xfrm>
            <a:off x="3374280" y="1764720"/>
            <a:ext cx="6764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 has</a:t>
            </a:r>
            <a:endParaRPr lang="en-US" sz="1100" b="0" u="none" strike="noStrike">
              <a:solidFill>
                <a:srgbClr val="FFFFFF"/>
              </a:solidFill>
              <a:effectLst/>
              <a:uFillTx/>
              <a:latin typeface="Arial"/>
            </a:endParaRPr>
          </a:p>
        </p:txBody>
      </p:sp>
      <p:sp>
        <p:nvSpPr>
          <p:cNvPr id="135" name="Shape 11"/>
          <p:cNvSpPr/>
          <p:nvPr/>
        </p:nvSpPr>
        <p:spPr>
          <a:xfrm>
            <a:off x="4160520" y="1600200"/>
            <a:ext cx="566640" cy="520920"/>
          </a:xfrm>
          <a:prstGeom prst="roundRect">
            <a:avLst>
              <a:gd name="adj" fmla="val 8772"/>
            </a:avLst>
          </a:prstGeom>
          <a:solidFill>
            <a:srgbClr val="FF6B6B">
              <a:alpha val="18000"/>
            </a:srgbClr>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36" name="Text 12"/>
          <p:cNvSpPr/>
          <p:nvPr/>
        </p:nvSpPr>
        <p:spPr>
          <a:xfrm>
            <a:off x="4197240" y="1764720"/>
            <a:ext cx="4935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 a</a:t>
            </a:r>
            <a:endParaRPr lang="en-US" sz="1100" b="0" u="none" strike="noStrike">
              <a:solidFill>
                <a:srgbClr val="FFFFFF"/>
              </a:solidFill>
              <a:effectLst/>
              <a:uFillTx/>
              <a:latin typeface="Arial"/>
            </a:endParaRPr>
          </a:p>
        </p:txBody>
      </p:sp>
      <p:sp>
        <p:nvSpPr>
          <p:cNvPr id="137" name="Shape 13"/>
          <p:cNvSpPr/>
          <p:nvPr/>
        </p:nvSpPr>
        <p:spPr>
          <a:xfrm>
            <a:off x="4800600" y="1600200"/>
            <a:ext cx="658080" cy="520920"/>
          </a:xfrm>
          <a:prstGeom prst="roundRect">
            <a:avLst>
              <a:gd name="adj" fmla="val 8772"/>
            </a:avLst>
          </a:prstGeom>
          <a:solidFill>
            <a:srgbClr val="33D6FF">
              <a:alpha val="18000"/>
            </a:srgbClr>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38" name="Text 14"/>
          <p:cNvSpPr/>
          <p:nvPr/>
        </p:nvSpPr>
        <p:spPr>
          <a:xfrm>
            <a:off x="4837320" y="1764720"/>
            <a:ext cx="585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 3D</a:t>
            </a:r>
            <a:endParaRPr lang="en-US" sz="1100" b="0" u="none" strike="noStrike">
              <a:solidFill>
                <a:srgbClr val="FFFFFF"/>
              </a:solidFill>
              <a:effectLst/>
              <a:uFillTx/>
              <a:latin typeface="Arial"/>
            </a:endParaRPr>
          </a:p>
        </p:txBody>
      </p:sp>
      <p:sp>
        <p:nvSpPr>
          <p:cNvPr id="139" name="Shape 15"/>
          <p:cNvSpPr/>
          <p:nvPr/>
        </p:nvSpPr>
        <p:spPr>
          <a:xfrm>
            <a:off x="5532120" y="1600200"/>
            <a:ext cx="1115280" cy="520920"/>
          </a:xfrm>
          <a:prstGeom prst="roundRect">
            <a:avLst>
              <a:gd name="adj" fmla="val 8772"/>
            </a:avLst>
          </a:prstGeom>
          <a:solidFill>
            <a:srgbClr val="40E0A1">
              <a:alpha val="18000"/>
            </a:srgbClr>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0" name="Text 16"/>
          <p:cNvSpPr/>
          <p:nvPr/>
        </p:nvSpPr>
        <p:spPr>
          <a:xfrm>
            <a:off x="5568840" y="1764720"/>
            <a:ext cx="10422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 printer</a:t>
            </a:r>
            <a:endParaRPr lang="en-US" sz="1100" b="0" u="none" strike="noStrike">
              <a:solidFill>
                <a:srgbClr val="FFFFFF"/>
              </a:solidFill>
              <a:effectLst/>
              <a:uFillTx/>
              <a:latin typeface="Arial"/>
            </a:endParaRPr>
          </a:p>
        </p:txBody>
      </p:sp>
      <p:sp>
        <p:nvSpPr>
          <p:cNvPr id="141" name="Shape 17"/>
          <p:cNvSpPr/>
          <p:nvPr/>
        </p:nvSpPr>
        <p:spPr>
          <a:xfrm>
            <a:off x="6720840" y="1600200"/>
            <a:ext cx="475200" cy="520920"/>
          </a:xfrm>
          <a:prstGeom prst="roundRect">
            <a:avLst>
              <a:gd name="adj" fmla="val 9615"/>
            </a:avLst>
          </a:prstGeom>
          <a:solidFill>
            <a:srgbClr val="A78BFA">
              <a:alpha val="18000"/>
            </a:srgbClr>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2" name="Text 18"/>
          <p:cNvSpPr/>
          <p:nvPr/>
        </p:nvSpPr>
        <p:spPr>
          <a:xfrm>
            <a:off x="6757560" y="1764720"/>
            <a:ext cx="40212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00" b="1" u="none" strike="noStrike">
                <a:solidFill>
                  <a:srgbClr val="F5F8FC"/>
                </a:solidFill>
                <a:effectLst/>
                <a:uFillTx/>
                <a:latin typeface="Aptos"/>
              </a:rPr>
              <a:t>.</a:t>
            </a:r>
            <a:endParaRPr lang="en-US" sz="1100" b="0" u="none" strike="noStrike">
              <a:solidFill>
                <a:srgbClr val="FFFFFF"/>
              </a:solidFill>
              <a:effectLst/>
              <a:uFillTx/>
              <a:latin typeface="Arial"/>
            </a:endParaRPr>
          </a:p>
        </p:txBody>
      </p:sp>
      <p:sp>
        <p:nvSpPr>
          <p:cNvPr id="143" name="Shape 19"/>
          <p:cNvSpPr/>
          <p:nvPr/>
        </p:nvSpPr>
        <p:spPr>
          <a:xfrm>
            <a:off x="667440" y="2532960"/>
            <a:ext cx="3401280" cy="2057040"/>
          </a:xfrm>
          <a:prstGeom prst="roundRect">
            <a:avLst>
              <a:gd name="adj" fmla="val 35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4" name="Shape 20"/>
          <p:cNvSpPr/>
          <p:nvPr/>
        </p:nvSpPr>
        <p:spPr>
          <a:xfrm>
            <a:off x="667440" y="2532960"/>
            <a:ext cx="54360" cy="205704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5" name="Text 21"/>
          <p:cNvSpPr/>
          <p:nvPr/>
        </p:nvSpPr>
        <p:spPr>
          <a:xfrm>
            <a:off x="868680" y="269748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Tokens affect cost</a:t>
            </a:r>
            <a:endParaRPr lang="en-US" sz="1600" b="0" u="none" strike="noStrike">
              <a:solidFill>
                <a:srgbClr val="FFFFFF"/>
              </a:solidFill>
              <a:effectLst/>
              <a:uFillTx/>
              <a:latin typeface="Arial"/>
            </a:endParaRPr>
          </a:p>
        </p:txBody>
      </p:sp>
      <p:sp>
        <p:nvSpPr>
          <p:cNvPr id="146" name="Text 22"/>
          <p:cNvSpPr/>
          <p:nvPr/>
        </p:nvSpPr>
        <p:spPr>
          <a:xfrm>
            <a:off x="868680" y="3035880"/>
            <a:ext cx="3053880" cy="1398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00" b="0" u="none" strike="noStrike">
                <a:solidFill>
                  <a:srgbClr val="AAB5C8"/>
                </a:solidFill>
                <a:effectLst/>
                <a:uFillTx/>
                <a:latin typeface="Aptos"/>
              </a:rPr>
              <a:t>Cloud APIs commonly meter input and output in tokens. More context and longer answers generally mean more usage.</a:t>
            </a:r>
            <a:endParaRPr lang="en-US" sz="1200" b="0" u="none" strike="noStrike">
              <a:solidFill>
                <a:srgbClr val="FFFFFF"/>
              </a:solidFill>
              <a:effectLst/>
              <a:uFillTx/>
              <a:latin typeface="Arial"/>
            </a:endParaRPr>
          </a:p>
        </p:txBody>
      </p:sp>
      <p:sp>
        <p:nvSpPr>
          <p:cNvPr id="147" name="Shape 23"/>
          <p:cNvSpPr/>
          <p:nvPr/>
        </p:nvSpPr>
        <p:spPr>
          <a:xfrm>
            <a:off x="4389120" y="2532960"/>
            <a:ext cx="3401280" cy="2057040"/>
          </a:xfrm>
          <a:prstGeom prst="roundRect">
            <a:avLst>
              <a:gd name="adj" fmla="val 35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48" name="Shape 24"/>
          <p:cNvSpPr/>
          <p:nvPr/>
        </p:nvSpPr>
        <p:spPr>
          <a:xfrm>
            <a:off x="4389120" y="2532960"/>
            <a:ext cx="54360" cy="205704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49" name="Text 25"/>
          <p:cNvSpPr/>
          <p:nvPr/>
        </p:nvSpPr>
        <p:spPr>
          <a:xfrm>
            <a:off x="4590360" y="269748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Tokens affect capacity</a:t>
            </a:r>
            <a:endParaRPr lang="en-US" sz="1600" b="0" u="none" strike="noStrike">
              <a:solidFill>
                <a:srgbClr val="FFFFFF"/>
              </a:solidFill>
              <a:effectLst/>
              <a:uFillTx/>
              <a:latin typeface="Arial"/>
            </a:endParaRPr>
          </a:p>
        </p:txBody>
      </p:sp>
      <p:sp>
        <p:nvSpPr>
          <p:cNvPr id="150" name="Text 26"/>
          <p:cNvSpPr/>
          <p:nvPr/>
        </p:nvSpPr>
        <p:spPr>
          <a:xfrm>
            <a:off x="4590360" y="3035880"/>
            <a:ext cx="3053880" cy="1398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00" b="0" u="none" strike="noStrike">
                <a:solidFill>
                  <a:srgbClr val="AAB5C8"/>
                </a:solidFill>
                <a:effectLst/>
                <a:uFillTx/>
                <a:latin typeface="Aptos"/>
              </a:rPr>
              <a:t>A context window is measured in tokens. Once the usable window is full, content must be dropped, summarized, retrieved, or otherwise managed.</a:t>
            </a:r>
            <a:endParaRPr lang="en-US" sz="1200" b="0" u="none" strike="noStrike">
              <a:solidFill>
                <a:srgbClr val="FFFFFF"/>
              </a:solidFill>
              <a:effectLst/>
              <a:uFillTx/>
              <a:latin typeface="Arial"/>
            </a:endParaRPr>
          </a:p>
        </p:txBody>
      </p:sp>
      <p:sp>
        <p:nvSpPr>
          <p:cNvPr id="151" name="Shape 27"/>
          <p:cNvSpPr/>
          <p:nvPr/>
        </p:nvSpPr>
        <p:spPr>
          <a:xfrm>
            <a:off x="8110800" y="2532960"/>
            <a:ext cx="3401280" cy="2057040"/>
          </a:xfrm>
          <a:prstGeom prst="roundRect">
            <a:avLst>
              <a:gd name="adj" fmla="val 35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52" name="Shape 28"/>
          <p:cNvSpPr/>
          <p:nvPr/>
        </p:nvSpPr>
        <p:spPr>
          <a:xfrm>
            <a:off x="8110800" y="2532960"/>
            <a:ext cx="54360" cy="205704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53" name="Text 29"/>
          <p:cNvSpPr/>
          <p:nvPr/>
        </p:nvSpPr>
        <p:spPr>
          <a:xfrm>
            <a:off x="8312040" y="269748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Tokens ≠ words</a:t>
            </a:r>
            <a:endParaRPr lang="en-US" sz="1600" b="0" u="none" strike="noStrike">
              <a:solidFill>
                <a:srgbClr val="FFFFFF"/>
              </a:solidFill>
              <a:effectLst/>
              <a:uFillTx/>
              <a:latin typeface="Arial"/>
            </a:endParaRPr>
          </a:p>
        </p:txBody>
      </p:sp>
      <p:sp>
        <p:nvSpPr>
          <p:cNvPr id="154" name="Text 30"/>
          <p:cNvSpPr/>
          <p:nvPr/>
        </p:nvSpPr>
        <p:spPr>
          <a:xfrm>
            <a:off x="8312040" y="3035880"/>
            <a:ext cx="3053880" cy="13986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200" b="0" u="none" strike="noStrike">
                <a:solidFill>
                  <a:srgbClr val="AAB5C8"/>
                </a:solidFill>
                <a:effectLst/>
                <a:uFillTx/>
                <a:latin typeface="Aptos"/>
              </a:rPr>
              <a:t>Tokenization differs by model and language. Never assume “1 token = 1 word.” Use the model’s tokenizer or token-count API.</a:t>
            </a:r>
            <a:endParaRPr lang="en-US" sz="1200" b="0" u="none" strike="noStrike">
              <a:solidFill>
                <a:srgbClr val="FFFFFF"/>
              </a:solidFill>
              <a:effectLst/>
              <a:uFillTx/>
              <a:latin typeface="Arial"/>
            </a:endParaRPr>
          </a:p>
        </p:txBody>
      </p:sp>
      <p:sp>
        <p:nvSpPr>
          <p:cNvPr id="155" name="Text 31"/>
          <p:cNvSpPr/>
          <p:nvPr/>
        </p:nvSpPr>
        <p:spPr>
          <a:xfrm>
            <a:off x="685800" y="4965120"/>
            <a:ext cx="1083528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00" b="1" u="none" strike="noStrike">
                <a:solidFill>
                  <a:srgbClr val="F5F8FC"/>
                </a:solidFill>
                <a:effectLst/>
                <a:uFillTx/>
                <a:latin typeface="Aptos"/>
              </a:rPr>
              <a:t>OpenAI’s rule of thumb for English: ~1 token ≈ 4 characters or ~¾ of a word — useful for estimating, not for exact counts.</a:t>
            </a:r>
            <a:endParaRPr lang="en-US" sz="1300" b="0" u="none" strike="noStrike">
              <a:solidFill>
                <a:srgbClr val="FFFFFF"/>
              </a:solidFill>
              <a:effectLst/>
              <a:uFillTx/>
              <a:latin typeface="Arial"/>
            </a:endParaRPr>
          </a:p>
        </p:txBody>
      </p:sp>
      <p:sp>
        <p:nvSpPr>
          <p:cNvPr id="156" name="Text 32">
            <a:hlinkClick r:id="rId3"/>
          </p:cNvPr>
          <p:cNvSpPr/>
          <p:nvPr/>
        </p:nvSpPr>
        <p:spPr>
          <a:xfrm>
            <a:off x="521280" y="6190560"/>
            <a:ext cx="21621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OpenAI: What are tokens?</a:t>
            </a:r>
            <a:endParaRPr lang="en-US" sz="720" b="0" u="none" strike="noStrike">
              <a:solidFill>
                <a:srgbClr val="FFFFFF"/>
              </a:solidFill>
              <a:effectLst/>
              <a:uFillTx/>
              <a:latin typeface="Arial"/>
            </a:endParaRPr>
          </a:p>
        </p:txBody>
      </p:sp>
      <p:sp>
        <p:nvSpPr>
          <p:cNvPr id="157" name="Text 33">
            <a:hlinkClick r:id="rId4"/>
          </p:cNvPr>
          <p:cNvSpPr/>
          <p:nvPr/>
        </p:nvSpPr>
        <p:spPr>
          <a:xfrm>
            <a:off x="2702520" y="6190560"/>
            <a:ext cx="1458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dirty="0">
                <a:solidFill>
                  <a:srgbClr val="33D6FF"/>
                </a:solidFill>
                <a:effectLst/>
                <a:uFillTx/>
                <a:latin typeface="Aptos"/>
                <a:hlinkClick r:id="rId4"/>
              </a:rPr>
              <a:t> • OpenAI tokenizer</a:t>
            </a:r>
            <a:endParaRPr lang="en-US" sz="720" b="0" u="none" strike="noStrike" dirty="0">
              <a:solidFill>
                <a:srgbClr val="FFFFFF"/>
              </a:solidFill>
              <a:effectLst/>
              <a:uFillTx/>
              <a:latin typeface="Arial"/>
            </a:endParaRPr>
          </a:p>
        </p:txBody>
      </p:sp>
      <p:sp>
        <p:nvSpPr>
          <p:cNvPr id="158" name="PlaceHolder 1"/>
          <p:cNvSpPr>
            <a:spLocks noGrp="1"/>
          </p:cNvSpPr>
          <p:nvPr>
            <p:ph type="sldNum" idx="9"/>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AB5F190C-F08A-4A9A-8F16-D986BB516E68}" type="slidenum">
              <a:rPr lang="en-US" sz="750" b="0" u="none" strike="noStrike">
                <a:solidFill>
                  <a:srgbClr val="73809A"/>
                </a:solidFill>
                <a:effectLst/>
                <a:uFillTx/>
                <a:latin typeface="Aptos"/>
                <a:ea typeface="Aptos"/>
              </a:rPr>
              <a:t>5</a:t>
            </a:fld>
            <a:endParaRPr lang="en-US" sz="750" b="0" u="none" strike="noStrike">
              <a:solidFill>
                <a:srgbClr val="FFFFFF"/>
              </a:solidFill>
              <a:effectLst/>
              <a:uFillTx/>
              <a:latin typeface="Times New Roman"/>
            </a:endParaRPr>
          </a:p>
        </p:txBody>
      </p:sp>
      <p:sp>
        <p:nvSpPr>
          <p:cNvPr id="5" name="Text 33">
            <a:hlinkClick r:id="rId4"/>
            <a:extLst>
              <a:ext uri="{FF2B5EF4-FFF2-40B4-BE49-F238E27FC236}">
                <a16:creationId xmlns:a16="http://schemas.microsoft.com/office/drawing/2014/main" id="{4C538906-DF3C-C367-E766-387427727CCD}"/>
              </a:ext>
            </a:extLst>
          </p:cNvPr>
          <p:cNvSpPr/>
          <p:nvPr/>
        </p:nvSpPr>
        <p:spPr>
          <a:xfrm>
            <a:off x="3998160" y="6190560"/>
            <a:ext cx="1458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none" strike="noStrike" dirty="0">
                <a:solidFill>
                  <a:srgbClr val="FFFFFF"/>
                </a:solidFill>
                <a:effectLst/>
                <a:uFillTx/>
                <a:latin typeface="Arial"/>
                <a:hlinkClick r:id="rId5"/>
              </a:rPr>
              <a:t>Token-Calculator</a:t>
            </a:r>
            <a:endParaRPr lang="en-US" sz="720" b="0" u="none" strike="noStrike" dirty="0">
              <a:solidFill>
                <a:srgbClr val="FFFFFF"/>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Context is working memory — not perfect memory</a:t>
            </a:r>
            <a:endParaRPr lang="en-US" sz="2600" b="0" u="none" strike="noStrike">
              <a:solidFill>
                <a:srgbClr val="FFFFFF"/>
              </a:solidFill>
              <a:effectLst/>
              <a:uFillTx/>
              <a:latin typeface="Arial"/>
            </a:endParaRPr>
          </a:p>
        </p:txBody>
      </p:sp>
      <p:sp>
        <p:nvSpPr>
          <p:cNvPr id="160"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The model can only act on information that reaches its current context or tools.</a:t>
            </a:r>
            <a:endParaRPr lang="en-US" sz="1150" b="0" u="none" strike="noStrike">
              <a:solidFill>
                <a:srgbClr val="FFFFFF"/>
              </a:solidFill>
              <a:effectLst/>
              <a:uFillTx/>
              <a:latin typeface="Arial"/>
            </a:endParaRPr>
          </a:p>
        </p:txBody>
      </p:sp>
      <p:sp>
        <p:nvSpPr>
          <p:cNvPr id="161" name="Shape 2"/>
          <p:cNvSpPr/>
          <p:nvPr/>
        </p:nvSpPr>
        <p:spPr>
          <a:xfrm>
            <a:off x="685800" y="1325880"/>
            <a:ext cx="10816920" cy="959760"/>
          </a:xfrm>
          <a:prstGeom prst="roundRect">
            <a:avLst>
              <a:gd name="adj" fmla="val 761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2" name="Shape 3"/>
          <p:cNvSpPr/>
          <p:nvPr/>
        </p:nvSpPr>
        <p:spPr>
          <a:xfrm>
            <a:off x="868680" y="1572840"/>
            <a:ext cx="1691280" cy="456840"/>
          </a:xfrm>
          <a:prstGeom prst="roundRect">
            <a:avLst>
              <a:gd name="adj" fmla="val 8000"/>
            </a:avLst>
          </a:prstGeom>
          <a:solidFill>
            <a:srgbClr val="A78BFA">
              <a:alpha val="28000"/>
            </a:srgbClr>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63" name="Text 4"/>
          <p:cNvSpPr/>
          <p:nvPr/>
        </p:nvSpPr>
        <p:spPr>
          <a:xfrm>
            <a:off x="905400" y="1719000"/>
            <a:ext cx="16182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1" u="none" strike="noStrike">
                <a:solidFill>
                  <a:srgbClr val="F5F8FC"/>
                </a:solidFill>
                <a:effectLst/>
                <a:uFillTx/>
                <a:latin typeface="Aptos"/>
              </a:rPr>
              <a:t>System / rules</a:t>
            </a:r>
            <a:endParaRPr lang="en-US" sz="850" b="0" u="none" strike="noStrike">
              <a:solidFill>
                <a:srgbClr val="FFFFFF"/>
              </a:solidFill>
              <a:effectLst/>
              <a:uFillTx/>
              <a:latin typeface="Arial"/>
            </a:endParaRPr>
          </a:p>
        </p:txBody>
      </p:sp>
      <p:sp>
        <p:nvSpPr>
          <p:cNvPr id="164" name="Shape 5"/>
          <p:cNvSpPr/>
          <p:nvPr/>
        </p:nvSpPr>
        <p:spPr>
          <a:xfrm>
            <a:off x="2615040" y="1572840"/>
            <a:ext cx="1416960" cy="456840"/>
          </a:xfrm>
          <a:prstGeom prst="roundRect">
            <a:avLst>
              <a:gd name="adj" fmla="val 8000"/>
            </a:avLst>
          </a:prstGeom>
          <a:solidFill>
            <a:srgbClr val="33D6FF">
              <a:alpha val="28000"/>
            </a:srgbClr>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5" name="Text 6"/>
          <p:cNvSpPr/>
          <p:nvPr/>
        </p:nvSpPr>
        <p:spPr>
          <a:xfrm>
            <a:off x="2651760" y="1719000"/>
            <a:ext cx="134388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1" u="none" strike="noStrike">
                <a:solidFill>
                  <a:srgbClr val="F5F8FC"/>
                </a:solidFill>
                <a:effectLst/>
                <a:uFillTx/>
                <a:latin typeface="Aptos"/>
              </a:rPr>
              <a:t>Your prompt</a:t>
            </a:r>
            <a:endParaRPr lang="en-US" sz="850" b="0" u="none" strike="noStrike">
              <a:solidFill>
                <a:srgbClr val="FFFFFF"/>
              </a:solidFill>
              <a:effectLst/>
              <a:uFillTx/>
              <a:latin typeface="Arial"/>
            </a:endParaRPr>
          </a:p>
        </p:txBody>
      </p:sp>
      <p:sp>
        <p:nvSpPr>
          <p:cNvPr id="166" name="Shape 7"/>
          <p:cNvSpPr/>
          <p:nvPr/>
        </p:nvSpPr>
        <p:spPr>
          <a:xfrm>
            <a:off x="4087440" y="1572840"/>
            <a:ext cx="1828440" cy="456840"/>
          </a:xfrm>
          <a:prstGeom prst="roundRect">
            <a:avLst>
              <a:gd name="adj" fmla="val 8000"/>
            </a:avLst>
          </a:prstGeom>
          <a:solidFill>
            <a:srgbClr val="40E0A1">
              <a:alpha val="28000"/>
            </a:srgbClr>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7" name="Text 8"/>
          <p:cNvSpPr/>
          <p:nvPr/>
        </p:nvSpPr>
        <p:spPr>
          <a:xfrm>
            <a:off x="4123800" y="1719000"/>
            <a:ext cx="17553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1" u="none" strike="noStrike">
                <a:solidFill>
                  <a:srgbClr val="F5F8FC"/>
                </a:solidFill>
                <a:effectLst/>
                <a:uFillTx/>
                <a:latin typeface="Aptos"/>
              </a:rPr>
              <a:t>Chat history</a:t>
            </a:r>
            <a:endParaRPr lang="en-US" sz="850" b="0" u="none" strike="noStrike">
              <a:solidFill>
                <a:srgbClr val="FFFFFF"/>
              </a:solidFill>
              <a:effectLst/>
              <a:uFillTx/>
              <a:latin typeface="Arial"/>
            </a:endParaRPr>
          </a:p>
        </p:txBody>
      </p:sp>
      <p:sp>
        <p:nvSpPr>
          <p:cNvPr id="168" name="Shape 9"/>
          <p:cNvSpPr/>
          <p:nvPr/>
        </p:nvSpPr>
        <p:spPr>
          <a:xfrm>
            <a:off x="5970960" y="1572840"/>
            <a:ext cx="2194200" cy="456840"/>
          </a:xfrm>
          <a:prstGeom prst="roundRect">
            <a:avLst>
              <a:gd name="adj" fmla="val 8000"/>
            </a:avLst>
          </a:prstGeom>
          <a:solidFill>
            <a:srgbClr val="FFC857">
              <a:alpha val="28000"/>
            </a:srgbClr>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69" name="Text 10"/>
          <p:cNvSpPr/>
          <p:nvPr/>
        </p:nvSpPr>
        <p:spPr>
          <a:xfrm>
            <a:off x="6007680" y="1719000"/>
            <a:ext cx="21211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1" u="none" strike="noStrike">
                <a:solidFill>
                  <a:srgbClr val="F5F8FC"/>
                </a:solidFill>
                <a:effectLst/>
                <a:uFillTx/>
                <a:latin typeface="Aptos"/>
              </a:rPr>
              <a:t>Files / retrieved text</a:t>
            </a:r>
            <a:endParaRPr lang="en-US" sz="850" b="0" u="none" strike="noStrike">
              <a:solidFill>
                <a:srgbClr val="FFFFFF"/>
              </a:solidFill>
              <a:effectLst/>
              <a:uFillTx/>
              <a:latin typeface="Arial"/>
            </a:endParaRPr>
          </a:p>
        </p:txBody>
      </p:sp>
      <p:sp>
        <p:nvSpPr>
          <p:cNvPr id="170" name="Shape 11"/>
          <p:cNvSpPr/>
          <p:nvPr/>
        </p:nvSpPr>
        <p:spPr>
          <a:xfrm>
            <a:off x="8220600" y="1572840"/>
            <a:ext cx="1508400" cy="456840"/>
          </a:xfrm>
          <a:prstGeom prst="roundRect">
            <a:avLst>
              <a:gd name="adj" fmla="val 8000"/>
            </a:avLst>
          </a:prstGeom>
          <a:solidFill>
            <a:srgbClr val="FF6B6B">
              <a:alpha val="28000"/>
            </a:srgbClr>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1" name="Text 12"/>
          <p:cNvSpPr/>
          <p:nvPr/>
        </p:nvSpPr>
        <p:spPr>
          <a:xfrm>
            <a:off x="8256960" y="1719000"/>
            <a:ext cx="14353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1" u="none" strike="noStrike">
                <a:solidFill>
                  <a:srgbClr val="F5F8FC"/>
                </a:solidFill>
                <a:effectLst/>
                <a:uFillTx/>
                <a:latin typeface="Aptos"/>
              </a:rPr>
              <a:t>Tool results</a:t>
            </a:r>
            <a:endParaRPr lang="en-US" sz="850" b="0" u="none" strike="noStrike">
              <a:solidFill>
                <a:srgbClr val="FFFFFF"/>
              </a:solidFill>
              <a:effectLst/>
              <a:uFillTx/>
              <a:latin typeface="Arial"/>
            </a:endParaRPr>
          </a:p>
        </p:txBody>
      </p:sp>
      <p:sp>
        <p:nvSpPr>
          <p:cNvPr id="172" name="Shape 13"/>
          <p:cNvSpPr/>
          <p:nvPr/>
        </p:nvSpPr>
        <p:spPr>
          <a:xfrm>
            <a:off x="9784080" y="1572840"/>
            <a:ext cx="1325520" cy="456840"/>
          </a:xfrm>
          <a:prstGeom prst="roundRect">
            <a:avLst>
              <a:gd name="adj" fmla="val 8000"/>
            </a:avLst>
          </a:prstGeom>
          <a:solidFill>
            <a:srgbClr val="73809A">
              <a:alpha val="28000"/>
            </a:srgbClr>
          </a:solidFill>
          <a:ln w="12700">
            <a:solidFill>
              <a:srgbClr val="73809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3" name="Text 14"/>
          <p:cNvSpPr/>
          <p:nvPr/>
        </p:nvSpPr>
        <p:spPr>
          <a:xfrm>
            <a:off x="9820800" y="1719000"/>
            <a:ext cx="12524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50" b="1" u="none" strike="noStrike">
                <a:solidFill>
                  <a:srgbClr val="F5F8FC"/>
                </a:solidFill>
                <a:effectLst/>
                <a:uFillTx/>
                <a:latin typeface="Aptos"/>
              </a:rPr>
              <a:t>Output room</a:t>
            </a:r>
            <a:endParaRPr lang="en-US" sz="850" b="0" u="none" strike="noStrike">
              <a:solidFill>
                <a:srgbClr val="FFFFFF"/>
              </a:solidFill>
              <a:effectLst/>
              <a:uFillTx/>
              <a:latin typeface="Arial"/>
            </a:endParaRPr>
          </a:p>
        </p:txBody>
      </p:sp>
      <p:sp>
        <p:nvSpPr>
          <p:cNvPr id="174" name="Shape 15"/>
          <p:cNvSpPr/>
          <p:nvPr/>
        </p:nvSpPr>
        <p:spPr>
          <a:xfrm>
            <a:off x="685800" y="2724840"/>
            <a:ext cx="3382920" cy="2285640"/>
          </a:xfrm>
          <a:prstGeom prst="roundRect">
            <a:avLst>
              <a:gd name="adj" fmla="val 32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5" name="Shape 16"/>
          <p:cNvSpPr/>
          <p:nvPr/>
        </p:nvSpPr>
        <p:spPr>
          <a:xfrm>
            <a:off x="685800" y="2724840"/>
            <a:ext cx="54360" cy="228564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76" name="Text 17"/>
          <p:cNvSpPr/>
          <p:nvPr/>
        </p:nvSpPr>
        <p:spPr>
          <a:xfrm>
            <a:off x="887040" y="2889360"/>
            <a:ext cx="30355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Longer is not always better</a:t>
            </a:r>
            <a:endParaRPr lang="en-US" sz="1600" b="0" u="none" strike="noStrike">
              <a:solidFill>
                <a:srgbClr val="FFFFFF"/>
              </a:solidFill>
              <a:effectLst/>
              <a:uFillTx/>
              <a:latin typeface="Arial"/>
            </a:endParaRPr>
          </a:p>
        </p:txBody>
      </p:sp>
      <p:sp>
        <p:nvSpPr>
          <p:cNvPr id="177" name="Text 18"/>
          <p:cNvSpPr/>
          <p:nvPr/>
        </p:nvSpPr>
        <p:spPr>
          <a:xfrm>
            <a:off x="887040" y="3227760"/>
            <a:ext cx="3035520" cy="1627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AAB5C8"/>
                </a:solidFill>
                <a:effectLst/>
                <a:uFillTx/>
                <a:latin typeface="Aptos"/>
              </a:rPr>
              <a:t>Huge context can increase cost and make relevant information harder to locate. Curate the evidence you actually need.</a:t>
            </a:r>
            <a:endParaRPr lang="en-US" sz="1150" b="0" u="none" strike="noStrike">
              <a:solidFill>
                <a:srgbClr val="FFFFFF"/>
              </a:solidFill>
              <a:effectLst/>
              <a:uFillTx/>
              <a:latin typeface="Arial"/>
            </a:endParaRPr>
          </a:p>
        </p:txBody>
      </p:sp>
      <p:sp>
        <p:nvSpPr>
          <p:cNvPr id="178" name="Shape 19"/>
          <p:cNvSpPr/>
          <p:nvPr/>
        </p:nvSpPr>
        <p:spPr>
          <a:xfrm>
            <a:off x="4407480" y="2724840"/>
            <a:ext cx="3382920" cy="2285640"/>
          </a:xfrm>
          <a:prstGeom prst="roundRect">
            <a:avLst>
              <a:gd name="adj" fmla="val 32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79" name="Shape 20"/>
          <p:cNvSpPr/>
          <p:nvPr/>
        </p:nvSpPr>
        <p:spPr>
          <a:xfrm>
            <a:off x="4407480" y="2724840"/>
            <a:ext cx="54360" cy="228564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0" name="Text 21"/>
          <p:cNvSpPr/>
          <p:nvPr/>
        </p:nvSpPr>
        <p:spPr>
          <a:xfrm>
            <a:off x="4608720" y="2889360"/>
            <a:ext cx="30355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RAG retrieves on demand</a:t>
            </a:r>
            <a:endParaRPr lang="en-US" sz="1600" b="0" u="none" strike="noStrike">
              <a:solidFill>
                <a:srgbClr val="FFFFFF"/>
              </a:solidFill>
              <a:effectLst/>
              <a:uFillTx/>
              <a:latin typeface="Arial"/>
            </a:endParaRPr>
          </a:p>
        </p:txBody>
      </p:sp>
      <p:sp>
        <p:nvSpPr>
          <p:cNvPr id="181" name="Text 22"/>
          <p:cNvSpPr/>
          <p:nvPr/>
        </p:nvSpPr>
        <p:spPr>
          <a:xfrm>
            <a:off x="4608720" y="3227760"/>
            <a:ext cx="3035520" cy="1627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AAB5C8"/>
                </a:solidFill>
                <a:effectLst/>
                <a:uFillTx/>
                <a:latin typeface="Aptos"/>
              </a:rPr>
              <a:t>Retrieval-augmented generation searches your documents or knowledge base and inserts relevant chunks into context.</a:t>
            </a:r>
            <a:endParaRPr lang="en-US" sz="1150" b="0" u="none" strike="noStrike">
              <a:solidFill>
                <a:srgbClr val="FFFFFF"/>
              </a:solidFill>
              <a:effectLst/>
              <a:uFillTx/>
              <a:latin typeface="Arial"/>
            </a:endParaRPr>
          </a:p>
        </p:txBody>
      </p:sp>
      <p:sp>
        <p:nvSpPr>
          <p:cNvPr id="182" name="Shape 23"/>
          <p:cNvSpPr/>
          <p:nvPr/>
        </p:nvSpPr>
        <p:spPr>
          <a:xfrm>
            <a:off x="8129160" y="2724840"/>
            <a:ext cx="3382920" cy="2285640"/>
          </a:xfrm>
          <a:prstGeom prst="roundRect">
            <a:avLst>
              <a:gd name="adj" fmla="val 32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183" name="Shape 24"/>
          <p:cNvSpPr/>
          <p:nvPr/>
        </p:nvSpPr>
        <p:spPr>
          <a:xfrm>
            <a:off x="8129160" y="2724840"/>
            <a:ext cx="54360" cy="228564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184" name="Text 25"/>
          <p:cNvSpPr/>
          <p:nvPr/>
        </p:nvSpPr>
        <p:spPr>
          <a:xfrm>
            <a:off x="8330040" y="2889360"/>
            <a:ext cx="30355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“Memory” is a product feature</a:t>
            </a:r>
            <a:endParaRPr lang="en-US" sz="1600" b="0" u="none" strike="noStrike">
              <a:solidFill>
                <a:srgbClr val="FFFFFF"/>
              </a:solidFill>
              <a:effectLst/>
              <a:uFillTx/>
              <a:latin typeface="Arial"/>
            </a:endParaRPr>
          </a:p>
        </p:txBody>
      </p:sp>
      <p:sp>
        <p:nvSpPr>
          <p:cNvPr id="185" name="Text 26"/>
          <p:cNvSpPr/>
          <p:nvPr/>
        </p:nvSpPr>
        <p:spPr>
          <a:xfrm>
            <a:off x="8330040" y="3227760"/>
            <a:ext cx="3035520" cy="1627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AAB5C8"/>
                </a:solidFill>
                <a:effectLst/>
                <a:uFillTx/>
                <a:latin typeface="Aptos"/>
              </a:rPr>
              <a:t>Saved memory, project context, vector stores, and chat history are surrounding systems—not a magical permanent memory inside one model response.</a:t>
            </a:r>
            <a:endParaRPr lang="en-US" sz="1150" b="0" u="none" strike="noStrike">
              <a:solidFill>
                <a:srgbClr val="FFFFFF"/>
              </a:solidFill>
              <a:effectLst/>
              <a:uFillTx/>
              <a:latin typeface="Arial"/>
            </a:endParaRPr>
          </a:p>
        </p:txBody>
      </p:sp>
      <p:sp>
        <p:nvSpPr>
          <p:cNvPr id="186" name="Text 27"/>
          <p:cNvSpPr/>
          <p:nvPr/>
        </p:nvSpPr>
        <p:spPr>
          <a:xfrm>
            <a:off x="914400" y="5321880"/>
            <a:ext cx="103780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350" b="1" u="none" strike="noStrike" dirty="0">
                <a:solidFill>
                  <a:srgbClr val="40E0A1"/>
                </a:solidFill>
                <a:effectLst/>
                <a:uFillTx/>
                <a:latin typeface="Aptos"/>
              </a:rPr>
              <a:t>Maker tip: give the model the exact manual page, error log, schematic photo, or code file you are discussing instead of asking it to guess.</a:t>
            </a:r>
            <a:endParaRPr lang="en-US" sz="1350" b="0" u="none" strike="noStrike" dirty="0">
              <a:solidFill>
                <a:srgbClr val="FFFFFF"/>
              </a:solidFill>
              <a:effectLst/>
              <a:uFillTx/>
              <a:latin typeface="Arial"/>
            </a:endParaRPr>
          </a:p>
        </p:txBody>
      </p:sp>
      <p:sp>
        <p:nvSpPr>
          <p:cNvPr id="187" name="Text 28"/>
          <p:cNvSpPr/>
          <p:nvPr/>
        </p:nvSpPr>
        <p:spPr>
          <a:xfrm>
            <a:off x="521280" y="6199560"/>
            <a:ext cx="110638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1" u="none" strike="noStrike">
                <a:solidFill>
                  <a:srgbClr val="73809A"/>
                </a:solidFill>
                <a:effectLst/>
                <a:uFillTx/>
                <a:latin typeface="Aptos"/>
              </a:rPr>
              <a:t>Source: </a:t>
            </a:r>
            <a:r>
              <a:rPr lang="en-US" sz="750" b="0" u="sng" strike="noStrike">
                <a:solidFill>
                  <a:srgbClr val="33D6FF"/>
                </a:solidFill>
                <a:effectLst/>
                <a:uFillTx/>
                <a:latin typeface="Aptos"/>
                <a:hlinkClick r:id="rId3"/>
              </a:rPr>
              <a:t>OpenAI context/token behavior</a:t>
            </a:r>
            <a:endParaRPr lang="en-US" sz="750" b="0" u="none" strike="noStrike">
              <a:solidFill>
                <a:srgbClr val="FFFFFF"/>
              </a:solidFill>
              <a:effectLst/>
              <a:uFillTx/>
              <a:latin typeface="Arial"/>
            </a:endParaRPr>
          </a:p>
        </p:txBody>
      </p:sp>
      <p:sp>
        <p:nvSpPr>
          <p:cNvPr id="188" name="PlaceHolder 1"/>
          <p:cNvSpPr>
            <a:spLocks noGrp="1"/>
          </p:cNvSpPr>
          <p:nvPr>
            <p:ph type="sldNum" idx="10"/>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5D3C193E-29B8-4A02-9532-5719B1B0EBE0}" type="slidenum">
              <a:rPr lang="en-US" sz="750" b="0" u="none" strike="noStrike">
                <a:solidFill>
                  <a:srgbClr val="73809A"/>
                </a:solidFill>
                <a:effectLst/>
                <a:uFillTx/>
                <a:latin typeface="Aptos"/>
                <a:ea typeface="Aptos"/>
              </a:rPr>
              <a:t>6</a:t>
            </a:fld>
            <a:endParaRPr lang="en-US" sz="750" b="0" u="none" strike="noStrike">
              <a:solidFill>
                <a:srgbClr val="FFFFFF"/>
              </a:solidFill>
              <a:effectLst/>
              <a:uFillTx/>
              <a:latin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Why AI hallucinates — and what to do about it</a:t>
            </a:r>
            <a:endParaRPr lang="en-US" sz="2600" b="0" u="none" strike="noStrike">
              <a:solidFill>
                <a:srgbClr val="FFFFFF"/>
              </a:solidFill>
              <a:effectLst/>
              <a:uFillTx/>
              <a:latin typeface="Arial"/>
            </a:endParaRPr>
          </a:p>
        </p:txBody>
      </p:sp>
      <p:sp>
        <p:nvSpPr>
          <p:cNvPr id="190"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Fluent language is not proof. Confidence and correctness are separate variables.</a:t>
            </a:r>
            <a:endParaRPr lang="en-US" sz="1150" b="0" u="none" strike="noStrike">
              <a:solidFill>
                <a:srgbClr val="FFFFFF"/>
              </a:solidFill>
              <a:effectLst/>
              <a:uFillTx/>
              <a:latin typeface="Arial"/>
            </a:endParaRPr>
          </a:p>
        </p:txBody>
      </p:sp>
      <p:sp>
        <p:nvSpPr>
          <p:cNvPr id="191" name="Text 2"/>
          <p:cNvSpPr/>
          <p:nvPr/>
        </p:nvSpPr>
        <p:spPr>
          <a:xfrm>
            <a:off x="685800" y="1243440"/>
            <a:ext cx="2377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spc="150">
                <a:solidFill>
                  <a:srgbClr val="FF6B6B"/>
                </a:solidFill>
                <a:effectLst/>
                <a:uFillTx/>
                <a:latin typeface="Aptos"/>
              </a:rPr>
              <a:t>WHY ERRORS HAPPEN</a:t>
            </a:r>
            <a:endParaRPr lang="en-US" sz="850" b="0" u="none" strike="noStrike">
              <a:solidFill>
                <a:srgbClr val="FFFFFF"/>
              </a:solidFill>
              <a:effectLst/>
              <a:uFillTx/>
              <a:latin typeface="Arial"/>
            </a:endParaRPr>
          </a:p>
        </p:txBody>
      </p:sp>
      <p:sp>
        <p:nvSpPr>
          <p:cNvPr id="192" name="Shape 3"/>
          <p:cNvSpPr/>
          <p:nvPr/>
        </p:nvSpPr>
        <p:spPr>
          <a:xfrm>
            <a:off x="713160" y="165492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93" name="Text 4"/>
          <p:cNvSpPr/>
          <p:nvPr/>
        </p:nvSpPr>
        <p:spPr>
          <a:xfrm>
            <a:off x="932760" y="1572840"/>
            <a:ext cx="4809240" cy="82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F5F8FC"/>
                </a:solidFill>
                <a:effectLst/>
                <a:uFillTx/>
                <a:latin typeface="Aptos"/>
              </a:rPr>
              <a:t>The model is optimized to produce plausible continuations</a:t>
            </a:r>
            <a:endParaRPr lang="en-US" sz="1300" b="0" u="none" strike="noStrike">
              <a:solidFill>
                <a:srgbClr val="FFFFFF"/>
              </a:solidFill>
              <a:effectLst/>
              <a:uFillTx/>
              <a:latin typeface="Arial"/>
            </a:endParaRPr>
          </a:p>
        </p:txBody>
      </p:sp>
      <p:sp>
        <p:nvSpPr>
          <p:cNvPr id="194" name="Shape 5"/>
          <p:cNvSpPr/>
          <p:nvPr/>
        </p:nvSpPr>
        <p:spPr>
          <a:xfrm>
            <a:off x="713160" y="251244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95" name="Text 6"/>
          <p:cNvSpPr/>
          <p:nvPr/>
        </p:nvSpPr>
        <p:spPr>
          <a:xfrm>
            <a:off x="932760" y="2430000"/>
            <a:ext cx="4809240" cy="82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F5F8FC"/>
                </a:solidFill>
                <a:effectLst/>
                <a:uFillTx/>
                <a:latin typeface="Aptos"/>
              </a:rPr>
              <a:t>Its training data may be incomplete, stale, or conflicting</a:t>
            </a:r>
            <a:endParaRPr lang="en-US" sz="1300" b="0" u="none" strike="noStrike">
              <a:solidFill>
                <a:srgbClr val="FFFFFF"/>
              </a:solidFill>
              <a:effectLst/>
              <a:uFillTx/>
              <a:latin typeface="Arial"/>
            </a:endParaRPr>
          </a:p>
        </p:txBody>
      </p:sp>
      <p:sp>
        <p:nvSpPr>
          <p:cNvPr id="196" name="Shape 7"/>
          <p:cNvSpPr/>
          <p:nvPr/>
        </p:nvSpPr>
        <p:spPr>
          <a:xfrm>
            <a:off x="713160" y="336960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97" name="Text 8"/>
          <p:cNvSpPr/>
          <p:nvPr/>
        </p:nvSpPr>
        <p:spPr>
          <a:xfrm>
            <a:off x="932760" y="3287160"/>
            <a:ext cx="4809240" cy="82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F5F8FC"/>
                </a:solidFill>
                <a:effectLst/>
                <a:uFillTx/>
                <a:latin typeface="Aptos"/>
              </a:rPr>
              <a:t>A prompt may omit key facts or contain bad assumptions</a:t>
            </a:r>
            <a:endParaRPr lang="en-US" sz="1300" b="0" u="none" strike="noStrike">
              <a:solidFill>
                <a:srgbClr val="FFFFFF"/>
              </a:solidFill>
              <a:effectLst/>
              <a:uFillTx/>
              <a:latin typeface="Arial"/>
            </a:endParaRPr>
          </a:p>
        </p:txBody>
      </p:sp>
      <p:sp>
        <p:nvSpPr>
          <p:cNvPr id="198" name="Shape 9"/>
          <p:cNvSpPr/>
          <p:nvPr/>
        </p:nvSpPr>
        <p:spPr>
          <a:xfrm>
            <a:off x="713160" y="422676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199" name="Text 10"/>
          <p:cNvSpPr/>
          <p:nvPr/>
        </p:nvSpPr>
        <p:spPr>
          <a:xfrm>
            <a:off x="932760" y="4144680"/>
            <a:ext cx="4809240" cy="82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0" u="none" strike="noStrike">
                <a:solidFill>
                  <a:srgbClr val="F5F8FC"/>
                </a:solidFill>
                <a:effectLst/>
                <a:uFillTx/>
                <a:latin typeface="Aptos"/>
              </a:rPr>
              <a:t>Tools/search can return poor sources or be unavailable</a:t>
            </a:r>
            <a:endParaRPr lang="en-US" sz="1300" b="0" u="none" strike="noStrike">
              <a:solidFill>
                <a:srgbClr val="FFFFFF"/>
              </a:solidFill>
              <a:effectLst/>
              <a:uFillTx/>
              <a:latin typeface="Arial"/>
            </a:endParaRPr>
          </a:p>
        </p:txBody>
      </p:sp>
      <p:sp>
        <p:nvSpPr>
          <p:cNvPr id="200" name="Text 11"/>
          <p:cNvSpPr/>
          <p:nvPr/>
        </p:nvSpPr>
        <p:spPr>
          <a:xfrm>
            <a:off x="6355080" y="1243440"/>
            <a:ext cx="2377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spc="150">
                <a:solidFill>
                  <a:srgbClr val="40E0A1"/>
                </a:solidFill>
                <a:effectLst/>
                <a:uFillTx/>
                <a:latin typeface="Aptos"/>
              </a:rPr>
              <a:t>HOW TO REDUCE RISK</a:t>
            </a:r>
            <a:endParaRPr lang="en-US" sz="850" b="0" u="none" strike="noStrike">
              <a:solidFill>
                <a:srgbClr val="FFFFFF"/>
              </a:solidFill>
              <a:effectLst/>
              <a:uFillTx/>
              <a:latin typeface="Arial"/>
            </a:endParaRPr>
          </a:p>
        </p:txBody>
      </p:sp>
      <p:sp>
        <p:nvSpPr>
          <p:cNvPr id="201" name="Shape 12"/>
          <p:cNvSpPr/>
          <p:nvPr/>
        </p:nvSpPr>
        <p:spPr>
          <a:xfrm>
            <a:off x="6355080" y="165492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02" name="Text 13"/>
          <p:cNvSpPr/>
          <p:nvPr/>
        </p:nvSpPr>
        <p:spPr>
          <a:xfrm>
            <a:off x="6574680" y="1572840"/>
            <a:ext cx="49006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F5F8FC"/>
                </a:solidFill>
                <a:effectLst/>
                <a:uFillTx/>
                <a:latin typeface="Aptos"/>
              </a:rPr>
              <a:t>Provide primary evidence: logs, manuals, measurements, code</a:t>
            </a:r>
            <a:endParaRPr lang="en-US" sz="1250" b="0" u="none" strike="noStrike">
              <a:solidFill>
                <a:srgbClr val="FFFFFF"/>
              </a:solidFill>
              <a:effectLst/>
              <a:uFillTx/>
              <a:latin typeface="Arial"/>
            </a:endParaRPr>
          </a:p>
        </p:txBody>
      </p:sp>
      <p:sp>
        <p:nvSpPr>
          <p:cNvPr id="203" name="Shape 14"/>
          <p:cNvSpPr/>
          <p:nvPr/>
        </p:nvSpPr>
        <p:spPr>
          <a:xfrm>
            <a:off x="6355080" y="234072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04" name="Text 15"/>
          <p:cNvSpPr/>
          <p:nvPr/>
        </p:nvSpPr>
        <p:spPr>
          <a:xfrm>
            <a:off x="6574680" y="2258640"/>
            <a:ext cx="49006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F5F8FC"/>
                </a:solidFill>
                <a:effectLst/>
                <a:uFillTx/>
                <a:latin typeface="Aptos"/>
              </a:rPr>
              <a:t>Ask for assumptions, uncertainty, and missing information</a:t>
            </a:r>
            <a:endParaRPr lang="en-US" sz="1250" b="0" u="none" strike="noStrike">
              <a:solidFill>
                <a:srgbClr val="FFFFFF"/>
              </a:solidFill>
              <a:effectLst/>
              <a:uFillTx/>
              <a:latin typeface="Arial"/>
            </a:endParaRPr>
          </a:p>
        </p:txBody>
      </p:sp>
      <p:sp>
        <p:nvSpPr>
          <p:cNvPr id="205" name="Shape 16"/>
          <p:cNvSpPr/>
          <p:nvPr/>
        </p:nvSpPr>
        <p:spPr>
          <a:xfrm>
            <a:off x="6355080" y="302652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06" name="Text 17"/>
          <p:cNvSpPr/>
          <p:nvPr/>
        </p:nvSpPr>
        <p:spPr>
          <a:xfrm>
            <a:off x="6574680" y="2944440"/>
            <a:ext cx="49006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F5F8FC"/>
                </a:solidFill>
                <a:effectLst/>
                <a:uFillTx/>
                <a:latin typeface="Aptos"/>
              </a:rPr>
              <a:t>Use web/search or retrieval for fresh / obscure facts</a:t>
            </a:r>
            <a:endParaRPr lang="en-US" sz="1250" b="0" u="none" strike="noStrike">
              <a:solidFill>
                <a:srgbClr val="FFFFFF"/>
              </a:solidFill>
              <a:effectLst/>
              <a:uFillTx/>
              <a:latin typeface="Arial"/>
            </a:endParaRPr>
          </a:p>
        </p:txBody>
      </p:sp>
      <p:sp>
        <p:nvSpPr>
          <p:cNvPr id="207" name="Shape 18"/>
          <p:cNvSpPr/>
          <p:nvPr/>
        </p:nvSpPr>
        <p:spPr>
          <a:xfrm>
            <a:off x="6355080" y="371232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08" name="Text 19"/>
          <p:cNvSpPr/>
          <p:nvPr/>
        </p:nvSpPr>
        <p:spPr>
          <a:xfrm>
            <a:off x="6574680" y="3630240"/>
            <a:ext cx="49006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F5F8FC"/>
                </a:solidFill>
                <a:effectLst/>
                <a:uFillTx/>
                <a:latin typeface="Aptos"/>
              </a:rPr>
              <a:t>Test the answer: run code, measure voltage, reproduce the bug</a:t>
            </a:r>
            <a:endParaRPr lang="en-US" sz="1250" b="0" u="none" strike="noStrike">
              <a:solidFill>
                <a:srgbClr val="FFFFFF"/>
              </a:solidFill>
              <a:effectLst/>
              <a:uFillTx/>
              <a:latin typeface="Arial"/>
            </a:endParaRPr>
          </a:p>
        </p:txBody>
      </p:sp>
      <p:sp>
        <p:nvSpPr>
          <p:cNvPr id="209" name="Shape 20"/>
          <p:cNvSpPr/>
          <p:nvPr/>
        </p:nvSpPr>
        <p:spPr>
          <a:xfrm>
            <a:off x="6355080" y="439812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10" name="Text 21"/>
          <p:cNvSpPr/>
          <p:nvPr/>
        </p:nvSpPr>
        <p:spPr>
          <a:xfrm>
            <a:off x="6574680" y="4316040"/>
            <a:ext cx="490068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u="none" strike="noStrike">
                <a:solidFill>
                  <a:srgbClr val="F5F8FC"/>
                </a:solidFill>
                <a:effectLst/>
                <a:uFillTx/>
                <a:latin typeface="Aptos"/>
              </a:rPr>
              <a:t>For high-stakes decisions, verify with qualified sources</a:t>
            </a:r>
            <a:endParaRPr lang="en-US" sz="1250" b="0" u="none" strike="noStrike">
              <a:solidFill>
                <a:srgbClr val="FFFFFF"/>
              </a:solidFill>
              <a:effectLst/>
              <a:uFillTx/>
              <a:latin typeface="Arial"/>
            </a:endParaRPr>
          </a:p>
        </p:txBody>
      </p:sp>
      <p:sp>
        <p:nvSpPr>
          <p:cNvPr id="211" name="Shape 22"/>
          <p:cNvSpPr/>
          <p:nvPr/>
        </p:nvSpPr>
        <p:spPr>
          <a:xfrm>
            <a:off x="822960" y="5230440"/>
            <a:ext cx="10560960" cy="566640"/>
          </a:xfrm>
          <a:prstGeom prst="roundRect">
            <a:avLst>
              <a:gd name="adj" fmla="val 9677"/>
            </a:avLst>
          </a:prstGeom>
          <a:solidFill>
            <a:srgbClr val="261A24"/>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2" name="Text 23"/>
          <p:cNvSpPr/>
          <p:nvPr/>
        </p:nvSpPr>
        <p:spPr>
          <a:xfrm>
            <a:off x="1005840" y="5403960"/>
            <a:ext cx="1019520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u="none" strike="noStrike">
                <a:solidFill>
                  <a:srgbClr val="F5F8FC"/>
                </a:solidFill>
                <a:effectLst/>
                <a:uFillTx/>
                <a:latin typeface="Aptos"/>
              </a:rPr>
              <a:t>Rule: AI output is a hypothesis until the evidence or test makes it a result.</a:t>
            </a:r>
            <a:endParaRPr lang="en-US" sz="1500" b="0" u="none" strike="noStrike">
              <a:solidFill>
                <a:srgbClr val="FFFFFF"/>
              </a:solidFill>
              <a:effectLst/>
              <a:uFillTx/>
              <a:latin typeface="Arial"/>
            </a:endParaRPr>
          </a:p>
        </p:txBody>
      </p:sp>
      <p:sp>
        <p:nvSpPr>
          <p:cNvPr id="213" name="Text 24">
            <a:hlinkClick r:id="rId3"/>
          </p:cNvPr>
          <p:cNvSpPr/>
          <p:nvPr/>
        </p:nvSpPr>
        <p:spPr>
          <a:xfrm>
            <a:off x="521280" y="6190560"/>
            <a:ext cx="33829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Google prompt guidance: grounding &amp; code execution</a:t>
            </a:r>
            <a:endParaRPr lang="en-US" sz="720" b="0" u="none" strike="noStrike">
              <a:solidFill>
                <a:srgbClr val="FFFFFF"/>
              </a:solidFill>
              <a:effectLst/>
              <a:uFillTx/>
              <a:latin typeface="Arial"/>
            </a:endParaRPr>
          </a:p>
        </p:txBody>
      </p:sp>
      <p:sp>
        <p:nvSpPr>
          <p:cNvPr id="214" name="Text 25">
            <a:hlinkClick r:id="rId4"/>
          </p:cNvPr>
          <p:cNvSpPr/>
          <p:nvPr/>
        </p:nvSpPr>
        <p:spPr>
          <a:xfrm>
            <a:off x="3904560" y="6190560"/>
            <a:ext cx="2212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OpenAI benchmark caveat example</a:t>
            </a:r>
            <a:endParaRPr lang="en-US" sz="720" b="0" u="none" strike="noStrike">
              <a:solidFill>
                <a:srgbClr val="FFFFFF"/>
              </a:solidFill>
              <a:effectLst/>
              <a:uFillTx/>
              <a:latin typeface="Arial"/>
            </a:endParaRPr>
          </a:p>
        </p:txBody>
      </p:sp>
      <p:sp>
        <p:nvSpPr>
          <p:cNvPr id="215" name="PlaceHolder 1"/>
          <p:cNvSpPr>
            <a:spLocks noGrp="1"/>
          </p:cNvSpPr>
          <p:nvPr>
            <p:ph type="sldNum" idx="11"/>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6EB299B8-4889-469B-AD4E-864C9E7FB678}" type="slidenum">
              <a:rPr lang="en-US" sz="750" b="0" u="none" strike="noStrike">
                <a:solidFill>
                  <a:srgbClr val="73809A"/>
                </a:solidFill>
                <a:effectLst/>
                <a:uFillTx/>
                <a:latin typeface="Aptos"/>
                <a:ea typeface="Aptos"/>
              </a:rPr>
              <a:t>7</a:t>
            </a:fld>
            <a:endParaRPr lang="en-US" sz="750" b="0" u="none" strike="noStrike">
              <a:solidFill>
                <a:srgbClr val="FFFFFF"/>
              </a:solidFill>
              <a:effectLst/>
              <a:uFillTx/>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Prompting: give the model a job specification</a:t>
            </a:r>
            <a:endParaRPr lang="en-US" sz="2600" b="0" u="none" strike="noStrike">
              <a:solidFill>
                <a:srgbClr val="FFFFFF"/>
              </a:solidFill>
              <a:effectLst/>
              <a:uFillTx/>
              <a:latin typeface="Arial"/>
            </a:endParaRPr>
          </a:p>
        </p:txBody>
      </p:sp>
      <p:sp>
        <p:nvSpPr>
          <p:cNvPr id="21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Clear context and constraints beat incantations. Prompting is iterative engineering.</a:t>
            </a:r>
            <a:endParaRPr lang="en-US" sz="1150" b="0" u="none" strike="noStrike">
              <a:solidFill>
                <a:srgbClr val="FFFFFF"/>
              </a:solidFill>
              <a:effectLst/>
              <a:uFillTx/>
              <a:latin typeface="Arial"/>
            </a:endParaRPr>
          </a:p>
        </p:txBody>
      </p:sp>
      <p:sp>
        <p:nvSpPr>
          <p:cNvPr id="218" name="Shape 2"/>
          <p:cNvSpPr/>
          <p:nvPr/>
        </p:nvSpPr>
        <p:spPr>
          <a:xfrm>
            <a:off x="685800" y="1371600"/>
            <a:ext cx="34012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19" name="Shape 3"/>
          <p:cNvSpPr/>
          <p:nvPr/>
        </p:nvSpPr>
        <p:spPr>
          <a:xfrm>
            <a:off x="685800" y="1371600"/>
            <a:ext cx="54360" cy="123408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0" name="Text 4"/>
          <p:cNvSpPr/>
          <p:nvPr/>
        </p:nvSpPr>
        <p:spPr>
          <a:xfrm>
            <a:off x="887040" y="153612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GOAL</a:t>
            </a:r>
            <a:endParaRPr lang="en-US" sz="1400" b="0" u="none" strike="noStrike">
              <a:solidFill>
                <a:srgbClr val="FFFFFF"/>
              </a:solidFill>
              <a:effectLst/>
              <a:uFillTx/>
              <a:latin typeface="Arial"/>
            </a:endParaRPr>
          </a:p>
        </p:txBody>
      </p:sp>
      <p:sp>
        <p:nvSpPr>
          <p:cNvPr id="221" name="Text 5"/>
          <p:cNvSpPr/>
          <p:nvPr/>
        </p:nvSpPr>
        <p:spPr>
          <a:xfrm>
            <a:off x="887040" y="1874520"/>
            <a:ext cx="30538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70" b="0" u="none" strike="noStrike">
                <a:solidFill>
                  <a:srgbClr val="AAB5C8"/>
                </a:solidFill>
                <a:effectLst/>
                <a:uFillTx/>
                <a:latin typeface="Aptos"/>
              </a:rPr>
              <a:t>What outcome do you want?</a:t>
            </a:r>
            <a:endParaRPr lang="en-US" sz="1070" b="0" u="none" strike="noStrike">
              <a:solidFill>
                <a:srgbClr val="FFFFFF"/>
              </a:solidFill>
              <a:effectLst/>
              <a:uFillTx/>
              <a:latin typeface="Arial"/>
            </a:endParaRPr>
          </a:p>
        </p:txBody>
      </p:sp>
      <p:sp>
        <p:nvSpPr>
          <p:cNvPr id="222" name="Shape 6"/>
          <p:cNvSpPr/>
          <p:nvPr/>
        </p:nvSpPr>
        <p:spPr>
          <a:xfrm>
            <a:off x="4434840" y="1371600"/>
            <a:ext cx="34012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3" name="Shape 7"/>
          <p:cNvSpPr/>
          <p:nvPr/>
        </p:nvSpPr>
        <p:spPr>
          <a:xfrm>
            <a:off x="4434840" y="1371600"/>
            <a:ext cx="54360" cy="123408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4" name="Text 8"/>
          <p:cNvSpPr/>
          <p:nvPr/>
        </p:nvSpPr>
        <p:spPr>
          <a:xfrm>
            <a:off x="4636080" y="153612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CONTEXT</a:t>
            </a:r>
            <a:endParaRPr lang="en-US" sz="1400" b="0" u="none" strike="noStrike">
              <a:solidFill>
                <a:srgbClr val="FFFFFF"/>
              </a:solidFill>
              <a:effectLst/>
              <a:uFillTx/>
              <a:latin typeface="Arial"/>
            </a:endParaRPr>
          </a:p>
        </p:txBody>
      </p:sp>
      <p:sp>
        <p:nvSpPr>
          <p:cNvPr id="225" name="Text 9"/>
          <p:cNvSpPr/>
          <p:nvPr/>
        </p:nvSpPr>
        <p:spPr>
          <a:xfrm>
            <a:off x="4636080" y="1874520"/>
            <a:ext cx="30538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70" b="0" u="none" strike="noStrike">
                <a:solidFill>
                  <a:srgbClr val="AAB5C8"/>
                </a:solidFill>
                <a:effectLst/>
                <a:uFillTx/>
                <a:latin typeface="Aptos"/>
              </a:rPr>
              <a:t>What does it need to know?</a:t>
            </a:r>
            <a:endParaRPr lang="en-US" sz="1070" b="0" u="none" strike="noStrike">
              <a:solidFill>
                <a:srgbClr val="FFFFFF"/>
              </a:solidFill>
              <a:effectLst/>
              <a:uFillTx/>
              <a:latin typeface="Arial"/>
            </a:endParaRPr>
          </a:p>
        </p:txBody>
      </p:sp>
      <p:sp>
        <p:nvSpPr>
          <p:cNvPr id="226" name="Shape 10"/>
          <p:cNvSpPr/>
          <p:nvPr/>
        </p:nvSpPr>
        <p:spPr>
          <a:xfrm>
            <a:off x="8183880" y="1371600"/>
            <a:ext cx="34012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27" name="Shape 11"/>
          <p:cNvSpPr/>
          <p:nvPr/>
        </p:nvSpPr>
        <p:spPr>
          <a:xfrm>
            <a:off x="8183880" y="1371600"/>
            <a:ext cx="54360" cy="123408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28" name="Text 12"/>
          <p:cNvSpPr/>
          <p:nvPr/>
        </p:nvSpPr>
        <p:spPr>
          <a:xfrm>
            <a:off x="8385120" y="153612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CONSTRAINTS</a:t>
            </a:r>
            <a:endParaRPr lang="en-US" sz="1400" b="0" u="none" strike="noStrike">
              <a:solidFill>
                <a:srgbClr val="FFFFFF"/>
              </a:solidFill>
              <a:effectLst/>
              <a:uFillTx/>
              <a:latin typeface="Arial"/>
            </a:endParaRPr>
          </a:p>
        </p:txBody>
      </p:sp>
      <p:sp>
        <p:nvSpPr>
          <p:cNvPr id="229" name="Text 13"/>
          <p:cNvSpPr/>
          <p:nvPr/>
        </p:nvSpPr>
        <p:spPr>
          <a:xfrm>
            <a:off x="8385120" y="1874520"/>
            <a:ext cx="30538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70" b="0" u="none" strike="noStrike">
                <a:solidFill>
                  <a:srgbClr val="AAB5C8"/>
                </a:solidFill>
                <a:effectLst/>
                <a:uFillTx/>
                <a:latin typeface="Aptos"/>
              </a:rPr>
              <a:t>Limits, safety, tools, budget, environment</a:t>
            </a:r>
            <a:endParaRPr lang="en-US" sz="1070" b="0" u="none" strike="noStrike">
              <a:solidFill>
                <a:srgbClr val="FFFFFF"/>
              </a:solidFill>
              <a:effectLst/>
              <a:uFillTx/>
              <a:latin typeface="Arial"/>
            </a:endParaRPr>
          </a:p>
        </p:txBody>
      </p:sp>
      <p:sp>
        <p:nvSpPr>
          <p:cNvPr id="230" name="Shape 14"/>
          <p:cNvSpPr/>
          <p:nvPr/>
        </p:nvSpPr>
        <p:spPr>
          <a:xfrm>
            <a:off x="685800" y="2853000"/>
            <a:ext cx="34012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1" name="Shape 15"/>
          <p:cNvSpPr/>
          <p:nvPr/>
        </p:nvSpPr>
        <p:spPr>
          <a:xfrm>
            <a:off x="685800" y="2853000"/>
            <a:ext cx="54360" cy="123408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2" name="Text 16"/>
          <p:cNvSpPr/>
          <p:nvPr/>
        </p:nvSpPr>
        <p:spPr>
          <a:xfrm>
            <a:off x="887040" y="301752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EVIDENCE</a:t>
            </a:r>
            <a:endParaRPr lang="en-US" sz="1400" b="0" u="none" strike="noStrike">
              <a:solidFill>
                <a:srgbClr val="FFFFFF"/>
              </a:solidFill>
              <a:effectLst/>
              <a:uFillTx/>
              <a:latin typeface="Arial"/>
            </a:endParaRPr>
          </a:p>
        </p:txBody>
      </p:sp>
      <p:sp>
        <p:nvSpPr>
          <p:cNvPr id="233" name="Text 17"/>
          <p:cNvSpPr/>
          <p:nvPr/>
        </p:nvSpPr>
        <p:spPr>
          <a:xfrm>
            <a:off x="887040" y="3355920"/>
            <a:ext cx="30538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70" b="0" u="none" strike="noStrike">
                <a:solidFill>
                  <a:srgbClr val="AAB5C8"/>
                </a:solidFill>
                <a:effectLst/>
                <a:uFillTx/>
                <a:latin typeface="Aptos"/>
              </a:rPr>
              <a:t>Logs, files, photos, docs, URLs, measurements</a:t>
            </a:r>
            <a:endParaRPr lang="en-US" sz="1070" b="0" u="none" strike="noStrike">
              <a:solidFill>
                <a:srgbClr val="FFFFFF"/>
              </a:solidFill>
              <a:effectLst/>
              <a:uFillTx/>
              <a:latin typeface="Arial"/>
            </a:endParaRPr>
          </a:p>
        </p:txBody>
      </p:sp>
      <p:sp>
        <p:nvSpPr>
          <p:cNvPr id="234" name="Shape 18"/>
          <p:cNvSpPr/>
          <p:nvPr/>
        </p:nvSpPr>
        <p:spPr>
          <a:xfrm>
            <a:off x="4434840" y="2853000"/>
            <a:ext cx="34012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5" name="Shape 19"/>
          <p:cNvSpPr/>
          <p:nvPr/>
        </p:nvSpPr>
        <p:spPr>
          <a:xfrm>
            <a:off x="4434840" y="2853000"/>
            <a:ext cx="54360" cy="123408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6" name="Text 20"/>
          <p:cNvSpPr/>
          <p:nvPr/>
        </p:nvSpPr>
        <p:spPr>
          <a:xfrm>
            <a:off x="4636080" y="301752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OUTPUT</a:t>
            </a:r>
            <a:endParaRPr lang="en-US" sz="1400" b="0" u="none" strike="noStrike">
              <a:solidFill>
                <a:srgbClr val="FFFFFF"/>
              </a:solidFill>
              <a:effectLst/>
              <a:uFillTx/>
              <a:latin typeface="Arial"/>
            </a:endParaRPr>
          </a:p>
        </p:txBody>
      </p:sp>
      <p:sp>
        <p:nvSpPr>
          <p:cNvPr id="237" name="Text 21"/>
          <p:cNvSpPr/>
          <p:nvPr/>
        </p:nvSpPr>
        <p:spPr>
          <a:xfrm>
            <a:off x="4636080" y="3355920"/>
            <a:ext cx="30538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70" b="0" u="none" strike="noStrike" dirty="0">
                <a:solidFill>
                  <a:srgbClr val="AAB5C8"/>
                </a:solidFill>
                <a:effectLst/>
                <a:uFillTx/>
                <a:latin typeface="Aptos"/>
              </a:rPr>
              <a:t>Format, depth, audience, checklist/code/table</a:t>
            </a:r>
            <a:endParaRPr lang="en-US" sz="1070" b="0" u="none" strike="noStrike" dirty="0">
              <a:solidFill>
                <a:srgbClr val="FFFFFF"/>
              </a:solidFill>
              <a:effectLst/>
              <a:uFillTx/>
              <a:latin typeface="Arial"/>
            </a:endParaRPr>
          </a:p>
        </p:txBody>
      </p:sp>
      <p:sp>
        <p:nvSpPr>
          <p:cNvPr id="238" name="Shape 22"/>
          <p:cNvSpPr/>
          <p:nvPr/>
        </p:nvSpPr>
        <p:spPr>
          <a:xfrm>
            <a:off x="8183880" y="2853000"/>
            <a:ext cx="34012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39" name="Shape 23"/>
          <p:cNvSpPr/>
          <p:nvPr/>
        </p:nvSpPr>
        <p:spPr>
          <a:xfrm>
            <a:off x="8183880" y="2853000"/>
            <a:ext cx="54360" cy="123408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0" name="Text 24"/>
          <p:cNvSpPr/>
          <p:nvPr/>
        </p:nvSpPr>
        <p:spPr>
          <a:xfrm>
            <a:off x="8385120" y="301752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ITERATE</a:t>
            </a:r>
            <a:endParaRPr lang="en-US" sz="1400" b="0" u="none" strike="noStrike">
              <a:solidFill>
                <a:srgbClr val="FFFFFF"/>
              </a:solidFill>
              <a:effectLst/>
              <a:uFillTx/>
              <a:latin typeface="Arial"/>
            </a:endParaRPr>
          </a:p>
        </p:txBody>
      </p:sp>
      <p:sp>
        <p:nvSpPr>
          <p:cNvPr id="241" name="Text 25"/>
          <p:cNvSpPr/>
          <p:nvPr/>
        </p:nvSpPr>
        <p:spPr>
          <a:xfrm>
            <a:off x="8385120" y="3355920"/>
            <a:ext cx="30538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70" b="0" u="none" strike="noStrike">
                <a:solidFill>
                  <a:srgbClr val="AAB5C8"/>
                </a:solidFill>
                <a:effectLst/>
                <a:uFillTx/>
                <a:latin typeface="Aptos"/>
              </a:rPr>
              <a:t>Test → correct → provide new evidence</a:t>
            </a:r>
            <a:endParaRPr lang="en-US" sz="1070" b="0" u="none" strike="noStrike">
              <a:solidFill>
                <a:srgbClr val="FFFFFF"/>
              </a:solidFill>
              <a:effectLst/>
              <a:uFillTx/>
              <a:latin typeface="Arial"/>
            </a:endParaRPr>
          </a:p>
        </p:txBody>
      </p:sp>
      <p:sp>
        <p:nvSpPr>
          <p:cNvPr id="242" name="Shape 26"/>
          <p:cNvSpPr/>
          <p:nvPr/>
        </p:nvSpPr>
        <p:spPr>
          <a:xfrm>
            <a:off x="685800" y="4526280"/>
            <a:ext cx="10899360" cy="687236"/>
          </a:xfrm>
          <a:prstGeom prst="roundRect">
            <a:avLst>
              <a:gd name="adj" fmla="val 7273"/>
            </a:avLst>
          </a:prstGeom>
          <a:solidFill>
            <a:srgbClr val="0E1B2B"/>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43" name="Text 27"/>
          <p:cNvSpPr/>
          <p:nvPr/>
        </p:nvSpPr>
        <p:spPr>
          <a:xfrm>
            <a:off x="946440" y="4562640"/>
            <a:ext cx="103780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i="1" u="none" strike="noStrike" dirty="0">
                <a:solidFill>
                  <a:srgbClr val="F5F8FC"/>
                </a:solidFill>
                <a:effectLst/>
                <a:uFillTx/>
                <a:latin typeface="Aptos"/>
              </a:rPr>
              <a:t>Example: “You are a senior 3D Printing Engineer. I have a Prusa-style printer. PETG is stringing after a nozzle change. Here are my slicer settings and a photo. Give me the three most likely causes in priority order, one safe test for each, and tell me what evidence would rule each cause out.”</a:t>
            </a:r>
            <a:endParaRPr lang="en-US" sz="1250" b="0" u="none" strike="noStrike" dirty="0">
              <a:solidFill>
                <a:srgbClr val="FFFFFF"/>
              </a:solidFill>
              <a:effectLst/>
              <a:uFillTx/>
              <a:latin typeface="Arial"/>
            </a:endParaRPr>
          </a:p>
        </p:txBody>
      </p:sp>
      <p:sp>
        <p:nvSpPr>
          <p:cNvPr id="244" name="Text 28"/>
          <p:cNvSpPr/>
          <p:nvPr/>
        </p:nvSpPr>
        <p:spPr>
          <a:xfrm>
            <a:off x="521280" y="6199560"/>
            <a:ext cx="110638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1" u="none" strike="noStrike">
                <a:solidFill>
                  <a:srgbClr val="73809A"/>
                </a:solidFill>
                <a:effectLst/>
                <a:uFillTx/>
                <a:latin typeface="Aptos"/>
              </a:rPr>
              <a:t>Source: </a:t>
            </a:r>
            <a:r>
              <a:rPr lang="en-US" sz="750" b="0" u="sng" strike="noStrike">
                <a:solidFill>
                  <a:srgbClr val="33D6FF"/>
                </a:solidFill>
                <a:effectLst/>
                <a:uFillTx/>
                <a:latin typeface="Aptos"/>
                <a:hlinkClick r:id="rId3"/>
              </a:rPr>
              <a:t>Google: Prompt design strategies</a:t>
            </a:r>
            <a:endParaRPr lang="en-US" sz="750" b="0" u="none" strike="noStrike">
              <a:solidFill>
                <a:srgbClr val="FFFFFF"/>
              </a:solidFill>
              <a:effectLst/>
              <a:uFillTx/>
              <a:latin typeface="Arial"/>
            </a:endParaRPr>
          </a:p>
        </p:txBody>
      </p:sp>
      <p:sp>
        <p:nvSpPr>
          <p:cNvPr id="245" name="PlaceHolder 1"/>
          <p:cNvSpPr>
            <a:spLocks noGrp="1"/>
          </p:cNvSpPr>
          <p:nvPr>
            <p:ph type="sldNum" idx="12"/>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A0017162-5040-491E-9F87-5CEBD131399D}" type="slidenum">
              <a:rPr lang="en-US" sz="750" b="0" u="none" strike="noStrike">
                <a:solidFill>
                  <a:srgbClr val="73809A"/>
                </a:solidFill>
                <a:effectLst/>
                <a:uFillTx/>
                <a:latin typeface="Aptos"/>
                <a:ea typeface="Aptos"/>
              </a:rPr>
              <a:t>8</a:t>
            </a:fld>
            <a:endParaRPr lang="en-US" sz="750" b="0" u="none" strike="noStrike">
              <a:solidFill>
                <a:srgbClr val="FFFFFF"/>
              </a:solidFill>
              <a:effectLst/>
              <a:uFillTx/>
              <a:latin typeface="Times New Roman"/>
            </a:endParaRPr>
          </a:p>
        </p:txBody>
      </p:sp>
      <p:sp>
        <p:nvSpPr>
          <p:cNvPr id="3" name="Shape 26">
            <a:extLst>
              <a:ext uri="{FF2B5EF4-FFF2-40B4-BE49-F238E27FC236}">
                <a16:creationId xmlns:a16="http://schemas.microsoft.com/office/drawing/2014/main" id="{980CA531-D931-41F4-0889-3A3093B6EB63}"/>
              </a:ext>
            </a:extLst>
          </p:cNvPr>
          <p:cNvSpPr/>
          <p:nvPr/>
        </p:nvSpPr>
        <p:spPr>
          <a:xfrm>
            <a:off x="685800" y="5309098"/>
            <a:ext cx="10899360" cy="687236"/>
          </a:xfrm>
          <a:prstGeom prst="roundRect">
            <a:avLst>
              <a:gd name="adj" fmla="val 7273"/>
            </a:avLst>
          </a:prstGeom>
          <a:solidFill>
            <a:srgbClr val="0E1B2B"/>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 name="Text 27">
            <a:extLst>
              <a:ext uri="{FF2B5EF4-FFF2-40B4-BE49-F238E27FC236}">
                <a16:creationId xmlns:a16="http://schemas.microsoft.com/office/drawing/2014/main" id="{E14814B6-5C2C-3C06-FA6D-71EB5AC9D949}"/>
              </a:ext>
            </a:extLst>
          </p:cNvPr>
          <p:cNvSpPr/>
          <p:nvPr/>
        </p:nvSpPr>
        <p:spPr>
          <a:xfrm>
            <a:off x="946440" y="5345458"/>
            <a:ext cx="10378080" cy="566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0" i="1" u="none" strike="noStrike" dirty="0">
                <a:solidFill>
                  <a:srgbClr val="F5F8FC"/>
                </a:solidFill>
                <a:effectLst/>
                <a:uFillTx/>
                <a:latin typeface="Aptos"/>
              </a:rPr>
              <a:t>Example: “You are a Principal Prompt Engineer. I have a 3D printer question that I need to create an AI prompt for to help me solve my problem…(insert problem here). </a:t>
            </a:r>
            <a:r>
              <a:rPr lang="en-US" sz="1250" i="1" dirty="0">
                <a:solidFill>
                  <a:srgbClr val="F5F8FC"/>
                </a:solidFill>
                <a:latin typeface="Aptos"/>
              </a:rPr>
              <a:t>Ask me clarifying questions and QA with me until we have a ready to use prompt.</a:t>
            </a:r>
            <a:r>
              <a:rPr lang="en-US" sz="1250" b="0" i="1" u="none" strike="noStrike" dirty="0">
                <a:solidFill>
                  <a:srgbClr val="F5F8FC"/>
                </a:solidFill>
                <a:effectLst/>
                <a:uFillTx/>
                <a:latin typeface="Aptos"/>
              </a:rPr>
              <a:t>”</a:t>
            </a:r>
            <a:endParaRPr lang="en-US" sz="1250" b="0" u="none" strike="noStrike" dirty="0">
              <a:solidFill>
                <a:srgbClr val="FFFFFF"/>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Use case: troubleshooting a physical or technical problem</a:t>
            </a:r>
            <a:endParaRPr lang="en-US" sz="2600" b="0" u="none" strike="noStrike">
              <a:solidFill>
                <a:srgbClr val="FFFFFF"/>
              </a:solidFill>
              <a:effectLst/>
              <a:uFillTx/>
              <a:latin typeface="Arial"/>
            </a:endParaRPr>
          </a:p>
        </p:txBody>
      </p:sp>
      <p:sp>
        <p:nvSpPr>
          <p:cNvPr id="24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AI is strongest when you make it follow a diagnostic loop instead of jumping to a fix.</a:t>
            </a:r>
            <a:endParaRPr lang="en-US" sz="1150" b="0" u="none" strike="noStrike">
              <a:solidFill>
                <a:srgbClr val="FFFFFF"/>
              </a:solidFill>
              <a:effectLst/>
              <a:uFillTx/>
              <a:latin typeface="Arial"/>
            </a:endParaRPr>
          </a:p>
        </p:txBody>
      </p:sp>
      <p:sp>
        <p:nvSpPr>
          <p:cNvPr id="248" name="Shape 2"/>
          <p:cNvSpPr/>
          <p:nvPr/>
        </p:nvSpPr>
        <p:spPr>
          <a:xfrm>
            <a:off x="1078920" y="1517760"/>
            <a:ext cx="749520" cy="749520"/>
          </a:xfrm>
          <a:prstGeom prst="ellipse">
            <a:avLst/>
          </a:prstGeom>
          <a:solidFill>
            <a:srgbClr val="33D6FF">
              <a:alpha val="75000"/>
            </a:srgbClr>
          </a:solidFill>
          <a:ln w="1524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49" name="Text 3"/>
          <p:cNvSpPr/>
          <p:nvPr/>
        </p:nvSpPr>
        <p:spPr>
          <a:xfrm>
            <a:off x="1078920" y="1746360"/>
            <a:ext cx="749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1</a:t>
            </a:r>
            <a:endParaRPr lang="en-US" sz="1300" b="0" u="none" strike="noStrike">
              <a:solidFill>
                <a:srgbClr val="FFFFFF"/>
              </a:solidFill>
              <a:effectLst/>
              <a:uFillTx/>
              <a:latin typeface="Arial"/>
            </a:endParaRPr>
          </a:p>
        </p:txBody>
      </p:sp>
      <p:sp>
        <p:nvSpPr>
          <p:cNvPr id="250" name="Text 4"/>
          <p:cNvSpPr/>
          <p:nvPr/>
        </p:nvSpPr>
        <p:spPr>
          <a:xfrm>
            <a:off x="640080" y="246888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5F8FC"/>
                </a:solidFill>
                <a:effectLst/>
                <a:uFillTx/>
                <a:latin typeface="Aptos"/>
              </a:rPr>
              <a:t>Observe</a:t>
            </a:r>
            <a:endParaRPr lang="en-US" sz="1400" b="0" u="none" strike="noStrike">
              <a:solidFill>
                <a:srgbClr val="FFFFFF"/>
              </a:solidFill>
              <a:effectLst/>
              <a:uFillTx/>
              <a:latin typeface="Arial"/>
            </a:endParaRPr>
          </a:p>
        </p:txBody>
      </p:sp>
      <p:sp>
        <p:nvSpPr>
          <p:cNvPr id="251" name="Text 5"/>
          <p:cNvSpPr/>
          <p:nvPr/>
        </p:nvSpPr>
        <p:spPr>
          <a:xfrm>
            <a:off x="640080" y="2788920"/>
            <a:ext cx="1627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AAB5C8"/>
                </a:solidFill>
                <a:effectLst/>
                <a:uFillTx/>
                <a:latin typeface="Aptos"/>
              </a:rPr>
              <a:t>Symptoms + exact environment</a:t>
            </a:r>
            <a:endParaRPr lang="en-US" sz="980" b="0" u="none" strike="noStrike">
              <a:solidFill>
                <a:srgbClr val="FFFFFF"/>
              </a:solidFill>
              <a:effectLst/>
              <a:uFillTx/>
              <a:latin typeface="Arial"/>
            </a:endParaRPr>
          </a:p>
        </p:txBody>
      </p:sp>
      <p:sp>
        <p:nvSpPr>
          <p:cNvPr id="252" name="Shape 6"/>
          <p:cNvSpPr/>
          <p:nvPr/>
        </p:nvSpPr>
        <p:spPr>
          <a:xfrm>
            <a:off x="1874520" y="1901880"/>
            <a:ext cx="52092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253" name="Shape 7"/>
          <p:cNvSpPr/>
          <p:nvPr/>
        </p:nvSpPr>
        <p:spPr>
          <a:xfrm>
            <a:off x="2980800" y="1517760"/>
            <a:ext cx="749520" cy="749520"/>
          </a:xfrm>
          <a:prstGeom prst="ellipse">
            <a:avLst/>
          </a:prstGeom>
          <a:solidFill>
            <a:srgbClr val="40E0A1">
              <a:alpha val="75000"/>
            </a:srgbClr>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4" name="Text 8"/>
          <p:cNvSpPr/>
          <p:nvPr/>
        </p:nvSpPr>
        <p:spPr>
          <a:xfrm>
            <a:off x="2980800" y="1746360"/>
            <a:ext cx="749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2</a:t>
            </a:r>
            <a:endParaRPr lang="en-US" sz="1300" b="0" u="none" strike="noStrike">
              <a:solidFill>
                <a:srgbClr val="FFFFFF"/>
              </a:solidFill>
              <a:effectLst/>
              <a:uFillTx/>
              <a:latin typeface="Arial"/>
            </a:endParaRPr>
          </a:p>
        </p:txBody>
      </p:sp>
      <p:sp>
        <p:nvSpPr>
          <p:cNvPr id="255" name="Text 9"/>
          <p:cNvSpPr/>
          <p:nvPr/>
        </p:nvSpPr>
        <p:spPr>
          <a:xfrm>
            <a:off x="2541960" y="246888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5F8FC"/>
                </a:solidFill>
                <a:effectLst/>
                <a:uFillTx/>
                <a:latin typeface="Aptos"/>
              </a:rPr>
              <a:t>Hypothesize</a:t>
            </a:r>
            <a:endParaRPr lang="en-US" sz="1400" b="0" u="none" strike="noStrike">
              <a:solidFill>
                <a:srgbClr val="FFFFFF"/>
              </a:solidFill>
              <a:effectLst/>
              <a:uFillTx/>
              <a:latin typeface="Arial"/>
            </a:endParaRPr>
          </a:p>
        </p:txBody>
      </p:sp>
      <p:sp>
        <p:nvSpPr>
          <p:cNvPr id="256" name="Text 10"/>
          <p:cNvSpPr/>
          <p:nvPr/>
        </p:nvSpPr>
        <p:spPr>
          <a:xfrm>
            <a:off x="2541960" y="2788920"/>
            <a:ext cx="1627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AAB5C8"/>
                </a:solidFill>
                <a:effectLst/>
                <a:uFillTx/>
                <a:latin typeface="Aptos"/>
              </a:rPr>
              <a:t>Rank plausible causes</a:t>
            </a:r>
            <a:endParaRPr lang="en-US" sz="980" b="0" u="none" strike="noStrike">
              <a:solidFill>
                <a:srgbClr val="FFFFFF"/>
              </a:solidFill>
              <a:effectLst/>
              <a:uFillTx/>
              <a:latin typeface="Arial"/>
            </a:endParaRPr>
          </a:p>
        </p:txBody>
      </p:sp>
      <p:sp>
        <p:nvSpPr>
          <p:cNvPr id="257" name="Shape 11"/>
          <p:cNvSpPr/>
          <p:nvPr/>
        </p:nvSpPr>
        <p:spPr>
          <a:xfrm>
            <a:off x="3776400" y="1901880"/>
            <a:ext cx="52128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258" name="Shape 12"/>
          <p:cNvSpPr/>
          <p:nvPr/>
        </p:nvSpPr>
        <p:spPr>
          <a:xfrm>
            <a:off x="4883040" y="1517760"/>
            <a:ext cx="749520" cy="749520"/>
          </a:xfrm>
          <a:prstGeom prst="ellipse">
            <a:avLst/>
          </a:prstGeom>
          <a:solidFill>
            <a:srgbClr val="33D6FF">
              <a:alpha val="75000"/>
            </a:srgbClr>
          </a:solidFill>
          <a:ln w="1524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59" name="Text 13"/>
          <p:cNvSpPr/>
          <p:nvPr/>
        </p:nvSpPr>
        <p:spPr>
          <a:xfrm>
            <a:off x="4883040" y="1746360"/>
            <a:ext cx="749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3</a:t>
            </a:r>
            <a:endParaRPr lang="en-US" sz="1300" b="0" u="none" strike="noStrike">
              <a:solidFill>
                <a:srgbClr val="FFFFFF"/>
              </a:solidFill>
              <a:effectLst/>
              <a:uFillTx/>
              <a:latin typeface="Arial"/>
            </a:endParaRPr>
          </a:p>
        </p:txBody>
      </p:sp>
      <p:sp>
        <p:nvSpPr>
          <p:cNvPr id="260" name="Text 14"/>
          <p:cNvSpPr/>
          <p:nvPr/>
        </p:nvSpPr>
        <p:spPr>
          <a:xfrm>
            <a:off x="4443840" y="246888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5F8FC"/>
                </a:solidFill>
                <a:effectLst/>
                <a:uFillTx/>
                <a:latin typeface="Aptos"/>
              </a:rPr>
              <a:t>Test</a:t>
            </a:r>
            <a:endParaRPr lang="en-US" sz="1400" b="0" u="none" strike="noStrike">
              <a:solidFill>
                <a:srgbClr val="FFFFFF"/>
              </a:solidFill>
              <a:effectLst/>
              <a:uFillTx/>
              <a:latin typeface="Arial"/>
            </a:endParaRPr>
          </a:p>
        </p:txBody>
      </p:sp>
      <p:sp>
        <p:nvSpPr>
          <p:cNvPr id="261" name="Text 15"/>
          <p:cNvSpPr/>
          <p:nvPr/>
        </p:nvSpPr>
        <p:spPr>
          <a:xfrm>
            <a:off x="4443840" y="2788920"/>
            <a:ext cx="1627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AAB5C8"/>
                </a:solidFill>
                <a:effectLst/>
                <a:uFillTx/>
                <a:latin typeface="Aptos"/>
              </a:rPr>
              <a:t>One low-risk discriminating test</a:t>
            </a:r>
            <a:endParaRPr lang="en-US" sz="980" b="0" u="none" strike="noStrike">
              <a:solidFill>
                <a:srgbClr val="FFFFFF"/>
              </a:solidFill>
              <a:effectLst/>
              <a:uFillTx/>
              <a:latin typeface="Arial"/>
            </a:endParaRPr>
          </a:p>
        </p:txBody>
      </p:sp>
      <p:sp>
        <p:nvSpPr>
          <p:cNvPr id="262" name="Shape 16"/>
          <p:cNvSpPr/>
          <p:nvPr/>
        </p:nvSpPr>
        <p:spPr>
          <a:xfrm>
            <a:off x="5678280" y="1901880"/>
            <a:ext cx="52128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263" name="Shape 17"/>
          <p:cNvSpPr/>
          <p:nvPr/>
        </p:nvSpPr>
        <p:spPr>
          <a:xfrm>
            <a:off x="6784920" y="1517760"/>
            <a:ext cx="749520" cy="749520"/>
          </a:xfrm>
          <a:prstGeom prst="ellipse">
            <a:avLst/>
          </a:prstGeom>
          <a:solidFill>
            <a:srgbClr val="40E0A1">
              <a:alpha val="75000"/>
            </a:srgbClr>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4" name="Text 18"/>
          <p:cNvSpPr/>
          <p:nvPr/>
        </p:nvSpPr>
        <p:spPr>
          <a:xfrm>
            <a:off x="6784920" y="1746360"/>
            <a:ext cx="749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4</a:t>
            </a:r>
            <a:endParaRPr lang="en-US" sz="1300" b="0" u="none" strike="noStrike">
              <a:solidFill>
                <a:srgbClr val="FFFFFF"/>
              </a:solidFill>
              <a:effectLst/>
              <a:uFillTx/>
              <a:latin typeface="Arial"/>
            </a:endParaRPr>
          </a:p>
        </p:txBody>
      </p:sp>
      <p:sp>
        <p:nvSpPr>
          <p:cNvPr id="265" name="Text 19"/>
          <p:cNvSpPr/>
          <p:nvPr/>
        </p:nvSpPr>
        <p:spPr>
          <a:xfrm>
            <a:off x="6346080" y="246888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5F8FC"/>
                </a:solidFill>
                <a:effectLst/>
                <a:uFillTx/>
                <a:latin typeface="Aptos"/>
              </a:rPr>
              <a:t>Update</a:t>
            </a:r>
            <a:endParaRPr lang="en-US" sz="1400" b="0" u="none" strike="noStrike">
              <a:solidFill>
                <a:srgbClr val="FFFFFF"/>
              </a:solidFill>
              <a:effectLst/>
              <a:uFillTx/>
              <a:latin typeface="Arial"/>
            </a:endParaRPr>
          </a:p>
        </p:txBody>
      </p:sp>
      <p:sp>
        <p:nvSpPr>
          <p:cNvPr id="266" name="Text 20"/>
          <p:cNvSpPr/>
          <p:nvPr/>
        </p:nvSpPr>
        <p:spPr>
          <a:xfrm>
            <a:off x="6346080" y="2788920"/>
            <a:ext cx="1627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AAB5C8"/>
                </a:solidFill>
                <a:effectLst/>
                <a:uFillTx/>
                <a:latin typeface="Aptos"/>
              </a:rPr>
              <a:t>Feed the observation back</a:t>
            </a:r>
            <a:endParaRPr lang="en-US" sz="980" b="0" u="none" strike="noStrike">
              <a:solidFill>
                <a:srgbClr val="FFFFFF"/>
              </a:solidFill>
              <a:effectLst/>
              <a:uFillTx/>
              <a:latin typeface="Arial"/>
            </a:endParaRPr>
          </a:p>
        </p:txBody>
      </p:sp>
      <p:sp>
        <p:nvSpPr>
          <p:cNvPr id="267" name="Shape 21"/>
          <p:cNvSpPr/>
          <p:nvPr/>
        </p:nvSpPr>
        <p:spPr>
          <a:xfrm>
            <a:off x="7580160" y="1901880"/>
            <a:ext cx="52128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268" name="Shape 22"/>
          <p:cNvSpPr/>
          <p:nvPr/>
        </p:nvSpPr>
        <p:spPr>
          <a:xfrm>
            <a:off x="8686800" y="1517760"/>
            <a:ext cx="749520" cy="749520"/>
          </a:xfrm>
          <a:prstGeom prst="ellipse">
            <a:avLst/>
          </a:prstGeom>
          <a:solidFill>
            <a:srgbClr val="33D6FF">
              <a:alpha val="75000"/>
            </a:srgbClr>
          </a:solidFill>
          <a:ln w="1524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69" name="Text 23"/>
          <p:cNvSpPr/>
          <p:nvPr/>
        </p:nvSpPr>
        <p:spPr>
          <a:xfrm>
            <a:off x="8686800" y="1746360"/>
            <a:ext cx="749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5</a:t>
            </a:r>
            <a:endParaRPr lang="en-US" sz="1300" b="0" u="none" strike="noStrike">
              <a:solidFill>
                <a:srgbClr val="FFFFFF"/>
              </a:solidFill>
              <a:effectLst/>
              <a:uFillTx/>
              <a:latin typeface="Arial"/>
            </a:endParaRPr>
          </a:p>
        </p:txBody>
      </p:sp>
      <p:sp>
        <p:nvSpPr>
          <p:cNvPr id="270" name="Text 24"/>
          <p:cNvSpPr/>
          <p:nvPr/>
        </p:nvSpPr>
        <p:spPr>
          <a:xfrm>
            <a:off x="8247960" y="246888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5F8FC"/>
                </a:solidFill>
                <a:effectLst/>
                <a:uFillTx/>
                <a:latin typeface="Aptos"/>
              </a:rPr>
              <a:t>Fix</a:t>
            </a:r>
            <a:endParaRPr lang="en-US" sz="1400" b="0" u="none" strike="noStrike">
              <a:solidFill>
                <a:srgbClr val="FFFFFF"/>
              </a:solidFill>
              <a:effectLst/>
              <a:uFillTx/>
              <a:latin typeface="Arial"/>
            </a:endParaRPr>
          </a:p>
        </p:txBody>
      </p:sp>
      <p:sp>
        <p:nvSpPr>
          <p:cNvPr id="271" name="Text 25"/>
          <p:cNvSpPr/>
          <p:nvPr/>
        </p:nvSpPr>
        <p:spPr>
          <a:xfrm>
            <a:off x="8247960" y="2788920"/>
            <a:ext cx="1627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AAB5C8"/>
                </a:solidFill>
                <a:effectLst/>
                <a:uFillTx/>
                <a:latin typeface="Aptos"/>
              </a:rPr>
              <a:t>Apply the smallest proven change</a:t>
            </a:r>
            <a:endParaRPr lang="en-US" sz="980" b="0" u="none" strike="noStrike">
              <a:solidFill>
                <a:srgbClr val="FFFFFF"/>
              </a:solidFill>
              <a:effectLst/>
              <a:uFillTx/>
              <a:latin typeface="Arial"/>
            </a:endParaRPr>
          </a:p>
        </p:txBody>
      </p:sp>
      <p:sp>
        <p:nvSpPr>
          <p:cNvPr id="272" name="Shape 26"/>
          <p:cNvSpPr/>
          <p:nvPr/>
        </p:nvSpPr>
        <p:spPr>
          <a:xfrm>
            <a:off x="9482040" y="1901880"/>
            <a:ext cx="52128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273" name="Shape 27"/>
          <p:cNvSpPr/>
          <p:nvPr/>
        </p:nvSpPr>
        <p:spPr>
          <a:xfrm>
            <a:off x="10588680" y="1517760"/>
            <a:ext cx="749520" cy="749520"/>
          </a:xfrm>
          <a:prstGeom prst="ellipse">
            <a:avLst/>
          </a:prstGeom>
          <a:solidFill>
            <a:srgbClr val="40E0A1">
              <a:alpha val="75000"/>
            </a:srgbClr>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4" name="Text 28"/>
          <p:cNvSpPr/>
          <p:nvPr/>
        </p:nvSpPr>
        <p:spPr>
          <a:xfrm>
            <a:off x="10588680" y="1746360"/>
            <a:ext cx="7495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0A1020"/>
                </a:solidFill>
                <a:effectLst/>
                <a:uFillTx/>
                <a:latin typeface="Aptos"/>
              </a:rPr>
              <a:t>6</a:t>
            </a:r>
            <a:endParaRPr lang="en-US" sz="1300" b="0" u="none" strike="noStrike">
              <a:solidFill>
                <a:srgbClr val="FFFFFF"/>
              </a:solidFill>
              <a:effectLst/>
              <a:uFillTx/>
              <a:latin typeface="Arial"/>
            </a:endParaRPr>
          </a:p>
        </p:txBody>
      </p:sp>
      <p:sp>
        <p:nvSpPr>
          <p:cNvPr id="275" name="Text 29"/>
          <p:cNvSpPr/>
          <p:nvPr/>
        </p:nvSpPr>
        <p:spPr>
          <a:xfrm>
            <a:off x="10149840" y="246888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u="none" strike="noStrike">
                <a:solidFill>
                  <a:srgbClr val="F5F8FC"/>
                </a:solidFill>
                <a:effectLst/>
                <a:uFillTx/>
                <a:latin typeface="Aptos"/>
              </a:rPr>
              <a:t>Verify</a:t>
            </a:r>
            <a:endParaRPr lang="en-US" sz="1400" b="0" u="none" strike="noStrike">
              <a:solidFill>
                <a:srgbClr val="FFFFFF"/>
              </a:solidFill>
              <a:effectLst/>
              <a:uFillTx/>
              <a:latin typeface="Arial"/>
            </a:endParaRPr>
          </a:p>
        </p:txBody>
      </p:sp>
      <p:sp>
        <p:nvSpPr>
          <p:cNvPr id="276" name="Text 30"/>
          <p:cNvSpPr/>
          <p:nvPr/>
        </p:nvSpPr>
        <p:spPr>
          <a:xfrm>
            <a:off x="10149840" y="2788920"/>
            <a:ext cx="16272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0" u="none" strike="noStrike">
                <a:solidFill>
                  <a:srgbClr val="AAB5C8"/>
                </a:solidFill>
                <a:effectLst/>
                <a:uFillTx/>
                <a:latin typeface="Aptos"/>
              </a:rPr>
              <a:t>Re-test and document result</a:t>
            </a:r>
            <a:endParaRPr lang="en-US" sz="980" b="0" u="none" strike="noStrike">
              <a:solidFill>
                <a:srgbClr val="FFFFFF"/>
              </a:solidFill>
              <a:effectLst/>
              <a:uFillTx/>
              <a:latin typeface="Arial"/>
            </a:endParaRPr>
          </a:p>
        </p:txBody>
      </p:sp>
      <p:sp>
        <p:nvSpPr>
          <p:cNvPr id="277" name="Shape 31"/>
          <p:cNvSpPr/>
          <p:nvPr/>
        </p:nvSpPr>
        <p:spPr>
          <a:xfrm>
            <a:off x="749880" y="3822120"/>
            <a:ext cx="5120280" cy="1416960"/>
          </a:xfrm>
          <a:prstGeom prst="roundRect">
            <a:avLst>
              <a:gd name="adj" fmla="val 5161"/>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78" name="Shape 32"/>
          <p:cNvSpPr/>
          <p:nvPr/>
        </p:nvSpPr>
        <p:spPr>
          <a:xfrm>
            <a:off x="749880" y="3822120"/>
            <a:ext cx="54360" cy="141696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79" name="Text 33"/>
          <p:cNvSpPr/>
          <p:nvPr/>
        </p:nvSpPr>
        <p:spPr>
          <a:xfrm>
            <a:off x="951120" y="3986640"/>
            <a:ext cx="477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Good maker inputs</a:t>
            </a:r>
            <a:endParaRPr lang="en-US" sz="1500" b="0" u="none" strike="noStrike">
              <a:solidFill>
                <a:srgbClr val="FFFFFF"/>
              </a:solidFill>
              <a:effectLst/>
              <a:uFillTx/>
              <a:latin typeface="Arial"/>
            </a:endParaRPr>
          </a:p>
        </p:txBody>
      </p:sp>
      <p:sp>
        <p:nvSpPr>
          <p:cNvPr id="280" name="Text 34"/>
          <p:cNvSpPr/>
          <p:nvPr/>
        </p:nvSpPr>
        <p:spPr>
          <a:xfrm>
            <a:off x="951120" y="4325040"/>
            <a:ext cx="4772880" cy="758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00" b="0" u="none" strike="noStrike">
                <a:solidFill>
                  <a:srgbClr val="AAB5C8"/>
                </a:solidFill>
                <a:effectLst/>
                <a:uFillTx/>
                <a:latin typeface="Aptos"/>
              </a:rPr>
              <a:t>Error codes • serial logs • photos • wiring diagram • exact model number • firmware/software version • measurements • “what changed?”</a:t>
            </a:r>
            <a:endParaRPr lang="en-US" sz="1100" b="0" u="none" strike="noStrike">
              <a:solidFill>
                <a:srgbClr val="FFFFFF"/>
              </a:solidFill>
              <a:effectLst/>
              <a:uFillTx/>
              <a:latin typeface="Arial"/>
            </a:endParaRPr>
          </a:p>
        </p:txBody>
      </p:sp>
      <p:sp>
        <p:nvSpPr>
          <p:cNvPr id="281" name="Shape 35"/>
          <p:cNvSpPr/>
          <p:nvPr/>
        </p:nvSpPr>
        <p:spPr>
          <a:xfrm>
            <a:off x="6263640" y="3822120"/>
            <a:ext cx="5120280" cy="1416960"/>
          </a:xfrm>
          <a:prstGeom prst="roundRect">
            <a:avLst>
              <a:gd name="adj" fmla="val 5161"/>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2" name="Shape 36"/>
          <p:cNvSpPr/>
          <p:nvPr/>
        </p:nvSpPr>
        <p:spPr>
          <a:xfrm>
            <a:off x="6263640" y="3822120"/>
            <a:ext cx="54360" cy="141696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3" name="Text 37"/>
          <p:cNvSpPr/>
          <p:nvPr/>
        </p:nvSpPr>
        <p:spPr>
          <a:xfrm>
            <a:off x="6464880" y="3986640"/>
            <a:ext cx="4772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dirty="0">
                <a:solidFill>
                  <a:srgbClr val="F5F8FC"/>
                </a:solidFill>
                <a:effectLst/>
                <a:uFillTx/>
                <a:latin typeface="Aptos"/>
              </a:rPr>
              <a:t>Tell AI to avoid</a:t>
            </a:r>
            <a:endParaRPr lang="en-US" sz="1500" b="0" u="none" strike="noStrike" dirty="0">
              <a:solidFill>
                <a:srgbClr val="FFFFFF"/>
              </a:solidFill>
              <a:effectLst/>
              <a:uFillTx/>
              <a:latin typeface="Arial"/>
            </a:endParaRPr>
          </a:p>
        </p:txBody>
      </p:sp>
      <p:sp>
        <p:nvSpPr>
          <p:cNvPr id="284" name="Text 38"/>
          <p:cNvSpPr/>
          <p:nvPr/>
        </p:nvSpPr>
        <p:spPr>
          <a:xfrm>
            <a:off x="6464880" y="4325040"/>
            <a:ext cx="4772880" cy="758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00" b="0" u="none" strike="noStrike">
                <a:solidFill>
                  <a:srgbClr val="AAB5C8"/>
                </a:solidFill>
                <a:effectLst/>
                <a:uFillTx/>
                <a:latin typeface="Aptos"/>
              </a:rPr>
              <a:t>Replacing five parts at once • unsafe electrical guesses • bypassing protections • assuming a photo proves hidden damage • claiming certainty without a test</a:t>
            </a:r>
            <a:endParaRPr lang="en-US" sz="1100" b="0" u="none" strike="noStrike">
              <a:solidFill>
                <a:srgbClr val="FFFFFF"/>
              </a:solidFill>
              <a:effectLst/>
              <a:uFillTx/>
              <a:latin typeface="Arial"/>
            </a:endParaRPr>
          </a:p>
        </p:txBody>
      </p:sp>
      <p:sp>
        <p:nvSpPr>
          <p:cNvPr id="285" name="PlaceHolder 1"/>
          <p:cNvSpPr>
            <a:spLocks noGrp="1"/>
          </p:cNvSpPr>
          <p:nvPr>
            <p:ph type="sldNum" idx="13"/>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76E2F0DC-BE06-474A-B547-A7C483DF8F42}" type="slidenum">
              <a:rPr lang="en-US" sz="750" b="0" u="none" strike="noStrike">
                <a:solidFill>
                  <a:srgbClr val="73809A"/>
                </a:solidFill>
                <a:effectLst/>
                <a:uFillTx/>
                <a:latin typeface="Aptos"/>
                <a:ea typeface="Aptos"/>
              </a:rPr>
              <a:t>9</a:t>
            </a:fld>
            <a:endParaRPr lang="en-US" sz="750" b="0" u="none" strike="noStrike">
              <a:solidFill>
                <a:srgbClr val="FFFFFF"/>
              </a:solidFill>
              <a:effectLst/>
              <a:uFillTx/>
              <a:latin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Use case: code development &amp; debugging</a:t>
            </a:r>
            <a:endParaRPr lang="en-US" sz="2600" b="0" u="none" strike="noStrike">
              <a:solidFill>
                <a:srgbClr val="FFFFFF"/>
              </a:solidFill>
              <a:effectLst/>
              <a:uFillTx/>
              <a:latin typeface="Arial"/>
            </a:endParaRPr>
          </a:p>
        </p:txBody>
      </p:sp>
      <p:sp>
        <p:nvSpPr>
          <p:cNvPr id="28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Treat AI like a fast pair programmer whose work still needs tests and review.</a:t>
            </a:r>
            <a:endParaRPr lang="en-US" sz="1150" b="0" u="none" strike="noStrike">
              <a:solidFill>
                <a:srgbClr val="FFFFFF"/>
              </a:solidFill>
              <a:effectLst/>
              <a:uFillTx/>
              <a:latin typeface="Arial"/>
            </a:endParaRPr>
          </a:p>
        </p:txBody>
      </p:sp>
      <p:sp>
        <p:nvSpPr>
          <p:cNvPr id="288" name="Shape 2"/>
          <p:cNvSpPr/>
          <p:nvPr/>
        </p:nvSpPr>
        <p:spPr>
          <a:xfrm>
            <a:off x="621720" y="1353240"/>
            <a:ext cx="3492720" cy="3958920"/>
          </a:xfrm>
          <a:prstGeom prst="roundRect">
            <a:avLst>
              <a:gd name="adj" fmla="val 209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289" name="Shape 3"/>
          <p:cNvSpPr/>
          <p:nvPr/>
        </p:nvSpPr>
        <p:spPr>
          <a:xfrm>
            <a:off x="621720" y="1353240"/>
            <a:ext cx="54360" cy="395892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290" name="Text 4"/>
          <p:cNvSpPr/>
          <p:nvPr/>
        </p:nvSpPr>
        <p:spPr>
          <a:xfrm>
            <a:off x="822960" y="1517760"/>
            <a:ext cx="3145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Great for</a:t>
            </a:r>
            <a:endParaRPr lang="en-US" sz="1600" b="0" u="none" strike="noStrike">
              <a:solidFill>
                <a:srgbClr val="FFFFFF"/>
              </a:solidFill>
              <a:effectLst/>
              <a:uFillTx/>
              <a:latin typeface="Arial"/>
            </a:endParaRPr>
          </a:p>
        </p:txBody>
      </p:sp>
      <p:sp>
        <p:nvSpPr>
          <p:cNvPr id="291" name="Text 5"/>
          <p:cNvSpPr/>
          <p:nvPr/>
        </p:nvSpPr>
        <p:spPr>
          <a:xfrm>
            <a:off x="822960" y="1856160"/>
            <a:ext cx="3145320" cy="3300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1000" b="0" u="none" strike="noStrike">
              <a:solidFill>
                <a:schemeClr val="dk1"/>
              </a:solidFill>
              <a:effectLst/>
              <a:uFillTx/>
              <a:latin typeface="Aptos"/>
            </a:endParaRPr>
          </a:p>
        </p:txBody>
      </p:sp>
      <p:sp>
        <p:nvSpPr>
          <p:cNvPr id="292" name="Shape 6"/>
          <p:cNvSpPr/>
          <p:nvPr/>
        </p:nvSpPr>
        <p:spPr>
          <a:xfrm>
            <a:off x="822960" y="204840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93" name="Text 7"/>
          <p:cNvSpPr/>
          <p:nvPr/>
        </p:nvSpPr>
        <p:spPr>
          <a:xfrm>
            <a:off x="1042560" y="196596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Explaining unfamiliar code</a:t>
            </a:r>
            <a:endParaRPr lang="en-US" sz="1120" b="0" u="none" strike="noStrike">
              <a:solidFill>
                <a:srgbClr val="FFFFFF"/>
              </a:solidFill>
              <a:effectLst/>
              <a:uFillTx/>
              <a:latin typeface="Arial"/>
            </a:endParaRPr>
          </a:p>
        </p:txBody>
      </p:sp>
      <p:sp>
        <p:nvSpPr>
          <p:cNvPr id="294" name="Shape 8"/>
          <p:cNvSpPr/>
          <p:nvPr/>
        </p:nvSpPr>
        <p:spPr>
          <a:xfrm>
            <a:off x="822960" y="265176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95" name="Text 9"/>
          <p:cNvSpPr/>
          <p:nvPr/>
        </p:nvSpPr>
        <p:spPr>
          <a:xfrm>
            <a:off x="1042560" y="256932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Generating scaffolding &amp; tests</a:t>
            </a:r>
            <a:endParaRPr lang="en-US" sz="1120" b="0" u="none" strike="noStrike">
              <a:solidFill>
                <a:srgbClr val="FFFFFF"/>
              </a:solidFill>
              <a:effectLst/>
              <a:uFillTx/>
              <a:latin typeface="Arial"/>
            </a:endParaRPr>
          </a:p>
        </p:txBody>
      </p:sp>
      <p:sp>
        <p:nvSpPr>
          <p:cNvPr id="296" name="Shape 10"/>
          <p:cNvSpPr/>
          <p:nvPr/>
        </p:nvSpPr>
        <p:spPr>
          <a:xfrm>
            <a:off x="822960" y="325512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97" name="Text 11"/>
          <p:cNvSpPr/>
          <p:nvPr/>
        </p:nvSpPr>
        <p:spPr>
          <a:xfrm>
            <a:off x="1042560" y="317304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Refactoring with constraints</a:t>
            </a:r>
            <a:endParaRPr lang="en-US" sz="1120" b="0" u="none" strike="noStrike">
              <a:solidFill>
                <a:srgbClr val="FFFFFF"/>
              </a:solidFill>
              <a:effectLst/>
              <a:uFillTx/>
              <a:latin typeface="Arial"/>
            </a:endParaRPr>
          </a:p>
        </p:txBody>
      </p:sp>
      <p:sp>
        <p:nvSpPr>
          <p:cNvPr id="298" name="Shape 12"/>
          <p:cNvSpPr/>
          <p:nvPr/>
        </p:nvSpPr>
        <p:spPr>
          <a:xfrm>
            <a:off x="822960" y="385884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299" name="Text 13"/>
          <p:cNvSpPr/>
          <p:nvPr/>
        </p:nvSpPr>
        <p:spPr>
          <a:xfrm>
            <a:off x="1042560" y="377640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Interpreting stack traces</a:t>
            </a:r>
            <a:endParaRPr lang="en-US" sz="1120" b="0" u="none" strike="noStrike">
              <a:solidFill>
                <a:srgbClr val="FFFFFF"/>
              </a:solidFill>
              <a:effectLst/>
              <a:uFillTx/>
              <a:latin typeface="Arial"/>
            </a:endParaRPr>
          </a:p>
        </p:txBody>
      </p:sp>
      <p:sp>
        <p:nvSpPr>
          <p:cNvPr id="300" name="Shape 14"/>
          <p:cNvSpPr/>
          <p:nvPr/>
        </p:nvSpPr>
        <p:spPr>
          <a:xfrm>
            <a:off x="822960" y="4462200"/>
            <a:ext cx="109440" cy="109440"/>
          </a:xfrm>
          <a:prstGeom prst="ellipse">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301" name="Text 15"/>
          <p:cNvSpPr/>
          <p:nvPr/>
        </p:nvSpPr>
        <p:spPr>
          <a:xfrm>
            <a:off x="1042560" y="438012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Drafting regex / SQL / scripts</a:t>
            </a:r>
            <a:endParaRPr lang="en-US" sz="1120" b="0" u="none" strike="noStrike">
              <a:solidFill>
                <a:srgbClr val="FFFFFF"/>
              </a:solidFill>
              <a:effectLst/>
              <a:uFillTx/>
              <a:latin typeface="Arial"/>
            </a:endParaRPr>
          </a:p>
        </p:txBody>
      </p:sp>
      <p:sp>
        <p:nvSpPr>
          <p:cNvPr id="302" name="Shape 16"/>
          <p:cNvSpPr/>
          <p:nvPr/>
        </p:nvSpPr>
        <p:spPr>
          <a:xfrm>
            <a:off x="4434840" y="1353240"/>
            <a:ext cx="3492720" cy="3958920"/>
          </a:xfrm>
          <a:prstGeom prst="roundRect">
            <a:avLst>
              <a:gd name="adj" fmla="val 209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03" name="Shape 17"/>
          <p:cNvSpPr/>
          <p:nvPr/>
        </p:nvSpPr>
        <p:spPr>
          <a:xfrm>
            <a:off x="4434840" y="1353240"/>
            <a:ext cx="54360" cy="395892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04" name="Text 18"/>
          <p:cNvSpPr/>
          <p:nvPr/>
        </p:nvSpPr>
        <p:spPr>
          <a:xfrm>
            <a:off x="4636080" y="1517760"/>
            <a:ext cx="3145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Give it</a:t>
            </a:r>
            <a:endParaRPr lang="en-US" sz="1600" b="0" u="none" strike="noStrike">
              <a:solidFill>
                <a:srgbClr val="FFFFFF"/>
              </a:solidFill>
              <a:effectLst/>
              <a:uFillTx/>
              <a:latin typeface="Arial"/>
            </a:endParaRPr>
          </a:p>
        </p:txBody>
      </p:sp>
      <p:sp>
        <p:nvSpPr>
          <p:cNvPr id="305" name="Text 19"/>
          <p:cNvSpPr/>
          <p:nvPr/>
        </p:nvSpPr>
        <p:spPr>
          <a:xfrm>
            <a:off x="4636080" y="1856160"/>
            <a:ext cx="3145320" cy="3300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1000" b="0" u="none" strike="noStrike">
              <a:solidFill>
                <a:schemeClr val="dk1"/>
              </a:solidFill>
              <a:effectLst/>
              <a:uFillTx/>
              <a:latin typeface="Aptos"/>
            </a:endParaRPr>
          </a:p>
        </p:txBody>
      </p:sp>
      <p:sp>
        <p:nvSpPr>
          <p:cNvPr id="306" name="Shape 20"/>
          <p:cNvSpPr/>
          <p:nvPr/>
        </p:nvSpPr>
        <p:spPr>
          <a:xfrm>
            <a:off x="4636080" y="2048400"/>
            <a:ext cx="109440" cy="10944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307" name="Text 21"/>
          <p:cNvSpPr/>
          <p:nvPr/>
        </p:nvSpPr>
        <p:spPr>
          <a:xfrm>
            <a:off x="4855320" y="196596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Relevant files / snippets</a:t>
            </a:r>
            <a:endParaRPr lang="en-US" sz="1120" b="0" u="none" strike="noStrike">
              <a:solidFill>
                <a:srgbClr val="FFFFFF"/>
              </a:solidFill>
              <a:effectLst/>
              <a:uFillTx/>
              <a:latin typeface="Arial"/>
            </a:endParaRPr>
          </a:p>
        </p:txBody>
      </p:sp>
      <p:sp>
        <p:nvSpPr>
          <p:cNvPr id="308" name="Shape 22"/>
          <p:cNvSpPr/>
          <p:nvPr/>
        </p:nvSpPr>
        <p:spPr>
          <a:xfrm>
            <a:off x="4636080" y="2651760"/>
            <a:ext cx="109440" cy="10944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309" name="Text 23"/>
          <p:cNvSpPr/>
          <p:nvPr/>
        </p:nvSpPr>
        <p:spPr>
          <a:xfrm>
            <a:off x="4855320" y="256932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Exact error + reproduction</a:t>
            </a:r>
            <a:endParaRPr lang="en-US" sz="1120" b="0" u="none" strike="noStrike">
              <a:solidFill>
                <a:srgbClr val="FFFFFF"/>
              </a:solidFill>
              <a:effectLst/>
              <a:uFillTx/>
              <a:latin typeface="Arial"/>
            </a:endParaRPr>
          </a:p>
        </p:txBody>
      </p:sp>
      <p:sp>
        <p:nvSpPr>
          <p:cNvPr id="310" name="Shape 24"/>
          <p:cNvSpPr/>
          <p:nvPr/>
        </p:nvSpPr>
        <p:spPr>
          <a:xfrm>
            <a:off x="4636080" y="3255120"/>
            <a:ext cx="109440" cy="10944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311" name="Text 25"/>
          <p:cNvSpPr/>
          <p:nvPr/>
        </p:nvSpPr>
        <p:spPr>
          <a:xfrm>
            <a:off x="4855320" y="317304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Language &amp; version</a:t>
            </a:r>
            <a:endParaRPr lang="en-US" sz="1120" b="0" u="none" strike="noStrike">
              <a:solidFill>
                <a:srgbClr val="FFFFFF"/>
              </a:solidFill>
              <a:effectLst/>
              <a:uFillTx/>
              <a:latin typeface="Arial"/>
            </a:endParaRPr>
          </a:p>
        </p:txBody>
      </p:sp>
      <p:sp>
        <p:nvSpPr>
          <p:cNvPr id="312" name="Shape 26"/>
          <p:cNvSpPr/>
          <p:nvPr/>
        </p:nvSpPr>
        <p:spPr>
          <a:xfrm>
            <a:off x="4636080" y="3858840"/>
            <a:ext cx="109440" cy="10944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313" name="Text 27"/>
          <p:cNvSpPr/>
          <p:nvPr/>
        </p:nvSpPr>
        <p:spPr>
          <a:xfrm>
            <a:off x="4855320" y="377640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Expected vs actual behavior</a:t>
            </a:r>
            <a:endParaRPr lang="en-US" sz="1120" b="0" u="none" strike="noStrike">
              <a:solidFill>
                <a:srgbClr val="FFFFFF"/>
              </a:solidFill>
              <a:effectLst/>
              <a:uFillTx/>
              <a:latin typeface="Arial"/>
            </a:endParaRPr>
          </a:p>
        </p:txBody>
      </p:sp>
      <p:sp>
        <p:nvSpPr>
          <p:cNvPr id="314" name="Shape 28"/>
          <p:cNvSpPr/>
          <p:nvPr/>
        </p:nvSpPr>
        <p:spPr>
          <a:xfrm>
            <a:off x="4636080" y="4462200"/>
            <a:ext cx="109440" cy="109440"/>
          </a:xfrm>
          <a:prstGeom prst="ellipse">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000000"/>
              </a:solidFill>
              <a:effectLst/>
              <a:uFillTx/>
              <a:latin typeface="Arial"/>
            </a:endParaRPr>
          </a:p>
        </p:txBody>
      </p:sp>
      <p:sp>
        <p:nvSpPr>
          <p:cNvPr id="315" name="Text 29"/>
          <p:cNvSpPr/>
          <p:nvPr/>
        </p:nvSpPr>
        <p:spPr>
          <a:xfrm>
            <a:off x="4855320" y="438012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Tests / lint / compiler output</a:t>
            </a:r>
            <a:endParaRPr lang="en-US" sz="1120" b="0" u="none" strike="noStrike">
              <a:solidFill>
                <a:srgbClr val="FFFFFF"/>
              </a:solidFill>
              <a:effectLst/>
              <a:uFillTx/>
              <a:latin typeface="Arial"/>
            </a:endParaRPr>
          </a:p>
        </p:txBody>
      </p:sp>
      <p:sp>
        <p:nvSpPr>
          <p:cNvPr id="316" name="Shape 30"/>
          <p:cNvSpPr/>
          <p:nvPr/>
        </p:nvSpPr>
        <p:spPr>
          <a:xfrm>
            <a:off x="8247960" y="1353240"/>
            <a:ext cx="3492720" cy="3958920"/>
          </a:xfrm>
          <a:prstGeom prst="roundRect">
            <a:avLst>
              <a:gd name="adj" fmla="val 209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7" name="Shape 31"/>
          <p:cNvSpPr/>
          <p:nvPr/>
        </p:nvSpPr>
        <p:spPr>
          <a:xfrm>
            <a:off x="8247960" y="1353240"/>
            <a:ext cx="54360" cy="395892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18" name="Text 32"/>
          <p:cNvSpPr/>
          <p:nvPr/>
        </p:nvSpPr>
        <p:spPr>
          <a:xfrm>
            <a:off x="8449200" y="1517760"/>
            <a:ext cx="31453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600" b="1" u="none" strike="noStrike">
                <a:solidFill>
                  <a:srgbClr val="F5F8FC"/>
                </a:solidFill>
                <a:effectLst/>
                <a:uFillTx/>
                <a:latin typeface="Aptos"/>
              </a:rPr>
              <a:t>Do not trust blindly</a:t>
            </a:r>
            <a:endParaRPr lang="en-US" sz="1600" b="0" u="none" strike="noStrike">
              <a:solidFill>
                <a:srgbClr val="FFFFFF"/>
              </a:solidFill>
              <a:effectLst/>
              <a:uFillTx/>
              <a:latin typeface="Arial"/>
            </a:endParaRPr>
          </a:p>
        </p:txBody>
      </p:sp>
      <p:sp>
        <p:nvSpPr>
          <p:cNvPr id="319" name="Text 33"/>
          <p:cNvSpPr/>
          <p:nvPr/>
        </p:nvSpPr>
        <p:spPr>
          <a:xfrm>
            <a:off x="8449200" y="1856160"/>
            <a:ext cx="3145320" cy="33004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1000" b="0" u="none" strike="noStrike">
              <a:solidFill>
                <a:schemeClr val="dk1"/>
              </a:solidFill>
              <a:effectLst/>
              <a:uFillTx/>
              <a:latin typeface="Aptos"/>
            </a:endParaRPr>
          </a:p>
        </p:txBody>
      </p:sp>
      <p:sp>
        <p:nvSpPr>
          <p:cNvPr id="320" name="Shape 34"/>
          <p:cNvSpPr/>
          <p:nvPr/>
        </p:nvSpPr>
        <p:spPr>
          <a:xfrm>
            <a:off x="8449200" y="204840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21" name="Text 35"/>
          <p:cNvSpPr/>
          <p:nvPr/>
        </p:nvSpPr>
        <p:spPr>
          <a:xfrm>
            <a:off x="8668440" y="196596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Dependency versions</a:t>
            </a:r>
            <a:endParaRPr lang="en-US" sz="1120" b="0" u="none" strike="noStrike">
              <a:solidFill>
                <a:srgbClr val="FFFFFF"/>
              </a:solidFill>
              <a:effectLst/>
              <a:uFillTx/>
              <a:latin typeface="Arial"/>
            </a:endParaRPr>
          </a:p>
        </p:txBody>
      </p:sp>
      <p:sp>
        <p:nvSpPr>
          <p:cNvPr id="322" name="Shape 36"/>
          <p:cNvSpPr/>
          <p:nvPr/>
        </p:nvSpPr>
        <p:spPr>
          <a:xfrm>
            <a:off x="8449200" y="265176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23" name="Text 37"/>
          <p:cNvSpPr/>
          <p:nvPr/>
        </p:nvSpPr>
        <p:spPr>
          <a:xfrm>
            <a:off x="8668440" y="256932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Security-sensitive code</a:t>
            </a:r>
            <a:endParaRPr lang="en-US" sz="1120" b="0" u="none" strike="noStrike">
              <a:solidFill>
                <a:srgbClr val="FFFFFF"/>
              </a:solidFill>
              <a:effectLst/>
              <a:uFillTx/>
              <a:latin typeface="Arial"/>
            </a:endParaRPr>
          </a:p>
        </p:txBody>
      </p:sp>
      <p:sp>
        <p:nvSpPr>
          <p:cNvPr id="324" name="Shape 38"/>
          <p:cNvSpPr/>
          <p:nvPr/>
        </p:nvSpPr>
        <p:spPr>
          <a:xfrm>
            <a:off x="8449200" y="325512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25" name="Text 39"/>
          <p:cNvSpPr/>
          <p:nvPr/>
        </p:nvSpPr>
        <p:spPr>
          <a:xfrm>
            <a:off x="8668440" y="317304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Destructive shell commands</a:t>
            </a:r>
            <a:endParaRPr lang="en-US" sz="1120" b="0" u="none" strike="noStrike">
              <a:solidFill>
                <a:srgbClr val="FFFFFF"/>
              </a:solidFill>
              <a:effectLst/>
              <a:uFillTx/>
              <a:latin typeface="Arial"/>
            </a:endParaRPr>
          </a:p>
        </p:txBody>
      </p:sp>
      <p:sp>
        <p:nvSpPr>
          <p:cNvPr id="326" name="Shape 40"/>
          <p:cNvSpPr/>
          <p:nvPr/>
        </p:nvSpPr>
        <p:spPr>
          <a:xfrm>
            <a:off x="8449200" y="385884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27" name="Text 41"/>
          <p:cNvSpPr/>
          <p:nvPr/>
        </p:nvSpPr>
        <p:spPr>
          <a:xfrm>
            <a:off x="8668440" y="377640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Concurrency / data loss edge cases</a:t>
            </a:r>
            <a:endParaRPr lang="en-US" sz="1120" b="0" u="none" strike="noStrike">
              <a:solidFill>
                <a:srgbClr val="FFFFFF"/>
              </a:solidFill>
              <a:effectLst/>
              <a:uFillTx/>
              <a:latin typeface="Arial"/>
            </a:endParaRPr>
          </a:p>
        </p:txBody>
      </p:sp>
      <p:sp>
        <p:nvSpPr>
          <p:cNvPr id="328" name="Shape 42"/>
          <p:cNvSpPr/>
          <p:nvPr/>
        </p:nvSpPr>
        <p:spPr>
          <a:xfrm>
            <a:off x="8449200" y="4462200"/>
            <a:ext cx="109440" cy="109440"/>
          </a:xfrm>
          <a:prstGeom prst="ellipse">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32760" rIns="90000" bIns="32760" anchor="t">
            <a:noAutofit/>
          </a:bodyPr>
          <a:lstStyle/>
          <a:p>
            <a:endParaRPr lang="en-US" sz="1800" b="0" u="none" strike="noStrike">
              <a:solidFill>
                <a:srgbClr val="FFFFFF"/>
              </a:solidFill>
              <a:effectLst/>
              <a:uFillTx/>
              <a:latin typeface="Arial"/>
            </a:endParaRPr>
          </a:p>
        </p:txBody>
      </p:sp>
      <p:sp>
        <p:nvSpPr>
          <p:cNvPr id="329" name="Text 43"/>
          <p:cNvSpPr/>
          <p:nvPr/>
        </p:nvSpPr>
        <p:spPr>
          <a:xfrm>
            <a:off x="8668440" y="4380120"/>
            <a:ext cx="2825280" cy="57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120" b="0" u="none" strike="noStrike">
                <a:solidFill>
                  <a:srgbClr val="F5F8FC"/>
                </a:solidFill>
                <a:effectLst/>
                <a:uFillTx/>
                <a:latin typeface="Aptos"/>
              </a:rPr>
              <a:t>“It compiles” without running it</a:t>
            </a:r>
            <a:endParaRPr lang="en-US" sz="1120" b="0" u="none" strike="noStrike">
              <a:solidFill>
                <a:srgbClr val="FFFFFF"/>
              </a:solidFill>
              <a:effectLst/>
              <a:uFillTx/>
              <a:latin typeface="Arial"/>
            </a:endParaRPr>
          </a:p>
        </p:txBody>
      </p:sp>
      <p:sp>
        <p:nvSpPr>
          <p:cNvPr id="330" name="Text 44"/>
          <p:cNvSpPr/>
          <p:nvPr/>
        </p:nvSpPr>
        <p:spPr>
          <a:xfrm>
            <a:off x="1051560" y="5559480"/>
            <a:ext cx="100580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50" b="1" u="none" strike="noStrike">
                <a:solidFill>
                  <a:srgbClr val="FFC857"/>
                </a:solidFill>
                <a:effectLst/>
                <a:uFillTx/>
                <a:latin typeface="Aptos"/>
              </a:rPr>
              <a:t>Best loop: ask → diff → run tests → inspect failures → feed results back → repeat.</a:t>
            </a:r>
            <a:endParaRPr lang="en-US" sz="1450" b="0" u="none" strike="noStrike">
              <a:solidFill>
                <a:srgbClr val="FFFFFF"/>
              </a:solidFill>
              <a:effectLst/>
              <a:uFillTx/>
              <a:latin typeface="Arial"/>
            </a:endParaRPr>
          </a:p>
        </p:txBody>
      </p:sp>
      <p:sp>
        <p:nvSpPr>
          <p:cNvPr id="331" name="Text 45"/>
          <p:cNvSpPr/>
          <p:nvPr/>
        </p:nvSpPr>
        <p:spPr>
          <a:xfrm>
            <a:off x="521280" y="6199560"/>
            <a:ext cx="110638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1" u="none" strike="noStrike">
                <a:solidFill>
                  <a:srgbClr val="73809A"/>
                </a:solidFill>
                <a:effectLst/>
                <a:uFillTx/>
                <a:latin typeface="Aptos"/>
              </a:rPr>
              <a:t>Source: </a:t>
            </a:r>
            <a:r>
              <a:rPr lang="en-US" sz="750" b="0" u="sng" strike="noStrike">
                <a:solidFill>
                  <a:srgbClr val="33D6FF"/>
                </a:solidFill>
                <a:effectLst/>
                <a:uFillTx/>
                <a:latin typeface="Aptos"/>
                <a:hlinkClick r:id="rId3"/>
              </a:rPr>
              <a:t>GitHub Copilot: models differ by task, latency, and hallucination behavior</a:t>
            </a:r>
            <a:endParaRPr lang="en-US" sz="750" b="0" u="none" strike="noStrike">
              <a:solidFill>
                <a:srgbClr val="FFFFFF"/>
              </a:solidFill>
              <a:effectLst/>
              <a:uFillTx/>
              <a:latin typeface="Arial"/>
            </a:endParaRPr>
          </a:p>
        </p:txBody>
      </p:sp>
      <p:sp>
        <p:nvSpPr>
          <p:cNvPr id="332" name="PlaceHolder 1"/>
          <p:cNvSpPr>
            <a:spLocks noGrp="1"/>
          </p:cNvSpPr>
          <p:nvPr>
            <p:ph type="sldNum" idx="14"/>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8A8D9BF4-B537-4AA1-AD06-EC1503D02010}" type="slidenum">
              <a:rPr lang="en-US" sz="750" b="0" u="none" strike="noStrike">
                <a:solidFill>
                  <a:srgbClr val="73809A"/>
                </a:solidFill>
                <a:effectLst/>
                <a:uFillTx/>
                <a:latin typeface="Aptos"/>
                <a:ea typeface="Aptos"/>
              </a:rPr>
              <a:t>10</a:t>
            </a:fld>
            <a:endParaRPr lang="en-US" sz="750" b="0" u="none" strike="noStrike">
              <a:solidFill>
                <a:srgbClr val="FFFFFF"/>
              </a:solidFill>
              <a:effectLst/>
              <a:uFillTx/>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3"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Use case: investigation, search, and research</a:t>
            </a:r>
            <a:endParaRPr lang="en-US" sz="2600" b="0" u="none" strike="noStrike">
              <a:solidFill>
                <a:srgbClr val="FFFFFF"/>
              </a:solidFill>
              <a:effectLst/>
              <a:uFillTx/>
              <a:latin typeface="Arial"/>
            </a:endParaRPr>
          </a:p>
        </p:txBody>
      </p:sp>
      <p:sp>
        <p:nvSpPr>
          <p:cNvPr id="334"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The model is the synthesis layer. The sources are the evidence layer.</a:t>
            </a:r>
            <a:endParaRPr lang="en-US" sz="1150" b="0" u="none" strike="noStrike">
              <a:solidFill>
                <a:srgbClr val="FFFFFF"/>
              </a:solidFill>
              <a:effectLst/>
              <a:uFillTx/>
              <a:latin typeface="Arial"/>
            </a:endParaRPr>
          </a:p>
        </p:txBody>
      </p:sp>
      <p:sp>
        <p:nvSpPr>
          <p:cNvPr id="335" name="Shape 2"/>
          <p:cNvSpPr/>
          <p:nvPr/>
        </p:nvSpPr>
        <p:spPr>
          <a:xfrm>
            <a:off x="576000" y="1417320"/>
            <a:ext cx="1974600" cy="2011320"/>
          </a:xfrm>
          <a:prstGeom prst="roundRect">
            <a:avLst>
              <a:gd name="adj" fmla="val 370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36" name="Shape 3"/>
          <p:cNvSpPr/>
          <p:nvPr/>
        </p:nvSpPr>
        <p:spPr>
          <a:xfrm>
            <a:off x="576000" y="1417320"/>
            <a:ext cx="54360" cy="201132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37" name="Text 4"/>
          <p:cNvSpPr/>
          <p:nvPr/>
        </p:nvSpPr>
        <p:spPr>
          <a:xfrm>
            <a:off x="777240" y="158184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Question</a:t>
            </a:r>
            <a:endParaRPr lang="en-US" sz="1400" b="0" u="none" strike="noStrike">
              <a:solidFill>
                <a:srgbClr val="FFFFFF"/>
              </a:solidFill>
              <a:effectLst/>
              <a:uFillTx/>
              <a:latin typeface="Arial"/>
            </a:endParaRPr>
          </a:p>
        </p:txBody>
      </p:sp>
      <p:sp>
        <p:nvSpPr>
          <p:cNvPr id="338" name="Text 5"/>
          <p:cNvSpPr/>
          <p:nvPr/>
        </p:nvSpPr>
        <p:spPr>
          <a:xfrm>
            <a:off x="777240" y="1920240"/>
            <a:ext cx="1627200" cy="1352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Define what would change your decision</a:t>
            </a:r>
            <a:endParaRPr lang="en-US" sz="1020" b="0" u="none" strike="noStrike">
              <a:solidFill>
                <a:srgbClr val="FFFFFF"/>
              </a:solidFill>
              <a:effectLst/>
              <a:uFillTx/>
              <a:latin typeface="Arial"/>
            </a:endParaRPr>
          </a:p>
        </p:txBody>
      </p:sp>
      <p:sp>
        <p:nvSpPr>
          <p:cNvPr id="339" name="Shape 6"/>
          <p:cNvSpPr/>
          <p:nvPr/>
        </p:nvSpPr>
        <p:spPr>
          <a:xfrm>
            <a:off x="2560320" y="2423160"/>
            <a:ext cx="23760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340" name="Shape 7"/>
          <p:cNvSpPr/>
          <p:nvPr/>
        </p:nvSpPr>
        <p:spPr>
          <a:xfrm>
            <a:off x="2880360" y="1417320"/>
            <a:ext cx="1974600" cy="2011320"/>
          </a:xfrm>
          <a:prstGeom prst="roundRect">
            <a:avLst>
              <a:gd name="adj" fmla="val 370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1" name="Shape 8"/>
          <p:cNvSpPr/>
          <p:nvPr/>
        </p:nvSpPr>
        <p:spPr>
          <a:xfrm>
            <a:off x="2880360" y="1417320"/>
            <a:ext cx="54360" cy="201132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2" name="Text 9"/>
          <p:cNvSpPr/>
          <p:nvPr/>
        </p:nvSpPr>
        <p:spPr>
          <a:xfrm>
            <a:off x="3081600" y="158184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Search</a:t>
            </a:r>
            <a:endParaRPr lang="en-US" sz="1400" b="0" u="none" strike="noStrike">
              <a:solidFill>
                <a:srgbClr val="FFFFFF"/>
              </a:solidFill>
              <a:effectLst/>
              <a:uFillTx/>
              <a:latin typeface="Arial"/>
            </a:endParaRPr>
          </a:p>
        </p:txBody>
      </p:sp>
      <p:sp>
        <p:nvSpPr>
          <p:cNvPr id="343" name="Text 10"/>
          <p:cNvSpPr/>
          <p:nvPr/>
        </p:nvSpPr>
        <p:spPr>
          <a:xfrm>
            <a:off x="3081600" y="1920240"/>
            <a:ext cx="1627200" cy="1352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Find current primary + independent sources</a:t>
            </a:r>
            <a:endParaRPr lang="en-US" sz="1020" b="0" u="none" strike="noStrike">
              <a:solidFill>
                <a:srgbClr val="FFFFFF"/>
              </a:solidFill>
              <a:effectLst/>
              <a:uFillTx/>
              <a:latin typeface="Arial"/>
            </a:endParaRPr>
          </a:p>
        </p:txBody>
      </p:sp>
      <p:sp>
        <p:nvSpPr>
          <p:cNvPr id="344" name="Shape 11"/>
          <p:cNvSpPr/>
          <p:nvPr/>
        </p:nvSpPr>
        <p:spPr>
          <a:xfrm>
            <a:off x="4864320" y="2423160"/>
            <a:ext cx="23796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345" name="Shape 12"/>
          <p:cNvSpPr/>
          <p:nvPr/>
        </p:nvSpPr>
        <p:spPr>
          <a:xfrm>
            <a:off x="5184720" y="1417320"/>
            <a:ext cx="1974600" cy="2011320"/>
          </a:xfrm>
          <a:prstGeom prst="roundRect">
            <a:avLst>
              <a:gd name="adj" fmla="val 370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46" name="Shape 13"/>
          <p:cNvSpPr/>
          <p:nvPr/>
        </p:nvSpPr>
        <p:spPr>
          <a:xfrm>
            <a:off x="5184720" y="1417320"/>
            <a:ext cx="54360" cy="201132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47" name="Text 14"/>
          <p:cNvSpPr/>
          <p:nvPr/>
        </p:nvSpPr>
        <p:spPr>
          <a:xfrm>
            <a:off x="5385960" y="158184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Compare</a:t>
            </a:r>
            <a:endParaRPr lang="en-US" sz="1400" b="0" u="none" strike="noStrike">
              <a:solidFill>
                <a:srgbClr val="FFFFFF"/>
              </a:solidFill>
              <a:effectLst/>
              <a:uFillTx/>
              <a:latin typeface="Arial"/>
            </a:endParaRPr>
          </a:p>
        </p:txBody>
      </p:sp>
      <p:sp>
        <p:nvSpPr>
          <p:cNvPr id="348" name="Text 15"/>
          <p:cNvSpPr/>
          <p:nvPr/>
        </p:nvSpPr>
        <p:spPr>
          <a:xfrm>
            <a:off x="5385960" y="1920240"/>
            <a:ext cx="1627200" cy="1352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Look for disagreement and dates</a:t>
            </a:r>
            <a:endParaRPr lang="en-US" sz="1020" b="0" u="none" strike="noStrike">
              <a:solidFill>
                <a:srgbClr val="FFFFFF"/>
              </a:solidFill>
              <a:effectLst/>
              <a:uFillTx/>
              <a:latin typeface="Arial"/>
            </a:endParaRPr>
          </a:p>
        </p:txBody>
      </p:sp>
      <p:sp>
        <p:nvSpPr>
          <p:cNvPr id="349" name="Shape 16"/>
          <p:cNvSpPr/>
          <p:nvPr/>
        </p:nvSpPr>
        <p:spPr>
          <a:xfrm>
            <a:off x="7168680" y="2423160"/>
            <a:ext cx="23796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350" name="Shape 17"/>
          <p:cNvSpPr/>
          <p:nvPr/>
        </p:nvSpPr>
        <p:spPr>
          <a:xfrm>
            <a:off x="7489080" y="1417320"/>
            <a:ext cx="1974600" cy="2011320"/>
          </a:xfrm>
          <a:prstGeom prst="roundRect">
            <a:avLst>
              <a:gd name="adj" fmla="val 370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1" name="Shape 18"/>
          <p:cNvSpPr/>
          <p:nvPr/>
        </p:nvSpPr>
        <p:spPr>
          <a:xfrm>
            <a:off x="7489080" y="1417320"/>
            <a:ext cx="54360" cy="201132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2" name="Text 19"/>
          <p:cNvSpPr/>
          <p:nvPr/>
        </p:nvSpPr>
        <p:spPr>
          <a:xfrm>
            <a:off x="7689960" y="158184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Synthesize</a:t>
            </a:r>
            <a:endParaRPr lang="en-US" sz="1400" b="0" u="none" strike="noStrike">
              <a:solidFill>
                <a:srgbClr val="FFFFFF"/>
              </a:solidFill>
              <a:effectLst/>
              <a:uFillTx/>
              <a:latin typeface="Arial"/>
            </a:endParaRPr>
          </a:p>
        </p:txBody>
      </p:sp>
      <p:sp>
        <p:nvSpPr>
          <p:cNvPr id="353" name="Text 20"/>
          <p:cNvSpPr/>
          <p:nvPr/>
        </p:nvSpPr>
        <p:spPr>
          <a:xfrm>
            <a:off x="7689960" y="1920240"/>
            <a:ext cx="1627200" cy="1352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Separate fact, inference, and opinion</a:t>
            </a:r>
            <a:endParaRPr lang="en-US" sz="1020" b="0" u="none" strike="noStrike">
              <a:solidFill>
                <a:srgbClr val="FFFFFF"/>
              </a:solidFill>
              <a:effectLst/>
              <a:uFillTx/>
              <a:latin typeface="Arial"/>
            </a:endParaRPr>
          </a:p>
        </p:txBody>
      </p:sp>
      <p:sp>
        <p:nvSpPr>
          <p:cNvPr id="354" name="Shape 21"/>
          <p:cNvSpPr/>
          <p:nvPr/>
        </p:nvSpPr>
        <p:spPr>
          <a:xfrm>
            <a:off x="9473040" y="2423160"/>
            <a:ext cx="23760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355" name="Shape 22"/>
          <p:cNvSpPr/>
          <p:nvPr/>
        </p:nvSpPr>
        <p:spPr>
          <a:xfrm>
            <a:off x="9793080" y="1417320"/>
            <a:ext cx="1974600" cy="2011320"/>
          </a:xfrm>
          <a:prstGeom prst="roundRect">
            <a:avLst>
              <a:gd name="adj" fmla="val 370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6" name="Shape 23"/>
          <p:cNvSpPr/>
          <p:nvPr/>
        </p:nvSpPr>
        <p:spPr>
          <a:xfrm>
            <a:off x="9793080" y="1417320"/>
            <a:ext cx="54360" cy="201132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57" name="Text 24"/>
          <p:cNvSpPr/>
          <p:nvPr/>
        </p:nvSpPr>
        <p:spPr>
          <a:xfrm>
            <a:off x="9994320" y="1581840"/>
            <a:ext cx="1627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Verify</a:t>
            </a:r>
            <a:endParaRPr lang="en-US" sz="1400" b="0" u="none" strike="noStrike">
              <a:solidFill>
                <a:srgbClr val="FFFFFF"/>
              </a:solidFill>
              <a:effectLst/>
              <a:uFillTx/>
              <a:latin typeface="Arial"/>
            </a:endParaRPr>
          </a:p>
        </p:txBody>
      </p:sp>
      <p:sp>
        <p:nvSpPr>
          <p:cNvPr id="358" name="Text 25"/>
          <p:cNvSpPr/>
          <p:nvPr/>
        </p:nvSpPr>
        <p:spPr>
          <a:xfrm>
            <a:off x="9994320" y="1920240"/>
            <a:ext cx="1627200" cy="135288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Open the cited source and confirm it supports the claim</a:t>
            </a:r>
            <a:endParaRPr lang="en-US" sz="1020" b="0" u="none" strike="noStrike">
              <a:solidFill>
                <a:srgbClr val="FFFFFF"/>
              </a:solidFill>
              <a:effectLst/>
              <a:uFillTx/>
              <a:latin typeface="Arial"/>
            </a:endParaRPr>
          </a:p>
        </p:txBody>
      </p:sp>
      <p:sp>
        <p:nvSpPr>
          <p:cNvPr id="359" name="Shape 26"/>
          <p:cNvSpPr/>
          <p:nvPr/>
        </p:nvSpPr>
        <p:spPr>
          <a:xfrm>
            <a:off x="919080" y="3840660"/>
            <a:ext cx="10560960" cy="1416960"/>
          </a:xfrm>
          <a:prstGeom prst="roundRect">
            <a:avLst>
              <a:gd name="adj" fmla="val 5161"/>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0" name="Text 27"/>
          <p:cNvSpPr/>
          <p:nvPr/>
        </p:nvSpPr>
        <p:spPr>
          <a:xfrm>
            <a:off x="1005840" y="4069080"/>
            <a:ext cx="219420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u="none" strike="noStrike">
                <a:solidFill>
                  <a:srgbClr val="33D6FF"/>
                </a:solidFill>
                <a:effectLst/>
                <a:uFillTx/>
                <a:latin typeface="Aptos"/>
              </a:rPr>
              <a:t>Research prompt pattern</a:t>
            </a:r>
            <a:endParaRPr lang="en-US" sz="1500" b="0" u="none" strike="noStrike">
              <a:solidFill>
                <a:srgbClr val="FFFFFF"/>
              </a:solidFill>
              <a:effectLst/>
              <a:uFillTx/>
              <a:latin typeface="Arial"/>
            </a:endParaRPr>
          </a:p>
        </p:txBody>
      </p:sp>
      <p:sp>
        <p:nvSpPr>
          <p:cNvPr id="361" name="Text 28"/>
          <p:cNvSpPr/>
          <p:nvPr/>
        </p:nvSpPr>
        <p:spPr>
          <a:xfrm>
            <a:off x="3286800" y="4005000"/>
            <a:ext cx="759420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20" b="0" i="1" u="none" strike="noStrike" dirty="0">
                <a:solidFill>
                  <a:srgbClr val="F5F8FC"/>
                </a:solidFill>
                <a:effectLst/>
                <a:uFillTx/>
                <a:latin typeface="Aptos"/>
              </a:rPr>
              <a:t>“Search the current web. Prefer primary sources. For every material claim, cite the source. Include publication date vs event date. Identify disagreements, missing evidence, and what would make the conclusion change.”</a:t>
            </a:r>
            <a:endParaRPr lang="en-US" sz="1220" b="0" u="none" strike="noStrike" dirty="0">
              <a:solidFill>
                <a:srgbClr val="FFFFFF"/>
              </a:solidFill>
              <a:effectLst/>
              <a:uFillTx/>
              <a:latin typeface="Arial"/>
            </a:endParaRPr>
          </a:p>
        </p:txBody>
      </p:sp>
      <p:sp>
        <p:nvSpPr>
          <p:cNvPr id="362" name="Text 29"/>
          <p:cNvSpPr/>
          <p:nvPr/>
        </p:nvSpPr>
        <p:spPr>
          <a:xfrm>
            <a:off x="3154680" y="4827960"/>
            <a:ext cx="768060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1" strike="noStrike" dirty="0">
                <a:solidFill>
                  <a:srgbClr val="FF6B6B"/>
                </a:solidFill>
                <a:effectLst/>
                <a:uFillTx/>
                <a:latin typeface="Aptos"/>
              </a:rPr>
              <a:t>A citation is not </a:t>
            </a:r>
            <a:r>
              <a:rPr lang="en-US" sz="1150" b="1" u="sng" strike="noStrike" dirty="0">
                <a:solidFill>
                  <a:srgbClr val="FF6B6B"/>
                </a:solidFill>
                <a:effectLst/>
                <a:uFillTx/>
                <a:latin typeface="Aptos"/>
              </a:rPr>
              <a:t>proof</a:t>
            </a:r>
            <a:r>
              <a:rPr lang="en-US" sz="1150" b="1" strike="noStrike" dirty="0">
                <a:solidFill>
                  <a:srgbClr val="FF6B6B"/>
                </a:solidFill>
                <a:effectLst/>
                <a:uFillTx/>
                <a:latin typeface="Aptos"/>
              </a:rPr>
              <a:t> until you click it.</a:t>
            </a:r>
            <a:endParaRPr lang="en-US" sz="1150" b="0" strike="noStrike" dirty="0">
              <a:solidFill>
                <a:srgbClr val="FFFFFF"/>
              </a:solidFill>
              <a:effectLst/>
              <a:uFillTx/>
              <a:latin typeface="Arial"/>
            </a:endParaRPr>
          </a:p>
        </p:txBody>
      </p:sp>
      <p:sp>
        <p:nvSpPr>
          <p:cNvPr id="363" name="Text 30">
            <a:hlinkClick r:id="rId3"/>
          </p:cNvPr>
          <p:cNvSpPr/>
          <p:nvPr/>
        </p:nvSpPr>
        <p:spPr>
          <a:xfrm>
            <a:off x="521280" y="6190560"/>
            <a:ext cx="30675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Perplexity: citations and original sources</a:t>
            </a:r>
            <a:endParaRPr lang="en-US" sz="720" b="0" u="none" strike="noStrike">
              <a:solidFill>
                <a:srgbClr val="FFFFFF"/>
              </a:solidFill>
              <a:effectLst/>
              <a:uFillTx/>
              <a:latin typeface="Arial"/>
            </a:endParaRPr>
          </a:p>
        </p:txBody>
      </p:sp>
      <p:sp>
        <p:nvSpPr>
          <p:cNvPr id="364" name="Text 31">
            <a:hlinkClick r:id="rId4"/>
          </p:cNvPr>
          <p:cNvSpPr/>
          <p:nvPr/>
        </p:nvSpPr>
        <p:spPr>
          <a:xfrm>
            <a:off x="3589200" y="6190560"/>
            <a:ext cx="2514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Perplexity current model/search modes</a:t>
            </a:r>
            <a:endParaRPr lang="en-US" sz="720" b="0" u="none" strike="noStrike">
              <a:solidFill>
                <a:srgbClr val="FFFFFF"/>
              </a:solidFill>
              <a:effectLst/>
              <a:uFillTx/>
              <a:latin typeface="Arial"/>
            </a:endParaRPr>
          </a:p>
        </p:txBody>
      </p:sp>
      <p:sp>
        <p:nvSpPr>
          <p:cNvPr id="365" name="PlaceHolder 1"/>
          <p:cNvSpPr>
            <a:spLocks noGrp="1"/>
          </p:cNvSpPr>
          <p:nvPr>
            <p:ph type="sldNum" idx="15"/>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6989832F-FF4D-4FF0-B6FE-172912001DFA}" type="slidenum">
              <a:rPr lang="en-US" sz="750" b="0" u="none" strike="noStrike">
                <a:solidFill>
                  <a:srgbClr val="73809A"/>
                </a:solidFill>
                <a:effectLst/>
                <a:uFillTx/>
                <a:latin typeface="Aptos"/>
                <a:ea typeface="Aptos"/>
              </a:rPr>
              <a:t>11</a:t>
            </a:fld>
            <a:endParaRPr lang="en-US" sz="750" b="0" u="none" strike="noStrike">
              <a:solidFill>
                <a:srgbClr val="FFFFFF"/>
              </a:solidFill>
              <a:effectLst/>
              <a:uFillTx/>
              <a:latin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Maker-space use cases: where AI can multiply your iteration speed</a:t>
            </a:r>
            <a:endParaRPr lang="en-US" sz="2600" b="0" u="none" strike="noStrike">
              <a:solidFill>
                <a:srgbClr val="FFFFFF"/>
              </a:solidFill>
              <a:effectLst/>
              <a:uFillTx/>
              <a:latin typeface="Arial"/>
            </a:endParaRPr>
          </a:p>
        </p:txBody>
      </p:sp>
      <p:sp>
        <p:nvSpPr>
          <p:cNvPr id="36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Use AI to reduce lookup and drafting time — then validate against the physical world.</a:t>
            </a:r>
            <a:endParaRPr lang="en-US" sz="1150" b="0" u="none" strike="noStrike">
              <a:solidFill>
                <a:srgbClr val="FFFFFF"/>
              </a:solidFill>
              <a:effectLst/>
              <a:uFillTx/>
              <a:latin typeface="Arial"/>
            </a:endParaRPr>
          </a:p>
        </p:txBody>
      </p:sp>
      <p:sp>
        <p:nvSpPr>
          <p:cNvPr id="368" name="Shape 2"/>
          <p:cNvSpPr/>
          <p:nvPr/>
        </p:nvSpPr>
        <p:spPr>
          <a:xfrm>
            <a:off x="548640" y="12618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69" name="Shape 3"/>
          <p:cNvSpPr/>
          <p:nvPr/>
        </p:nvSpPr>
        <p:spPr>
          <a:xfrm>
            <a:off x="548640" y="1261800"/>
            <a:ext cx="54360" cy="184680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0" name="Text 4"/>
          <p:cNvSpPr/>
          <p:nvPr/>
        </p:nvSpPr>
        <p:spPr>
          <a:xfrm>
            <a:off x="749880" y="14263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3D PRINTING</a:t>
            </a:r>
            <a:endParaRPr lang="en-US" sz="1300" b="0" u="none" strike="noStrike">
              <a:solidFill>
                <a:srgbClr val="FFFFFF"/>
              </a:solidFill>
              <a:effectLst/>
              <a:uFillTx/>
              <a:latin typeface="Arial"/>
            </a:endParaRPr>
          </a:p>
        </p:txBody>
      </p:sp>
      <p:sp>
        <p:nvSpPr>
          <p:cNvPr id="371" name="Text 5"/>
          <p:cNvSpPr/>
          <p:nvPr/>
        </p:nvSpPr>
        <p:spPr>
          <a:xfrm>
            <a:off x="749880" y="17647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Slicer settings • failure diagnosis • G-code explanation • material comparisons</a:t>
            </a:r>
            <a:endParaRPr lang="en-US" sz="1020" b="0" u="none" strike="noStrike">
              <a:solidFill>
                <a:srgbClr val="FFFFFF"/>
              </a:solidFill>
              <a:effectLst/>
              <a:uFillTx/>
              <a:latin typeface="Arial"/>
            </a:endParaRPr>
          </a:p>
        </p:txBody>
      </p:sp>
      <p:sp>
        <p:nvSpPr>
          <p:cNvPr id="372" name="Shape 6"/>
          <p:cNvSpPr/>
          <p:nvPr/>
        </p:nvSpPr>
        <p:spPr>
          <a:xfrm>
            <a:off x="3447360" y="12618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3" name="Shape 7"/>
          <p:cNvSpPr/>
          <p:nvPr/>
        </p:nvSpPr>
        <p:spPr>
          <a:xfrm>
            <a:off x="3447360" y="1261800"/>
            <a:ext cx="54360" cy="184680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4" name="Text 8"/>
          <p:cNvSpPr/>
          <p:nvPr/>
        </p:nvSpPr>
        <p:spPr>
          <a:xfrm>
            <a:off x="3648600" y="14263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ELECTRONICS</a:t>
            </a:r>
            <a:endParaRPr lang="en-US" sz="1300" b="0" u="none" strike="noStrike">
              <a:solidFill>
                <a:srgbClr val="FFFFFF"/>
              </a:solidFill>
              <a:effectLst/>
              <a:uFillTx/>
              <a:latin typeface="Arial"/>
            </a:endParaRPr>
          </a:p>
        </p:txBody>
      </p:sp>
      <p:sp>
        <p:nvSpPr>
          <p:cNvPr id="375" name="Text 9"/>
          <p:cNvSpPr/>
          <p:nvPr/>
        </p:nvSpPr>
        <p:spPr>
          <a:xfrm>
            <a:off x="3648600" y="17647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Datasheet extraction • resistor / power math • Arduino / ESP code • serial-log diagnosis</a:t>
            </a:r>
            <a:endParaRPr lang="en-US" sz="1020" b="0" u="none" strike="noStrike">
              <a:solidFill>
                <a:srgbClr val="FFFFFF"/>
              </a:solidFill>
              <a:effectLst/>
              <a:uFillTx/>
              <a:latin typeface="Arial"/>
            </a:endParaRPr>
          </a:p>
        </p:txBody>
      </p:sp>
      <p:sp>
        <p:nvSpPr>
          <p:cNvPr id="376" name="Shape 10"/>
          <p:cNvSpPr/>
          <p:nvPr/>
        </p:nvSpPr>
        <p:spPr>
          <a:xfrm>
            <a:off x="6346080" y="12618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77" name="Shape 11"/>
          <p:cNvSpPr/>
          <p:nvPr/>
        </p:nvSpPr>
        <p:spPr>
          <a:xfrm>
            <a:off x="6346080" y="1261800"/>
            <a:ext cx="54360" cy="184680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78" name="Text 12"/>
          <p:cNvSpPr/>
          <p:nvPr/>
        </p:nvSpPr>
        <p:spPr>
          <a:xfrm>
            <a:off x="6546960" y="14263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CAD / FAB</a:t>
            </a:r>
            <a:endParaRPr lang="en-US" sz="1300" b="0" u="none" strike="noStrike">
              <a:solidFill>
                <a:srgbClr val="FFFFFF"/>
              </a:solidFill>
              <a:effectLst/>
              <a:uFillTx/>
              <a:latin typeface="Arial"/>
            </a:endParaRPr>
          </a:p>
        </p:txBody>
      </p:sp>
      <p:sp>
        <p:nvSpPr>
          <p:cNvPr id="379" name="Text 13"/>
          <p:cNvSpPr/>
          <p:nvPr/>
        </p:nvSpPr>
        <p:spPr>
          <a:xfrm>
            <a:off x="6546960" y="17647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Parametric design ideas • tolerance checklists • CAM setup questions • documentation</a:t>
            </a:r>
            <a:endParaRPr lang="en-US" sz="1020" b="0" u="none" strike="noStrike">
              <a:solidFill>
                <a:srgbClr val="FFFFFF"/>
              </a:solidFill>
              <a:effectLst/>
              <a:uFillTx/>
              <a:latin typeface="Arial"/>
            </a:endParaRPr>
          </a:p>
        </p:txBody>
      </p:sp>
      <p:sp>
        <p:nvSpPr>
          <p:cNvPr id="380" name="Shape 14"/>
          <p:cNvSpPr/>
          <p:nvPr/>
        </p:nvSpPr>
        <p:spPr>
          <a:xfrm>
            <a:off x="9244440" y="12618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1" name="Shape 15"/>
          <p:cNvSpPr/>
          <p:nvPr/>
        </p:nvSpPr>
        <p:spPr>
          <a:xfrm>
            <a:off x="9244440" y="1261800"/>
            <a:ext cx="54360" cy="184680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2" name="Text 16"/>
          <p:cNvSpPr/>
          <p:nvPr/>
        </p:nvSpPr>
        <p:spPr>
          <a:xfrm>
            <a:off x="9445680" y="14263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WOOD / METAL</a:t>
            </a:r>
            <a:endParaRPr lang="en-US" sz="1300" b="0" u="none" strike="noStrike">
              <a:solidFill>
                <a:srgbClr val="FFFFFF"/>
              </a:solidFill>
              <a:effectLst/>
              <a:uFillTx/>
              <a:latin typeface="Arial"/>
            </a:endParaRPr>
          </a:p>
        </p:txBody>
      </p:sp>
      <p:sp>
        <p:nvSpPr>
          <p:cNvPr id="383" name="Text 17"/>
          <p:cNvSpPr/>
          <p:nvPr/>
        </p:nvSpPr>
        <p:spPr>
          <a:xfrm>
            <a:off x="9445680" y="17647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Cut lists • jig ideas • process checklists • tool/manual lookup — with safety verification</a:t>
            </a:r>
            <a:endParaRPr lang="en-US" sz="1020" b="0" u="none" strike="noStrike">
              <a:solidFill>
                <a:srgbClr val="FFFFFF"/>
              </a:solidFill>
              <a:effectLst/>
              <a:uFillTx/>
              <a:latin typeface="Arial"/>
            </a:endParaRPr>
          </a:p>
        </p:txBody>
      </p:sp>
      <p:sp>
        <p:nvSpPr>
          <p:cNvPr id="384" name="Shape 18"/>
          <p:cNvSpPr/>
          <p:nvPr/>
        </p:nvSpPr>
        <p:spPr>
          <a:xfrm>
            <a:off x="548640" y="34200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5" name="Shape 19"/>
          <p:cNvSpPr/>
          <p:nvPr/>
        </p:nvSpPr>
        <p:spPr>
          <a:xfrm>
            <a:off x="548640" y="3420000"/>
            <a:ext cx="54360" cy="184680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6" name="Text 20"/>
          <p:cNvSpPr/>
          <p:nvPr/>
        </p:nvSpPr>
        <p:spPr>
          <a:xfrm>
            <a:off x="749880" y="35845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CRAFT / TEXTILE</a:t>
            </a:r>
            <a:endParaRPr lang="en-US" sz="1300" b="0" u="none" strike="noStrike">
              <a:solidFill>
                <a:srgbClr val="FFFFFF"/>
              </a:solidFill>
              <a:effectLst/>
              <a:uFillTx/>
              <a:latin typeface="Arial"/>
            </a:endParaRPr>
          </a:p>
        </p:txBody>
      </p:sp>
      <p:sp>
        <p:nvSpPr>
          <p:cNvPr id="387" name="Text 21"/>
          <p:cNvSpPr/>
          <p:nvPr/>
        </p:nvSpPr>
        <p:spPr>
          <a:xfrm>
            <a:off x="749880" y="39229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Pattern adaptation • material calculations • instructions • visual ideation</a:t>
            </a:r>
            <a:endParaRPr lang="en-US" sz="1020" b="0" u="none" strike="noStrike">
              <a:solidFill>
                <a:srgbClr val="FFFFFF"/>
              </a:solidFill>
              <a:effectLst/>
              <a:uFillTx/>
              <a:latin typeface="Arial"/>
            </a:endParaRPr>
          </a:p>
        </p:txBody>
      </p:sp>
      <p:sp>
        <p:nvSpPr>
          <p:cNvPr id="388" name="Shape 22"/>
          <p:cNvSpPr/>
          <p:nvPr/>
        </p:nvSpPr>
        <p:spPr>
          <a:xfrm>
            <a:off x="3447360" y="34200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89" name="Shape 23"/>
          <p:cNvSpPr/>
          <p:nvPr/>
        </p:nvSpPr>
        <p:spPr>
          <a:xfrm>
            <a:off x="3447360" y="3420000"/>
            <a:ext cx="54360" cy="184680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0" name="Text 24"/>
          <p:cNvSpPr/>
          <p:nvPr/>
        </p:nvSpPr>
        <p:spPr>
          <a:xfrm>
            <a:off x="3648600" y="35845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HOMELAB / IOT</a:t>
            </a:r>
            <a:endParaRPr lang="en-US" sz="1300" b="0" u="none" strike="noStrike">
              <a:solidFill>
                <a:srgbClr val="FFFFFF"/>
              </a:solidFill>
              <a:effectLst/>
              <a:uFillTx/>
              <a:latin typeface="Arial"/>
            </a:endParaRPr>
          </a:p>
        </p:txBody>
      </p:sp>
      <p:sp>
        <p:nvSpPr>
          <p:cNvPr id="391" name="Text 25"/>
          <p:cNvSpPr/>
          <p:nvPr/>
        </p:nvSpPr>
        <p:spPr>
          <a:xfrm>
            <a:off x="3648600" y="39229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Docker • Linux • networking • Home Assistant • logs • scripts • config review</a:t>
            </a:r>
            <a:endParaRPr lang="en-US" sz="1020" b="0" u="none" strike="noStrike">
              <a:solidFill>
                <a:srgbClr val="FFFFFF"/>
              </a:solidFill>
              <a:effectLst/>
              <a:uFillTx/>
              <a:latin typeface="Arial"/>
            </a:endParaRPr>
          </a:p>
        </p:txBody>
      </p:sp>
      <p:sp>
        <p:nvSpPr>
          <p:cNvPr id="392" name="Shape 26"/>
          <p:cNvSpPr/>
          <p:nvPr/>
        </p:nvSpPr>
        <p:spPr>
          <a:xfrm>
            <a:off x="6346080" y="34200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3" name="Shape 27"/>
          <p:cNvSpPr/>
          <p:nvPr/>
        </p:nvSpPr>
        <p:spPr>
          <a:xfrm>
            <a:off x="6346080" y="3420000"/>
            <a:ext cx="54360" cy="184680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4" name="Text 28"/>
          <p:cNvSpPr/>
          <p:nvPr/>
        </p:nvSpPr>
        <p:spPr>
          <a:xfrm>
            <a:off x="6546960" y="35845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DOCUMENTS</a:t>
            </a:r>
            <a:endParaRPr lang="en-US" sz="1300" b="0" u="none" strike="noStrike">
              <a:solidFill>
                <a:srgbClr val="FFFFFF"/>
              </a:solidFill>
              <a:effectLst/>
              <a:uFillTx/>
              <a:latin typeface="Arial"/>
            </a:endParaRPr>
          </a:p>
        </p:txBody>
      </p:sp>
      <p:sp>
        <p:nvSpPr>
          <p:cNvPr id="395" name="Text 29"/>
          <p:cNvSpPr/>
          <p:nvPr/>
        </p:nvSpPr>
        <p:spPr>
          <a:xfrm>
            <a:off x="6546960" y="39229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Manual summarization • comparison tables • BOMs • labels • class handouts</a:t>
            </a:r>
            <a:endParaRPr lang="en-US" sz="1020" b="0" u="none" strike="noStrike">
              <a:solidFill>
                <a:srgbClr val="FFFFFF"/>
              </a:solidFill>
              <a:effectLst/>
              <a:uFillTx/>
              <a:latin typeface="Arial"/>
            </a:endParaRPr>
          </a:p>
        </p:txBody>
      </p:sp>
      <p:sp>
        <p:nvSpPr>
          <p:cNvPr id="396" name="Shape 30"/>
          <p:cNvSpPr/>
          <p:nvPr/>
        </p:nvSpPr>
        <p:spPr>
          <a:xfrm>
            <a:off x="9244440" y="3420000"/>
            <a:ext cx="2578320" cy="1846800"/>
          </a:xfrm>
          <a:prstGeom prst="roundRect">
            <a:avLst>
              <a:gd name="adj" fmla="val 396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397" name="Shape 31"/>
          <p:cNvSpPr/>
          <p:nvPr/>
        </p:nvSpPr>
        <p:spPr>
          <a:xfrm>
            <a:off x="9244440" y="3420000"/>
            <a:ext cx="54360" cy="184680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398" name="Text 32"/>
          <p:cNvSpPr/>
          <p:nvPr/>
        </p:nvSpPr>
        <p:spPr>
          <a:xfrm>
            <a:off x="9445680" y="3584520"/>
            <a:ext cx="22309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LEARNING</a:t>
            </a:r>
            <a:endParaRPr lang="en-US" sz="1300" b="0" u="none" strike="noStrike">
              <a:solidFill>
                <a:srgbClr val="FFFFFF"/>
              </a:solidFill>
              <a:effectLst/>
              <a:uFillTx/>
              <a:latin typeface="Arial"/>
            </a:endParaRPr>
          </a:p>
        </p:txBody>
      </p:sp>
      <p:sp>
        <p:nvSpPr>
          <p:cNvPr id="399" name="Text 33"/>
          <p:cNvSpPr/>
          <p:nvPr/>
        </p:nvSpPr>
        <p:spPr>
          <a:xfrm>
            <a:off x="9445680" y="3922920"/>
            <a:ext cx="2230920" cy="11883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Explain at multiple skill levels • quizzes • vocabulary • guided practice</a:t>
            </a:r>
            <a:endParaRPr lang="en-US" sz="1020" b="0" u="none" strike="noStrike">
              <a:solidFill>
                <a:srgbClr val="FFFFFF"/>
              </a:solidFill>
              <a:effectLst/>
              <a:uFillTx/>
              <a:latin typeface="Arial"/>
            </a:endParaRPr>
          </a:p>
        </p:txBody>
      </p:sp>
      <p:sp>
        <p:nvSpPr>
          <p:cNvPr id="400" name="Text 34"/>
          <p:cNvSpPr/>
          <p:nvPr/>
        </p:nvSpPr>
        <p:spPr>
          <a:xfrm>
            <a:off x="731520" y="5596200"/>
            <a:ext cx="107438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20" b="1" u="none" strike="noStrike">
                <a:solidFill>
                  <a:srgbClr val="F5F8FC"/>
                </a:solidFill>
                <a:effectLst/>
                <a:uFillTx/>
                <a:latin typeface="Aptos"/>
              </a:rPr>
              <a:t>High leverage pattern: photograph / attach the artifact + identify the exact model/version + ask for a testable next step.</a:t>
            </a:r>
            <a:endParaRPr lang="en-US" sz="1320" b="0" u="none" strike="noStrike">
              <a:solidFill>
                <a:srgbClr val="FFFFFF"/>
              </a:solidFill>
              <a:effectLst/>
              <a:uFillTx/>
              <a:latin typeface="Arial"/>
            </a:endParaRPr>
          </a:p>
        </p:txBody>
      </p:sp>
      <p:sp>
        <p:nvSpPr>
          <p:cNvPr id="401" name="PlaceHolder 1"/>
          <p:cNvSpPr>
            <a:spLocks noGrp="1"/>
          </p:cNvSpPr>
          <p:nvPr>
            <p:ph type="sldNum" idx="16"/>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4F1CF939-12EB-4216-8E52-F87B8B96585C}" type="slidenum">
              <a:rPr lang="en-US" sz="750" b="0" u="none" strike="noStrike">
                <a:solidFill>
                  <a:srgbClr val="73809A"/>
                </a:solidFill>
                <a:effectLst/>
                <a:uFillTx/>
                <a:latin typeface="Aptos"/>
                <a:ea typeface="Aptos"/>
              </a:rPr>
              <a:t>12</a:t>
            </a:fld>
            <a:endParaRPr lang="en-US" sz="750" b="0" u="none" strike="noStrike">
              <a:solidFill>
                <a:srgbClr val="FFFFFF"/>
              </a:solidFill>
              <a:effectLst/>
              <a:uFillTx/>
              <a:latin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2"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Choosing a cloud AI product: start with the workflow</a:t>
            </a:r>
            <a:endParaRPr lang="en-US" sz="2600" b="0" u="none" strike="noStrike">
              <a:solidFill>
                <a:srgbClr val="FFFFFF"/>
              </a:solidFill>
              <a:effectLst/>
              <a:uFillTx/>
              <a:latin typeface="Arial"/>
            </a:endParaRPr>
          </a:p>
        </p:txBody>
      </p:sp>
      <p:sp>
        <p:nvSpPr>
          <p:cNvPr id="403"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There is no universal “best AI.” Pick the ecosystem and capabilities that fit the job.</a:t>
            </a:r>
            <a:endParaRPr lang="en-US" sz="1150" b="0" u="none" strike="noStrike">
              <a:solidFill>
                <a:srgbClr val="FFFFFF"/>
              </a:solidFill>
              <a:effectLst/>
              <a:uFillTx/>
              <a:latin typeface="Arial"/>
            </a:endParaRPr>
          </a:p>
        </p:txBody>
      </p:sp>
      <p:sp>
        <p:nvSpPr>
          <p:cNvPr id="404" name="Shape 2"/>
          <p:cNvSpPr/>
          <p:nvPr/>
        </p:nvSpPr>
        <p:spPr>
          <a:xfrm>
            <a:off x="567000" y="1225440"/>
            <a:ext cx="11018160" cy="758520"/>
          </a:xfrm>
          <a:prstGeom prst="roundRect">
            <a:avLst>
              <a:gd name="adj" fmla="val 7229"/>
            </a:avLst>
          </a:prstGeom>
          <a:solidFill>
            <a:srgbClr val="0F1728"/>
          </a:solidFill>
          <a:ln w="762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05" name="Shape 3"/>
          <p:cNvSpPr/>
          <p:nvPr/>
        </p:nvSpPr>
        <p:spPr>
          <a:xfrm>
            <a:off x="567000" y="1225440"/>
            <a:ext cx="54360" cy="75852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06" name="Text 4"/>
          <p:cNvSpPr/>
          <p:nvPr/>
        </p:nvSpPr>
        <p:spPr>
          <a:xfrm>
            <a:off x="777240" y="135324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33D6FF"/>
                </a:solidFill>
                <a:effectLst/>
                <a:uFillTx/>
                <a:latin typeface="Aptos"/>
              </a:rPr>
              <a:t>ChatGPT / OpenAI</a:t>
            </a:r>
            <a:endParaRPr lang="en-US" sz="1350" b="0" u="none" strike="noStrike">
              <a:solidFill>
                <a:srgbClr val="FFFFFF"/>
              </a:solidFill>
              <a:effectLst/>
              <a:uFillTx/>
              <a:latin typeface="Arial"/>
            </a:endParaRPr>
          </a:p>
        </p:txBody>
      </p:sp>
      <p:sp>
        <p:nvSpPr>
          <p:cNvPr id="407" name="Text 5"/>
          <p:cNvSpPr/>
          <p:nvPr/>
        </p:nvSpPr>
        <p:spPr>
          <a:xfrm>
            <a:off x="2743200" y="1334880"/>
            <a:ext cx="3748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F5F8FC"/>
                </a:solidFill>
                <a:effectLst/>
                <a:uFillTx/>
                <a:latin typeface="Aptos"/>
              </a:rPr>
              <a:t>Broad general work, coding, research, multimodal creation, tool-rich workflows</a:t>
            </a:r>
            <a:endParaRPr lang="en-US" sz="1070" b="0" u="none" strike="noStrike">
              <a:solidFill>
                <a:srgbClr val="FFFFFF"/>
              </a:solidFill>
              <a:effectLst/>
              <a:uFillTx/>
              <a:latin typeface="Arial"/>
            </a:endParaRPr>
          </a:p>
        </p:txBody>
      </p:sp>
      <p:sp>
        <p:nvSpPr>
          <p:cNvPr id="408" name="Text 6"/>
          <p:cNvSpPr/>
          <p:nvPr/>
        </p:nvSpPr>
        <p:spPr>
          <a:xfrm>
            <a:off x="6693480" y="1334880"/>
            <a:ext cx="4553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9" b="0" u="none" strike="noStrike">
                <a:solidFill>
                  <a:srgbClr val="AAB5C8"/>
                </a:solidFill>
                <a:effectLst/>
                <a:uFillTx/>
                <a:latin typeface="Aptos"/>
              </a:rPr>
              <a:t>Strong all-around product; current GPT-5.6 family spans flagship → lower-cost tiers</a:t>
            </a:r>
            <a:endParaRPr lang="en-US" sz="989" b="0" u="none" strike="noStrike">
              <a:solidFill>
                <a:srgbClr val="FFFFFF"/>
              </a:solidFill>
              <a:effectLst/>
              <a:uFillTx/>
              <a:latin typeface="Arial"/>
            </a:endParaRPr>
          </a:p>
        </p:txBody>
      </p:sp>
      <p:sp>
        <p:nvSpPr>
          <p:cNvPr id="409" name="Shape 7"/>
          <p:cNvSpPr/>
          <p:nvPr/>
        </p:nvSpPr>
        <p:spPr>
          <a:xfrm>
            <a:off x="567000" y="2167200"/>
            <a:ext cx="11018160" cy="758520"/>
          </a:xfrm>
          <a:prstGeom prst="roundRect">
            <a:avLst>
              <a:gd name="adj" fmla="val 7229"/>
            </a:avLst>
          </a:prstGeom>
          <a:solidFill>
            <a:srgbClr val="121A2B"/>
          </a:solidFill>
          <a:ln w="762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0" name="Shape 8"/>
          <p:cNvSpPr/>
          <p:nvPr/>
        </p:nvSpPr>
        <p:spPr>
          <a:xfrm>
            <a:off x="567000" y="2167200"/>
            <a:ext cx="54360" cy="75852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1" name="Text 9"/>
          <p:cNvSpPr/>
          <p:nvPr/>
        </p:nvSpPr>
        <p:spPr>
          <a:xfrm>
            <a:off x="777240" y="229500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A78BFA"/>
                </a:solidFill>
                <a:effectLst/>
                <a:uFillTx/>
                <a:latin typeface="Aptos"/>
              </a:rPr>
              <a:t>Claude / Anthropic</a:t>
            </a:r>
            <a:endParaRPr lang="en-US" sz="1350" b="0" u="none" strike="noStrike">
              <a:solidFill>
                <a:srgbClr val="FFFFFF"/>
              </a:solidFill>
              <a:effectLst/>
              <a:uFillTx/>
              <a:latin typeface="Arial"/>
            </a:endParaRPr>
          </a:p>
        </p:txBody>
      </p:sp>
      <p:sp>
        <p:nvSpPr>
          <p:cNvPr id="412" name="Text 10"/>
          <p:cNvSpPr/>
          <p:nvPr/>
        </p:nvSpPr>
        <p:spPr>
          <a:xfrm>
            <a:off x="2743200" y="2277000"/>
            <a:ext cx="3748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F5F8FC"/>
                </a:solidFill>
                <a:effectLst/>
                <a:uFillTx/>
                <a:latin typeface="Aptos"/>
              </a:rPr>
              <a:t>Long-context work, coding, writing, agentic enterprise tasks</a:t>
            </a:r>
            <a:endParaRPr lang="en-US" sz="1070" b="0" u="none" strike="noStrike">
              <a:solidFill>
                <a:srgbClr val="FFFFFF"/>
              </a:solidFill>
              <a:effectLst/>
              <a:uFillTx/>
              <a:latin typeface="Arial"/>
            </a:endParaRPr>
          </a:p>
        </p:txBody>
      </p:sp>
      <p:sp>
        <p:nvSpPr>
          <p:cNvPr id="413" name="Text 11"/>
          <p:cNvSpPr/>
          <p:nvPr/>
        </p:nvSpPr>
        <p:spPr>
          <a:xfrm>
            <a:off x="6693480" y="2277000"/>
            <a:ext cx="4553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9" b="0" u="none" strike="noStrike">
                <a:solidFill>
                  <a:srgbClr val="AAB5C8"/>
                </a:solidFill>
                <a:effectLst/>
                <a:uFillTx/>
                <a:latin typeface="Aptos"/>
              </a:rPr>
              <a:t>Current family explicitly tiers Fable / Opus / Sonnet / Haiku by capability and latency</a:t>
            </a:r>
            <a:endParaRPr lang="en-US" sz="989" b="0" u="none" strike="noStrike">
              <a:solidFill>
                <a:srgbClr val="FFFFFF"/>
              </a:solidFill>
              <a:effectLst/>
              <a:uFillTx/>
              <a:latin typeface="Arial"/>
            </a:endParaRPr>
          </a:p>
        </p:txBody>
      </p:sp>
      <p:sp>
        <p:nvSpPr>
          <p:cNvPr id="414" name="Shape 12"/>
          <p:cNvSpPr/>
          <p:nvPr/>
        </p:nvSpPr>
        <p:spPr>
          <a:xfrm>
            <a:off x="567000" y="3108960"/>
            <a:ext cx="11018160" cy="758520"/>
          </a:xfrm>
          <a:prstGeom prst="roundRect">
            <a:avLst>
              <a:gd name="adj" fmla="val 7229"/>
            </a:avLst>
          </a:prstGeom>
          <a:solidFill>
            <a:srgbClr val="0F1728"/>
          </a:solidFill>
          <a:ln w="762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15" name="Shape 13"/>
          <p:cNvSpPr/>
          <p:nvPr/>
        </p:nvSpPr>
        <p:spPr>
          <a:xfrm>
            <a:off x="567000" y="3108960"/>
            <a:ext cx="54360" cy="75852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16" name="Text 14"/>
          <p:cNvSpPr/>
          <p:nvPr/>
        </p:nvSpPr>
        <p:spPr>
          <a:xfrm>
            <a:off x="777240" y="323712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40E0A1"/>
                </a:solidFill>
                <a:effectLst/>
                <a:uFillTx/>
                <a:latin typeface="Aptos"/>
              </a:rPr>
              <a:t>Gemini / Google</a:t>
            </a:r>
            <a:endParaRPr lang="en-US" sz="1350" b="0" u="none" strike="noStrike">
              <a:solidFill>
                <a:srgbClr val="FFFFFF"/>
              </a:solidFill>
              <a:effectLst/>
              <a:uFillTx/>
              <a:latin typeface="Arial"/>
            </a:endParaRPr>
          </a:p>
        </p:txBody>
      </p:sp>
      <p:sp>
        <p:nvSpPr>
          <p:cNvPr id="417" name="Text 15"/>
          <p:cNvSpPr/>
          <p:nvPr/>
        </p:nvSpPr>
        <p:spPr>
          <a:xfrm>
            <a:off x="2743200" y="3218760"/>
            <a:ext cx="3748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F5F8FC"/>
                </a:solidFill>
                <a:effectLst/>
                <a:uFillTx/>
                <a:latin typeface="Aptos"/>
              </a:rPr>
              <a:t>Google ecosystem, multimodal, coding/agentic work, media models</a:t>
            </a:r>
            <a:endParaRPr lang="en-US" sz="1070" b="0" u="none" strike="noStrike">
              <a:solidFill>
                <a:srgbClr val="FFFFFF"/>
              </a:solidFill>
              <a:effectLst/>
              <a:uFillTx/>
              <a:latin typeface="Arial"/>
            </a:endParaRPr>
          </a:p>
        </p:txBody>
      </p:sp>
      <p:sp>
        <p:nvSpPr>
          <p:cNvPr id="418" name="Text 16"/>
          <p:cNvSpPr/>
          <p:nvPr/>
        </p:nvSpPr>
        <p:spPr>
          <a:xfrm>
            <a:off x="6693480" y="3218760"/>
            <a:ext cx="4553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9" b="0" u="none" strike="noStrike">
                <a:solidFill>
                  <a:srgbClr val="AAB5C8"/>
                </a:solidFill>
                <a:effectLst/>
                <a:uFillTx/>
                <a:latin typeface="Aptos"/>
              </a:rPr>
              <a:t>Multiple Pro/Flash/Live/media variants; model catalog changes quickly</a:t>
            </a:r>
            <a:endParaRPr lang="en-US" sz="989" b="0" u="none" strike="noStrike">
              <a:solidFill>
                <a:srgbClr val="FFFFFF"/>
              </a:solidFill>
              <a:effectLst/>
              <a:uFillTx/>
              <a:latin typeface="Arial"/>
            </a:endParaRPr>
          </a:p>
        </p:txBody>
      </p:sp>
      <p:sp>
        <p:nvSpPr>
          <p:cNvPr id="419" name="Shape 17"/>
          <p:cNvSpPr/>
          <p:nvPr/>
        </p:nvSpPr>
        <p:spPr>
          <a:xfrm>
            <a:off x="567000" y="4050720"/>
            <a:ext cx="11018160" cy="758520"/>
          </a:xfrm>
          <a:prstGeom prst="roundRect">
            <a:avLst>
              <a:gd name="adj" fmla="val 7229"/>
            </a:avLst>
          </a:prstGeom>
          <a:solidFill>
            <a:srgbClr val="121A2B"/>
          </a:solidFill>
          <a:ln w="762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0" name="Shape 18"/>
          <p:cNvSpPr/>
          <p:nvPr/>
        </p:nvSpPr>
        <p:spPr>
          <a:xfrm>
            <a:off x="567000" y="4050720"/>
            <a:ext cx="54360" cy="75852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21" name="Text 19"/>
          <p:cNvSpPr/>
          <p:nvPr/>
        </p:nvSpPr>
        <p:spPr>
          <a:xfrm>
            <a:off x="777240" y="417888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FFC857"/>
                </a:solidFill>
                <a:effectLst/>
                <a:uFillTx/>
                <a:latin typeface="Aptos"/>
              </a:rPr>
              <a:t>GitHub Copilot</a:t>
            </a:r>
            <a:endParaRPr lang="en-US" sz="1350" b="0" u="none" strike="noStrike">
              <a:solidFill>
                <a:srgbClr val="FFFFFF"/>
              </a:solidFill>
              <a:effectLst/>
              <a:uFillTx/>
              <a:latin typeface="Arial"/>
            </a:endParaRPr>
          </a:p>
        </p:txBody>
      </p:sp>
      <p:sp>
        <p:nvSpPr>
          <p:cNvPr id="422" name="Text 20"/>
          <p:cNvSpPr/>
          <p:nvPr/>
        </p:nvSpPr>
        <p:spPr>
          <a:xfrm>
            <a:off x="2743200" y="4160520"/>
            <a:ext cx="3748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F5F8FC"/>
                </a:solidFill>
                <a:effectLst/>
                <a:uFillTx/>
                <a:latin typeface="Aptos"/>
              </a:rPr>
              <a:t>Software development inside IDE/GitHub workflows</a:t>
            </a:r>
            <a:endParaRPr lang="en-US" sz="1070" b="0" u="none" strike="noStrike">
              <a:solidFill>
                <a:srgbClr val="FFFFFF"/>
              </a:solidFill>
              <a:effectLst/>
              <a:uFillTx/>
              <a:latin typeface="Arial"/>
            </a:endParaRPr>
          </a:p>
        </p:txBody>
      </p:sp>
      <p:sp>
        <p:nvSpPr>
          <p:cNvPr id="423" name="Text 21"/>
          <p:cNvSpPr/>
          <p:nvPr/>
        </p:nvSpPr>
        <p:spPr>
          <a:xfrm>
            <a:off x="6693480" y="4160520"/>
            <a:ext cx="4553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9" b="0" u="none" strike="noStrike">
                <a:solidFill>
                  <a:srgbClr val="AAB5C8"/>
                </a:solidFill>
                <a:effectLst/>
                <a:uFillTx/>
                <a:latin typeface="Aptos"/>
              </a:rPr>
              <a:t>Model picker + Auto; models differ in latency, cost, hallucination profile, and task fit</a:t>
            </a:r>
            <a:endParaRPr lang="en-US" sz="989" b="0" u="none" strike="noStrike">
              <a:solidFill>
                <a:srgbClr val="FFFFFF"/>
              </a:solidFill>
              <a:effectLst/>
              <a:uFillTx/>
              <a:latin typeface="Arial"/>
            </a:endParaRPr>
          </a:p>
        </p:txBody>
      </p:sp>
      <p:sp>
        <p:nvSpPr>
          <p:cNvPr id="424" name="Shape 22"/>
          <p:cNvSpPr/>
          <p:nvPr/>
        </p:nvSpPr>
        <p:spPr>
          <a:xfrm>
            <a:off x="567000" y="4992480"/>
            <a:ext cx="11018160" cy="758520"/>
          </a:xfrm>
          <a:prstGeom prst="roundRect">
            <a:avLst>
              <a:gd name="adj" fmla="val 7229"/>
            </a:avLst>
          </a:prstGeom>
          <a:solidFill>
            <a:srgbClr val="0F1728"/>
          </a:solidFill>
          <a:ln w="762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5" name="Shape 23"/>
          <p:cNvSpPr/>
          <p:nvPr/>
        </p:nvSpPr>
        <p:spPr>
          <a:xfrm>
            <a:off x="567000" y="4992480"/>
            <a:ext cx="54360" cy="75852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26" name="Text 24"/>
          <p:cNvSpPr/>
          <p:nvPr/>
        </p:nvSpPr>
        <p:spPr>
          <a:xfrm>
            <a:off x="777240" y="5120640"/>
            <a:ext cx="1919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50" b="1" u="none" strike="noStrike">
                <a:solidFill>
                  <a:srgbClr val="FF6B6B"/>
                </a:solidFill>
                <a:effectLst/>
                <a:uFillTx/>
                <a:latin typeface="Aptos"/>
              </a:rPr>
              <a:t>Perplexity</a:t>
            </a:r>
            <a:endParaRPr lang="en-US" sz="1350" b="0" u="none" strike="noStrike">
              <a:solidFill>
                <a:srgbClr val="FFFFFF"/>
              </a:solidFill>
              <a:effectLst/>
              <a:uFillTx/>
              <a:latin typeface="Arial"/>
            </a:endParaRPr>
          </a:p>
        </p:txBody>
      </p:sp>
      <p:sp>
        <p:nvSpPr>
          <p:cNvPr id="427" name="Text 25"/>
          <p:cNvSpPr/>
          <p:nvPr/>
        </p:nvSpPr>
        <p:spPr>
          <a:xfrm>
            <a:off x="2743200" y="5102280"/>
            <a:ext cx="37486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F5F8FC"/>
                </a:solidFill>
                <a:effectLst/>
                <a:uFillTx/>
                <a:latin typeface="Aptos"/>
              </a:rPr>
              <a:t>Web-first investigation and source-backed synthesis</a:t>
            </a:r>
            <a:endParaRPr lang="en-US" sz="1070" b="0" u="none" strike="noStrike">
              <a:solidFill>
                <a:srgbClr val="FFFFFF"/>
              </a:solidFill>
              <a:effectLst/>
              <a:uFillTx/>
              <a:latin typeface="Arial"/>
            </a:endParaRPr>
          </a:p>
        </p:txBody>
      </p:sp>
      <p:sp>
        <p:nvSpPr>
          <p:cNvPr id="428" name="Text 26"/>
          <p:cNvSpPr/>
          <p:nvPr/>
        </p:nvSpPr>
        <p:spPr>
          <a:xfrm>
            <a:off x="6693480" y="5102280"/>
            <a:ext cx="4553280" cy="411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9" b="0" u="none" strike="noStrike">
                <a:solidFill>
                  <a:srgbClr val="AAB5C8"/>
                </a:solidFill>
                <a:effectLst/>
                <a:uFillTx/>
                <a:latin typeface="Aptos"/>
              </a:rPr>
              <a:t>Search modes + multiple models; product centers citations and web retrieval</a:t>
            </a:r>
            <a:endParaRPr lang="en-US" sz="989" b="0" u="none" strike="noStrike">
              <a:solidFill>
                <a:srgbClr val="FFFFFF"/>
              </a:solidFill>
              <a:effectLst/>
              <a:uFillTx/>
              <a:latin typeface="Arial"/>
            </a:endParaRPr>
          </a:p>
        </p:txBody>
      </p:sp>
      <p:sp>
        <p:nvSpPr>
          <p:cNvPr id="429" name="Text 27"/>
          <p:cNvSpPr/>
          <p:nvPr/>
        </p:nvSpPr>
        <p:spPr>
          <a:xfrm>
            <a:off x="713160" y="5715000"/>
            <a:ext cx="1074384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50" b="1" u="none" strike="noStrike">
                <a:solidFill>
                  <a:srgbClr val="F5F8FC"/>
                </a:solidFill>
                <a:effectLst/>
                <a:uFillTx/>
                <a:latin typeface="Aptos"/>
              </a:rPr>
              <a:t>Choose on: task quality • fresh-data access • tool integrations • privacy • latency • cost • context • team workflow — not brand loyalty.</a:t>
            </a:r>
            <a:endParaRPr lang="en-US" sz="1250" b="0" u="none" strike="noStrike">
              <a:solidFill>
                <a:srgbClr val="FFFFFF"/>
              </a:solidFill>
              <a:effectLst/>
              <a:uFillTx/>
              <a:latin typeface="Arial"/>
            </a:endParaRPr>
          </a:p>
        </p:txBody>
      </p:sp>
      <p:sp>
        <p:nvSpPr>
          <p:cNvPr id="430" name="Text 28">
            <a:hlinkClick r:id="rId3"/>
          </p:cNvPr>
          <p:cNvSpPr/>
          <p:nvPr/>
        </p:nvSpPr>
        <p:spPr>
          <a:xfrm>
            <a:off x="521280" y="6190560"/>
            <a:ext cx="1257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OpenAI</a:t>
            </a:r>
            <a:endParaRPr lang="en-US" sz="720" b="0" u="none" strike="noStrike">
              <a:solidFill>
                <a:srgbClr val="FFFFFF"/>
              </a:solidFill>
              <a:effectLst/>
              <a:uFillTx/>
              <a:latin typeface="Arial"/>
            </a:endParaRPr>
          </a:p>
        </p:txBody>
      </p:sp>
      <p:sp>
        <p:nvSpPr>
          <p:cNvPr id="431" name="Text 29">
            <a:hlinkClick r:id="rId4"/>
          </p:cNvPr>
          <p:cNvSpPr/>
          <p:nvPr/>
        </p:nvSpPr>
        <p:spPr>
          <a:xfrm>
            <a:off x="1778400" y="6190560"/>
            <a:ext cx="11059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Anthropic</a:t>
            </a:r>
            <a:endParaRPr lang="en-US" sz="720" b="0" u="none" strike="noStrike">
              <a:solidFill>
                <a:srgbClr val="FFFFFF"/>
              </a:solidFill>
              <a:effectLst/>
              <a:uFillTx/>
              <a:latin typeface="Arial"/>
            </a:endParaRPr>
          </a:p>
        </p:txBody>
      </p:sp>
      <p:sp>
        <p:nvSpPr>
          <p:cNvPr id="432" name="Text 30">
            <a:hlinkClick r:id="rId5"/>
          </p:cNvPr>
          <p:cNvSpPr/>
          <p:nvPr/>
        </p:nvSpPr>
        <p:spPr>
          <a:xfrm>
            <a:off x="2885040" y="6190560"/>
            <a:ext cx="955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5"/>
              </a:rPr>
              <a:t> • Google</a:t>
            </a:r>
            <a:endParaRPr lang="en-US" sz="720" b="0" u="none" strike="noStrike">
              <a:solidFill>
                <a:srgbClr val="FFFFFF"/>
              </a:solidFill>
              <a:effectLst/>
              <a:uFillTx/>
              <a:latin typeface="Arial"/>
            </a:endParaRPr>
          </a:p>
        </p:txBody>
      </p:sp>
      <p:sp>
        <p:nvSpPr>
          <p:cNvPr id="433" name="Text 31">
            <a:hlinkClick r:id="rId6"/>
          </p:cNvPr>
          <p:cNvSpPr/>
          <p:nvPr/>
        </p:nvSpPr>
        <p:spPr>
          <a:xfrm>
            <a:off x="3840480" y="6190560"/>
            <a:ext cx="955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6"/>
              </a:rPr>
              <a:t> • GitHub</a:t>
            </a:r>
            <a:endParaRPr lang="en-US" sz="720" b="0" u="none" strike="noStrike">
              <a:solidFill>
                <a:srgbClr val="FFFFFF"/>
              </a:solidFill>
              <a:effectLst/>
              <a:uFillTx/>
              <a:latin typeface="Arial"/>
            </a:endParaRPr>
          </a:p>
        </p:txBody>
      </p:sp>
      <p:sp>
        <p:nvSpPr>
          <p:cNvPr id="434" name="Text 32">
            <a:hlinkClick r:id="rId7"/>
          </p:cNvPr>
          <p:cNvSpPr/>
          <p:nvPr/>
        </p:nvSpPr>
        <p:spPr>
          <a:xfrm>
            <a:off x="4795920" y="6190560"/>
            <a:ext cx="1156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7"/>
              </a:rPr>
              <a:t> • Perplexity</a:t>
            </a:r>
            <a:endParaRPr lang="en-US" sz="720" b="0" u="none" strike="noStrike">
              <a:solidFill>
                <a:srgbClr val="FFFFFF"/>
              </a:solidFill>
              <a:effectLst/>
              <a:uFillTx/>
              <a:latin typeface="Arial"/>
            </a:endParaRPr>
          </a:p>
        </p:txBody>
      </p:sp>
      <p:sp>
        <p:nvSpPr>
          <p:cNvPr id="435" name="PlaceHolder 1"/>
          <p:cNvSpPr>
            <a:spLocks noGrp="1"/>
          </p:cNvSpPr>
          <p:nvPr>
            <p:ph type="sldNum" idx="17"/>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5B6C3A00-444C-4471-BBF9-50ECDD4AF970}" type="slidenum">
              <a:rPr lang="en-US" sz="750" b="0" u="none" strike="noStrike">
                <a:solidFill>
                  <a:srgbClr val="73809A"/>
                </a:solidFill>
                <a:effectLst/>
                <a:uFillTx/>
                <a:latin typeface="Aptos"/>
                <a:ea typeface="Aptos"/>
              </a:rPr>
              <a:t>13</a:t>
            </a:fld>
            <a:endParaRPr lang="en-US" sz="750" b="0" u="none" strike="noStrike">
              <a:solidFill>
                <a:srgbClr val="FFFFFF"/>
              </a:solidFill>
              <a:effectLst/>
              <a:uFillTx/>
              <a:latin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Model families snapshot — August 16, 2026</a:t>
            </a:r>
            <a:endParaRPr lang="en-US" sz="2600" b="0" u="none" strike="noStrike">
              <a:solidFill>
                <a:srgbClr val="FFFFFF"/>
              </a:solidFill>
              <a:effectLst/>
              <a:uFillTx/>
              <a:latin typeface="Arial"/>
            </a:endParaRPr>
          </a:p>
        </p:txBody>
      </p:sp>
      <p:sp>
        <p:nvSpPr>
          <p:cNvPr id="43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Names change. Learn the pattern: flagship / balanced / fast + specialist models.</a:t>
            </a:r>
            <a:endParaRPr lang="en-US" sz="1150" b="0" u="none" strike="noStrike">
              <a:solidFill>
                <a:srgbClr val="FFFFFF"/>
              </a:solidFill>
              <a:effectLst/>
              <a:uFillTx/>
              <a:latin typeface="Arial"/>
            </a:endParaRPr>
          </a:p>
        </p:txBody>
      </p:sp>
      <p:sp>
        <p:nvSpPr>
          <p:cNvPr id="438" name="Shape 2"/>
          <p:cNvSpPr/>
          <p:nvPr/>
        </p:nvSpPr>
        <p:spPr>
          <a:xfrm>
            <a:off x="594360" y="1261800"/>
            <a:ext cx="5321520" cy="1947240"/>
          </a:xfrm>
          <a:prstGeom prst="roundRect">
            <a:avLst>
              <a:gd name="adj" fmla="val 37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39" name="Shape 3"/>
          <p:cNvSpPr/>
          <p:nvPr/>
        </p:nvSpPr>
        <p:spPr>
          <a:xfrm>
            <a:off x="594360" y="1261800"/>
            <a:ext cx="54360" cy="194724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0" name="Text 4"/>
          <p:cNvSpPr/>
          <p:nvPr/>
        </p:nvSpPr>
        <p:spPr>
          <a:xfrm>
            <a:off x="795600" y="1426320"/>
            <a:ext cx="4974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OPENAI</a:t>
            </a:r>
            <a:endParaRPr lang="en-US" sz="1500" b="0" u="none" strike="noStrike">
              <a:solidFill>
                <a:srgbClr val="FFFFFF"/>
              </a:solidFill>
              <a:effectLst/>
              <a:uFillTx/>
              <a:latin typeface="Arial"/>
            </a:endParaRPr>
          </a:p>
        </p:txBody>
      </p:sp>
      <p:sp>
        <p:nvSpPr>
          <p:cNvPr id="441" name="Text 5"/>
          <p:cNvSpPr/>
          <p:nvPr/>
        </p:nvSpPr>
        <p:spPr>
          <a:xfrm>
            <a:off x="795600" y="1764720"/>
            <a:ext cx="4974120" cy="1288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 GPT-5.6 Sol — flagship</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GPT-5.6 Terra — balanced</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GPT-5.6 Luna — fastest / lowest-cost tier</a:t>
            </a:r>
            <a:endParaRPr lang="en-US" sz="1060" b="0" u="none" strike="noStrike">
              <a:solidFill>
                <a:srgbClr val="FFFFFF"/>
              </a:solidFill>
              <a:effectLst/>
              <a:uFillTx/>
              <a:latin typeface="Arial"/>
            </a:endParaRPr>
          </a:p>
        </p:txBody>
      </p:sp>
      <p:sp>
        <p:nvSpPr>
          <p:cNvPr id="442" name="Shape 6"/>
          <p:cNvSpPr/>
          <p:nvPr/>
        </p:nvSpPr>
        <p:spPr>
          <a:xfrm>
            <a:off x="6217920" y="1261800"/>
            <a:ext cx="5321520" cy="1947240"/>
          </a:xfrm>
          <a:prstGeom prst="roundRect">
            <a:avLst>
              <a:gd name="adj" fmla="val 37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3" name="Shape 7"/>
          <p:cNvSpPr/>
          <p:nvPr/>
        </p:nvSpPr>
        <p:spPr>
          <a:xfrm>
            <a:off x="6217920" y="1261800"/>
            <a:ext cx="54360" cy="194724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4" name="Text 8"/>
          <p:cNvSpPr/>
          <p:nvPr/>
        </p:nvSpPr>
        <p:spPr>
          <a:xfrm>
            <a:off x="6419160" y="1426320"/>
            <a:ext cx="4974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ANTHROPIC</a:t>
            </a:r>
            <a:endParaRPr lang="en-US" sz="1500" b="0" u="none" strike="noStrike">
              <a:solidFill>
                <a:srgbClr val="FFFFFF"/>
              </a:solidFill>
              <a:effectLst/>
              <a:uFillTx/>
              <a:latin typeface="Arial"/>
            </a:endParaRPr>
          </a:p>
        </p:txBody>
      </p:sp>
      <p:sp>
        <p:nvSpPr>
          <p:cNvPr id="445" name="Text 9"/>
          <p:cNvSpPr/>
          <p:nvPr/>
        </p:nvSpPr>
        <p:spPr>
          <a:xfrm>
            <a:off x="6419160" y="1764720"/>
            <a:ext cx="4974120" cy="1288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 Claude Fable 5 — highest broadly released capability</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Claude Opus 5 — complex agentic / enterprise</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Claude Sonnet 5 — speed + intelligence</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Claude Haiku 4.5 — fastest</a:t>
            </a:r>
            <a:endParaRPr lang="en-US" sz="1060" b="0" u="none" strike="noStrike">
              <a:solidFill>
                <a:srgbClr val="FFFFFF"/>
              </a:solidFill>
              <a:effectLst/>
              <a:uFillTx/>
              <a:latin typeface="Arial"/>
            </a:endParaRPr>
          </a:p>
        </p:txBody>
      </p:sp>
      <p:sp>
        <p:nvSpPr>
          <p:cNvPr id="446" name="Shape 10"/>
          <p:cNvSpPr/>
          <p:nvPr/>
        </p:nvSpPr>
        <p:spPr>
          <a:xfrm>
            <a:off x="594360" y="3474720"/>
            <a:ext cx="5321520" cy="1947240"/>
          </a:xfrm>
          <a:prstGeom prst="roundRect">
            <a:avLst>
              <a:gd name="adj" fmla="val 37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47" name="Shape 11"/>
          <p:cNvSpPr/>
          <p:nvPr/>
        </p:nvSpPr>
        <p:spPr>
          <a:xfrm>
            <a:off x="594360" y="3474720"/>
            <a:ext cx="54360" cy="194724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48" name="Text 12"/>
          <p:cNvSpPr/>
          <p:nvPr/>
        </p:nvSpPr>
        <p:spPr>
          <a:xfrm>
            <a:off x="795600" y="3639240"/>
            <a:ext cx="4974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GOOGLE</a:t>
            </a:r>
            <a:endParaRPr lang="en-US" sz="1500" b="0" u="none" strike="noStrike">
              <a:solidFill>
                <a:srgbClr val="FFFFFF"/>
              </a:solidFill>
              <a:effectLst/>
              <a:uFillTx/>
              <a:latin typeface="Arial"/>
            </a:endParaRPr>
          </a:p>
        </p:txBody>
      </p:sp>
      <p:sp>
        <p:nvSpPr>
          <p:cNvPr id="449" name="Text 13"/>
          <p:cNvSpPr/>
          <p:nvPr/>
        </p:nvSpPr>
        <p:spPr>
          <a:xfrm>
            <a:off x="795600" y="3977640"/>
            <a:ext cx="4974120" cy="1288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 Gemini 3.1 Pro — advanced problem solving (preview)</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Gemini 3.7 Flash — latest capable Flash</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Flash-Lite — high-throughput / lower cost</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Specialized Live / image / video models</a:t>
            </a:r>
            <a:endParaRPr lang="en-US" sz="1060" b="0" u="none" strike="noStrike">
              <a:solidFill>
                <a:srgbClr val="FFFFFF"/>
              </a:solidFill>
              <a:effectLst/>
              <a:uFillTx/>
              <a:latin typeface="Arial"/>
            </a:endParaRPr>
          </a:p>
        </p:txBody>
      </p:sp>
      <p:sp>
        <p:nvSpPr>
          <p:cNvPr id="450" name="Shape 14"/>
          <p:cNvSpPr/>
          <p:nvPr/>
        </p:nvSpPr>
        <p:spPr>
          <a:xfrm>
            <a:off x="6217920" y="3474720"/>
            <a:ext cx="5321520" cy="1947240"/>
          </a:xfrm>
          <a:prstGeom prst="roundRect">
            <a:avLst>
              <a:gd name="adj" fmla="val 375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51" name="Shape 15"/>
          <p:cNvSpPr/>
          <p:nvPr/>
        </p:nvSpPr>
        <p:spPr>
          <a:xfrm>
            <a:off x="6217920" y="3474720"/>
            <a:ext cx="54360" cy="194724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52" name="Text 16"/>
          <p:cNvSpPr/>
          <p:nvPr/>
        </p:nvSpPr>
        <p:spPr>
          <a:xfrm>
            <a:off x="6419160" y="3639240"/>
            <a:ext cx="497412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LOCAL / OPEN WEIGHTS</a:t>
            </a:r>
            <a:endParaRPr lang="en-US" sz="1500" b="0" u="none" strike="noStrike">
              <a:solidFill>
                <a:srgbClr val="FFFFFF"/>
              </a:solidFill>
              <a:effectLst/>
              <a:uFillTx/>
              <a:latin typeface="Arial"/>
            </a:endParaRPr>
          </a:p>
        </p:txBody>
      </p:sp>
      <p:sp>
        <p:nvSpPr>
          <p:cNvPr id="453" name="Text 17"/>
          <p:cNvSpPr/>
          <p:nvPr/>
        </p:nvSpPr>
        <p:spPr>
          <a:xfrm>
            <a:off x="6419160" y="3977640"/>
            <a:ext cx="4974120" cy="1288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 Qwen families</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Gemma families</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Llama families</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 Many sizes + quantizations</a:t>
            </a:r>
            <a:endParaRPr lang="en-US" sz="1060" b="0" u="none" strike="noStrike">
              <a:solidFill>
                <a:srgbClr val="FFFFFF"/>
              </a:solidFill>
              <a:effectLst/>
              <a:uFillTx/>
              <a:latin typeface="Arial"/>
            </a:endParaRPr>
          </a:p>
        </p:txBody>
      </p:sp>
      <p:sp>
        <p:nvSpPr>
          <p:cNvPr id="454" name="Text 18"/>
          <p:cNvSpPr/>
          <p:nvPr/>
        </p:nvSpPr>
        <p:spPr>
          <a:xfrm>
            <a:off x="777240" y="5577840"/>
            <a:ext cx="10560960" cy="328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20" b="1" u="none" strike="noStrike">
                <a:solidFill>
                  <a:srgbClr val="FF6B6B"/>
                </a:solidFill>
                <a:effectLst/>
                <a:uFillTx/>
                <a:latin typeface="Aptos"/>
              </a:rPr>
              <a:t>Model menus are live inventory. Before a class, project, or purchase decision, check the vendor’s current model page and release notes.</a:t>
            </a:r>
            <a:endParaRPr lang="en-US" sz="1320" b="0" u="none" strike="noStrike">
              <a:solidFill>
                <a:srgbClr val="FFFFFF"/>
              </a:solidFill>
              <a:effectLst/>
              <a:uFillTx/>
              <a:latin typeface="Arial"/>
            </a:endParaRPr>
          </a:p>
        </p:txBody>
      </p:sp>
      <p:sp>
        <p:nvSpPr>
          <p:cNvPr id="455" name="Text 19">
            <a:hlinkClick r:id="rId3"/>
          </p:cNvPr>
          <p:cNvSpPr/>
          <p:nvPr/>
        </p:nvSpPr>
        <p:spPr>
          <a:xfrm>
            <a:off x="521280" y="6190560"/>
            <a:ext cx="2011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OpenAI current family</a:t>
            </a:r>
            <a:endParaRPr lang="en-US" sz="720" b="0" u="none" strike="noStrike">
              <a:solidFill>
                <a:srgbClr val="FFFFFF"/>
              </a:solidFill>
              <a:effectLst/>
              <a:uFillTx/>
              <a:latin typeface="Arial"/>
            </a:endParaRPr>
          </a:p>
        </p:txBody>
      </p:sp>
      <p:sp>
        <p:nvSpPr>
          <p:cNvPr id="456" name="Text 20">
            <a:hlinkClick r:id="rId4"/>
          </p:cNvPr>
          <p:cNvSpPr/>
          <p:nvPr/>
        </p:nvSpPr>
        <p:spPr>
          <a:xfrm>
            <a:off x="2532960" y="6190560"/>
            <a:ext cx="1709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Claude current family</a:t>
            </a:r>
            <a:endParaRPr lang="en-US" sz="720" b="0" u="none" strike="noStrike">
              <a:solidFill>
                <a:srgbClr val="FFFFFF"/>
              </a:solidFill>
              <a:effectLst/>
              <a:uFillTx/>
              <a:latin typeface="Arial"/>
            </a:endParaRPr>
          </a:p>
        </p:txBody>
      </p:sp>
      <p:sp>
        <p:nvSpPr>
          <p:cNvPr id="457" name="Text 21">
            <a:hlinkClick r:id="rId5"/>
          </p:cNvPr>
          <p:cNvSpPr/>
          <p:nvPr/>
        </p:nvSpPr>
        <p:spPr>
          <a:xfrm>
            <a:off x="4242960" y="6190560"/>
            <a:ext cx="176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5"/>
              </a:rPr>
              <a:t> • Gemini current catalog</a:t>
            </a:r>
            <a:endParaRPr lang="en-US" sz="720" b="0" u="none" strike="noStrike">
              <a:solidFill>
                <a:srgbClr val="FFFFFF"/>
              </a:solidFill>
              <a:effectLst/>
              <a:uFillTx/>
              <a:latin typeface="Arial"/>
            </a:endParaRPr>
          </a:p>
        </p:txBody>
      </p:sp>
      <p:sp>
        <p:nvSpPr>
          <p:cNvPr id="458" name="Text 22">
            <a:hlinkClick r:id="rId6"/>
          </p:cNvPr>
          <p:cNvSpPr/>
          <p:nvPr/>
        </p:nvSpPr>
        <p:spPr>
          <a:xfrm>
            <a:off x="6003000" y="6190560"/>
            <a:ext cx="1659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6"/>
              </a:rPr>
              <a:t> • Ollama model library</a:t>
            </a:r>
            <a:endParaRPr lang="en-US" sz="720" b="0" u="none" strike="noStrike">
              <a:solidFill>
                <a:srgbClr val="FFFFFF"/>
              </a:solidFill>
              <a:effectLst/>
              <a:uFillTx/>
              <a:latin typeface="Arial"/>
            </a:endParaRPr>
          </a:p>
        </p:txBody>
      </p:sp>
      <p:sp>
        <p:nvSpPr>
          <p:cNvPr id="459" name="PlaceHolder 1"/>
          <p:cNvSpPr>
            <a:spLocks noGrp="1"/>
          </p:cNvSpPr>
          <p:nvPr>
            <p:ph type="sldNum" idx="18"/>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082CD639-6AD0-449C-B7EB-42851F6750C4}" type="slidenum">
              <a:rPr lang="en-US" sz="750" b="0" u="none" strike="noStrike">
                <a:solidFill>
                  <a:srgbClr val="73809A"/>
                </a:solidFill>
                <a:effectLst/>
                <a:uFillTx/>
                <a:latin typeface="Aptos"/>
                <a:ea typeface="Aptos"/>
              </a:rPr>
              <a:t>14</a:t>
            </a:fld>
            <a:endParaRPr lang="en-US" sz="750" b="0" u="none" strike="noStrike">
              <a:solidFill>
                <a:srgbClr val="FFFFFF"/>
              </a:solidFill>
              <a:effectLst/>
              <a:uFillTx/>
              <a:latin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How to read AI benchmarks without getting fooled</a:t>
            </a:r>
            <a:endParaRPr lang="en-US" sz="2600" b="0" u="none" strike="noStrike">
              <a:solidFill>
                <a:srgbClr val="FFFFFF"/>
              </a:solidFill>
              <a:effectLst/>
              <a:uFillTx/>
              <a:latin typeface="Arial"/>
            </a:endParaRPr>
          </a:p>
        </p:txBody>
      </p:sp>
      <p:sp>
        <p:nvSpPr>
          <p:cNvPr id="461"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A leaderboard is evidence about a test — not a universal answer to “which model is best?”</a:t>
            </a:r>
            <a:endParaRPr lang="en-US" sz="1150" b="0" u="none" strike="noStrike">
              <a:solidFill>
                <a:srgbClr val="FFFFFF"/>
              </a:solidFill>
              <a:effectLst/>
              <a:uFillTx/>
              <a:latin typeface="Arial"/>
            </a:endParaRPr>
          </a:p>
        </p:txBody>
      </p:sp>
      <p:sp>
        <p:nvSpPr>
          <p:cNvPr id="462" name="Shape 2"/>
          <p:cNvSpPr/>
          <p:nvPr/>
        </p:nvSpPr>
        <p:spPr>
          <a:xfrm>
            <a:off x="640080" y="1225440"/>
            <a:ext cx="5440320" cy="658080"/>
          </a:xfrm>
          <a:prstGeom prst="roundRect">
            <a:avLst>
              <a:gd name="adj" fmla="val 694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3" name="Text 3"/>
          <p:cNvSpPr/>
          <p:nvPr/>
        </p:nvSpPr>
        <p:spPr>
          <a:xfrm>
            <a:off x="841320" y="1389960"/>
            <a:ext cx="255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33D6FF"/>
                </a:solidFill>
                <a:effectLst/>
                <a:uFillTx/>
                <a:latin typeface="Aptos"/>
              </a:rPr>
              <a:t>1</a:t>
            </a:r>
            <a:endParaRPr lang="en-US" sz="1100" b="0" u="none" strike="noStrike">
              <a:solidFill>
                <a:srgbClr val="FFFFFF"/>
              </a:solidFill>
              <a:effectLst/>
              <a:uFillTx/>
              <a:latin typeface="Arial"/>
            </a:endParaRPr>
          </a:p>
        </p:txBody>
      </p:sp>
      <p:sp>
        <p:nvSpPr>
          <p:cNvPr id="464" name="Text 4"/>
          <p:cNvSpPr/>
          <p:nvPr/>
        </p:nvSpPr>
        <p:spPr>
          <a:xfrm>
            <a:off x="1234440" y="133488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5F8FC"/>
                </a:solidFill>
                <a:effectLst/>
                <a:uFillTx/>
                <a:latin typeface="Aptos"/>
              </a:rPr>
              <a:t>What does it test?</a:t>
            </a:r>
            <a:endParaRPr lang="en-US" sz="1250" b="0" u="none" strike="noStrike">
              <a:solidFill>
                <a:srgbClr val="FFFFFF"/>
              </a:solidFill>
              <a:effectLst/>
              <a:uFillTx/>
              <a:latin typeface="Arial"/>
            </a:endParaRPr>
          </a:p>
        </p:txBody>
      </p:sp>
      <p:sp>
        <p:nvSpPr>
          <p:cNvPr id="465" name="Text 5"/>
          <p:cNvSpPr/>
          <p:nvPr/>
        </p:nvSpPr>
        <p:spPr>
          <a:xfrm>
            <a:off x="2761560" y="132588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70" b="0" u="none" strike="noStrike">
                <a:solidFill>
                  <a:srgbClr val="AAB5C8"/>
                </a:solidFill>
                <a:effectLst/>
                <a:uFillTx/>
                <a:latin typeface="Aptos"/>
              </a:rPr>
              <a:t>Coding? preference? math? agent tools? long context?</a:t>
            </a:r>
            <a:endParaRPr lang="en-US" sz="970" b="0" u="none" strike="noStrike">
              <a:solidFill>
                <a:srgbClr val="FFFFFF"/>
              </a:solidFill>
              <a:effectLst/>
              <a:uFillTx/>
              <a:latin typeface="Arial"/>
            </a:endParaRPr>
          </a:p>
        </p:txBody>
      </p:sp>
      <p:sp>
        <p:nvSpPr>
          <p:cNvPr id="466" name="Shape 6"/>
          <p:cNvSpPr/>
          <p:nvPr/>
        </p:nvSpPr>
        <p:spPr>
          <a:xfrm>
            <a:off x="640080" y="2057400"/>
            <a:ext cx="5440320" cy="658080"/>
          </a:xfrm>
          <a:prstGeom prst="roundRect">
            <a:avLst>
              <a:gd name="adj" fmla="val 694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67" name="Text 7"/>
          <p:cNvSpPr/>
          <p:nvPr/>
        </p:nvSpPr>
        <p:spPr>
          <a:xfrm>
            <a:off x="841320" y="2221920"/>
            <a:ext cx="255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40E0A1"/>
                </a:solidFill>
                <a:effectLst/>
                <a:uFillTx/>
                <a:latin typeface="Aptos"/>
              </a:rPr>
              <a:t>2</a:t>
            </a:r>
            <a:endParaRPr lang="en-US" sz="1100" b="0" u="none" strike="noStrike">
              <a:solidFill>
                <a:srgbClr val="FFFFFF"/>
              </a:solidFill>
              <a:effectLst/>
              <a:uFillTx/>
              <a:latin typeface="Arial"/>
            </a:endParaRPr>
          </a:p>
        </p:txBody>
      </p:sp>
      <p:sp>
        <p:nvSpPr>
          <p:cNvPr id="468" name="Text 8"/>
          <p:cNvSpPr/>
          <p:nvPr/>
        </p:nvSpPr>
        <p:spPr>
          <a:xfrm>
            <a:off x="1234440" y="216720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5F8FC"/>
                </a:solidFill>
                <a:effectLst/>
                <a:uFillTx/>
                <a:latin typeface="Aptos"/>
              </a:rPr>
              <a:t>Who ran it?</a:t>
            </a:r>
            <a:endParaRPr lang="en-US" sz="1250" b="0" u="none" strike="noStrike">
              <a:solidFill>
                <a:srgbClr val="FFFFFF"/>
              </a:solidFill>
              <a:effectLst/>
              <a:uFillTx/>
              <a:latin typeface="Arial"/>
            </a:endParaRPr>
          </a:p>
        </p:txBody>
      </p:sp>
      <p:sp>
        <p:nvSpPr>
          <p:cNvPr id="469" name="Text 9"/>
          <p:cNvSpPr/>
          <p:nvPr/>
        </p:nvSpPr>
        <p:spPr>
          <a:xfrm>
            <a:off x="2761560" y="215784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70" b="0" u="none" strike="noStrike">
                <a:solidFill>
                  <a:srgbClr val="AAB5C8"/>
                </a:solidFill>
                <a:effectLst/>
                <a:uFillTx/>
                <a:latin typeface="Aptos"/>
              </a:rPr>
              <a:t>Vendor self-report or independent evaluator?</a:t>
            </a:r>
            <a:endParaRPr lang="en-US" sz="970" b="0" u="none" strike="noStrike">
              <a:solidFill>
                <a:srgbClr val="FFFFFF"/>
              </a:solidFill>
              <a:effectLst/>
              <a:uFillTx/>
              <a:latin typeface="Arial"/>
            </a:endParaRPr>
          </a:p>
        </p:txBody>
      </p:sp>
      <p:sp>
        <p:nvSpPr>
          <p:cNvPr id="470" name="Shape 10"/>
          <p:cNvSpPr/>
          <p:nvPr/>
        </p:nvSpPr>
        <p:spPr>
          <a:xfrm>
            <a:off x="640080" y="2889360"/>
            <a:ext cx="5440320" cy="658080"/>
          </a:xfrm>
          <a:prstGeom prst="roundRect">
            <a:avLst>
              <a:gd name="adj" fmla="val 694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1" name="Text 11"/>
          <p:cNvSpPr/>
          <p:nvPr/>
        </p:nvSpPr>
        <p:spPr>
          <a:xfrm>
            <a:off x="841320" y="3054240"/>
            <a:ext cx="255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FFC857"/>
                </a:solidFill>
                <a:effectLst/>
                <a:uFillTx/>
                <a:latin typeface="Aptos"/>
              </a:rPr>
              <a:t>3</a:t>
            </a:r>
            <a:endParaRPr lang="en-US" sz="1100" b="0" u="none" strike="noStrike">
              <a:solidFill>
                <a:srgbClr val="FFFFFF"/>
              </a:solidFill>
              <a:effectLst/>
              <a:uFillTx/>
              <a:latin typeface="Arial"/>
            </a:endParaRPr>
          </a:p>
        </p:txBody>
      </p:sp>
      <p:sp>
        <p:nvSpPr>
          <p:cNvPr id="472" name="Text 12"/>
          <p:cNvSpPr/>
          <p:nvPr/>
        </p:nvSpPr>
        <p:spPr>
          <a:xfrm>
            <a:off x="1234440" y="299916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5F8FC"/>
                </a:solidFill>
                <a:effectLst/>
                <a:uFillTx/>
                <a:latin typeface="Aptos"/>
              </a:rPr>
              <a:t>What harness?</a:t>
            </a:r>
            <a:endParaRPr lang="en-US" sz="1250" b="0" u="none" strike="noStrike">
              <a:solidFill>
                <a:srgbClr val="FFFFFF"/>
              </a:solidFill>
              <a:effectLst/>
              <a:uFillTx/>
              <a:latin typeface="Arial"/>
            </a:endParaRPr>
          </a:p>
        </p:txBody>
      </p:sp>
      <p:sp>
        <p:nvSpPr>
          <p:cNvPr id="473" name="Text 13"/>
          <p:cNvSpPr/>
          <p:nvPr/>
        </p:nvSpPr>
        <p:spPr>
          <a:xfrm>
            <a:off x="2761560" y="299016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70" b="0" u="none" strike="noStrike">
                <a:solidFill>
                  <a:srgbClr val="AAB5C8"/>
                </a:solidFill>
                <a:effectLst/>
                <a:uFillTx/>
                <a:latin typeface="Aptos"/>
              </a:rPr>
              <a:t>Prompting, tools, reasoning effort, number of attempts, temperature?</a:t>
            </a:r>
            <a:endParaRPr lang="en-US" sz="970" b="0" u="none" strike="noStrike">
              <a:solidFill>
                <a:srgbClr val="FFFFFF"/>
              </a:solidFill>
              <a:effectLst/>
              <a:uFillTx/>
              <a:latin typeface="Arial"/>
            </a:endParaRPr>
          </a:p>
        </p:txBody>
      </p:sp>
      <p:sp>
        <p:nvSpPr>
          <p:cNvPr id="474" name="Shape 14"/>
          <p:cNvSpPr/>
          <p:nvPr/>
        </p:nvSpPr>
        <p:spPr>
          <a:xfrm>
            <a:off x="640080" y="3721680"/>
            <a:ext cx="5440320" cy="658080"/>
          </a:xfrm>
          <a:prstGeom prst="roundRect">
            <a:avLst>
              <a:gd name="adj" fmla="val 694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5" name="Text 15"/>
          <p:cNvSpPr/>
          <p:nvPr/>
        </p:nvSpPr>
        <p:spPr>
          <a:xfrm>
            <a:off x="841320" y="3886200"/>
            <a:ext cx="255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A78BFA"/>
                </a:solidFill>
                <a:effectLst/>
                <a:uFillTx/>
                <a:latin typeface="Aptos"/>
              </a:rPr>
              <a:t>4</a:t>
            </a:r>
            <a:endParaRPr lang="en-US" sz="1100" b="0" u="none" strike="noStrike">
              <a:solidFill>
                <a:srgbClr val="FFFFFF"/>
              </a:solidFill>
              <a:effectLst/>
              <a:uFillTx/>
              <a:latin typeface="Arial"/>
            </a:endParaRPr>
          </a:p>
        </p:txBody>
      </p:sp>
      <p:sp>
        <p:nvSpPr>
          <p:cNvPr id="476" name="Text 16"/>
          <p:cNvSpPr/>
          <p:nvPr/>
        </p:nvSpPr>
        <p:spPr>
          <a:xfrm>
            <a:off x="1234440" y="383148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5F8FC"/>
                </a:solidFill>
                <a:effectLst/>
                <a:uFillTx/>
                <a:latin typeface="Aptos"/>
              </a:rPr>
              <a:t>What version/date?</a:t>
            </a:r>
            <a:endParaRPr lang="en-US" sz="1250" b="0" u="none" strike="noStrike">
              <a:solidFill>
                <a:srgbClr val="FFFFFF"/>
              </a:solidFill>
              <a:effectLst/>
              <a:uFillTx/>
              <a:latin typeface="Arial"/>
            </a:endParaRPr>
          </a:p>
        </p:txBody>
      </p:sp>
      <p:sp>
        <p:nvSpPr>
          <p:cNvPr id="477" name="Text 17"/>
          <p:cNvSpPr/>
          <p:nvPr/>
        </p:nvSpPr>
        <p:spPr>
          <a:xfrm>
            <a:off x="2761560" y="382212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70" b="0" u="none" strike="noStrike">
                <a:solidFill>
                  <a:srgbClr val="AAB5C8"/>
                </a:solidFill>
                <a:effectLst/>
                <a:uFillTx/>
                <a:latin typeface="Aptos"/>
              </a:rPr>
              <a:t>Models and benchmarks both change.</a:t>
            </a:r>
            <a:endParaRPr lang="en-US" sz="970" b="0" u="none" strike="noStrike">
              <a:solidFill>
                <a:srgbClr val="FFFFFF"/>
              </a:solidFill>
              <a:effectLst/>
              <a:uFillTx/>
              <a:latin typeface="Arial"/>
            </a:endParaRPr>
          </a:p>
        </p:txBody>
      </p:sp>
      <p:sp>
        <p:nvSpPr>
          <p:cNvPr id="478" name="Shape 18"/>
          <p:cNvSpPr/>
          <p:nvPr/>
        </p:nvSpPr>
        <p:spPr>
          <a:xfrm>
            <a:off x="640080" y="4553640"/>
            <a:ext cx="5440320" cy="658080"/>
          </a:xfrm>
          <a:prstGeom prst="roundRect">
            <a:avLst>
              <a:gd name="adj" fmla="val 6944"/>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79" name="Text 19"/>
          <p:cNvSpPr/>
          <p:nvPr/>
        </p:nvSpPr>
        <p:spPr>
          <a:xfrm>
            <a:off x="841320" y="4718160"/>
            <a:ext cx="2556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u="none" strike="noStrike">
                <a:solidFill>
                  <a:srgbClr val="FF6B6B"/>
                </a:solidFill>
                <a:effectLst/>
                <a:uFillTx/>
                <a:latin typeface="Aptos"/>
              </a:rPr>
              <a:t>5</a:t>
            </a:r>
            <a:endParaRPr lang="en-US" sz="1100" b="0" u="none" strike="noStrike">
              <a:solidFill>
                <a:srgbClr val="FFFFFF"/>
              </a:solidFill>
              <a:effectLst/>
              <a:uFillTx/>
              <a:latin typeface="Arial"/>
            </a:endParaRPr>
          </a:p>
        </p:txBody>
      </p:sp>
      <p:sp>
        <p:nvSpPr>
          <p:cNvPr id="480" name="Text 20"/>
          <p:cNvSpPr/>
          <p:nvPr/>
        </p:nvSpPr>
        <p:spPr>
          <a:xfrm>
            <a:off x="1234440" y="4663440"/>
            <a:ext cx="15084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u="none" strike="noStrike">
                <a:solidFill>
                  <a:srgbClr val="F5F8FC"/>
                </a:solidFill>
                <a:effectLst/>
                <a:uFillTx/>
                <a:latin typeface="Aptos"/>
              </a:rPr>
              <a:t>What tradeoff?</a:t>
            </a:r>
            <a:endParaRPr lang="en-US" sz="1250" b="0" u="none" strike="noStrike">
              <a:solidFill>
                <a:srgbClr val="FFFFFF"/>
              </a:solidFill>
              <a:effectLst/>
              <a:uFillTx/>
              <a:latin typeface="Arial"/>
            </a:endParaRPr>
          </a:p>
        </p:txBody>
      </p:sp>
      <p:sp>
        <p:nvSpPr>
          <p:cNvPr id="481" name="Text 21"/>
          <p:cNvSpPr/>
          <p:nvPr/>
        </p:nvSpPr>
        <p:spPr>
          <a:xfrm>
            <a:off x="2761560" y="4654440"/>
            <a:ext cx="298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70" b="0" u="none" strike="noStrike">
                <a:solidFill>
                  <a:srgbClr val="AAB5C8"/>
                </a:solidFill>
                <a:effectLst/>
                <a:uFillTx/>
                <a:latin typeface="Aptos"/>
              </a:rPr>
              <a:t>Quality vs latency vs cost vs tokens vs hardware?</a:t>
            </a:r>
            <a:endParaRPr lang="en-US" sz="970" b="0" u="none" strike="noStrike">
              <a:solidFill>
                <a:srgbClr val="FFFFFF"/>
              </a:solidFill>
              <a:effectLst/>
              <a:uFillTx/>
              <a:latin typeface="Arial"/>
            </a:endParaRPr>
          </a:p>
        </p:txBody>
      </p:sp>
      <p:sp>
        <p:nvSpPr>
          <p:cNvPr id="482" name="Text 22"/>
          <p:cNvSpPr/>
          <p:nvPr/>
        </p:nvSpPr>
        <p:spPr>
          <a:xfrm>
            <a:off x="6419160" y="1225440"/>
            <a:ext cx="255996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spc="150">
                <a:solidFill>
                  <a:srgbClr val="40E0A1"/>
                </a:solidFill>
                <a:effectLst/>
                <a:uFillTx/>
                <a:latin typeface="Aptos"/>
              </a:rPr>
              <a:t>USEFUL PLACES TO LOOK</a:t>
            </a:r>
            <a:endParaRPr lang="en-US" sz="850" b="0" u="none" strike="noStrike">
              <a:solidFill>
                <a:srgbClr val="FFFFFF"/>
              </a:solidFill>
              <a:effectLst/>
              <a:uFillTx/>
              <a:latin typeface="Arial"/>
            </a:endParaRPr>
          </a:p>
        </p:txBody>
      </p:sp>
      <p:sp>
        <p:nvSpPr>
          <p:cNvPr id="483" name="Shape 23"/>
          <p:cNvSpPr/>
          <p:nvPr/>
        </p:nvSpPr>
        <p:spPr>
          <a:xfrm>
            <a:off x="6419160" y="1591200"/>
            <a:ext cx="4891680" cy="785880"/>
          </a:xfrm>
          <a:prstGeom prst="roundRect">
            <a:avLst>
              <a:gd name="adj" fmla="val 9302"/>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4" name="Shape 24"/>
          <p:cNvSpPr/>
          <p:nvPr/>
        </p:nvSpPr>
        <p:spPr>
          <a:xfrm>
            <a:off x="6419160" y="1591200"/>
            <a:ext cx="54360" cy="78588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85" name="Text 25"/>
          <p:cNvSpPr/>
          <p:nvPr/>
        </p:nvSpPr>
        <p:spPr>
          <a:xfrm>
            <a:off x="6620400" y="1755720"/>
            <a:ext cx="4544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a:solidFill>
                  <a:srgbClr val="F5F8FC"/>
                </a:solidFill>
                <a:effectLst/>
                <a:uFillTx/>
                <a:latin typeface="Aptos"/>
              </a:rPr>
              <a:t>Artificial Analysis</a:t>
            </a:r>
            <a:endParaRPr lang="en-US" sz="1250" b="0" u="none" strike="noStrike">
              <a:solidFill>
                <a:srgbClr val="FFFFFF"/>
              </a:solidFill>
              <a:effectLst/>
              <a:uFillTx/>
              <a:latin typeface="Arial"/>
            </a:endParaRPr>
          </a:p>
        </p:txBody>
      </p:sp>
      <p:sp>
        <p:nvSpPr>
          <p:cNvPr id="486" name="Text 26"/>
          <p:cNvSpPr/>
          <p:nvPr/>
        </p:nvSpPr>
        <p:spPr>
          <a:xfrm>
            <a:off x="6620400" y="2094120"/>
            <a:ext cx="454428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10000"/>
          </a:bodyPr>
          <a:lstStyle/>
          <a:p>
            <a:pPr defTabSz="914400">
              <a:lnSpc>
                <a:spcPct val="100000"/>
              </a:lnSpc>
              <a:tabLst>
                <a:tab pos="0" algn="l"/>
              </a:tabLst>
            </a:pPr>
            <a:r>
              <a:rPr lang="en-US" sz="920" b="0" u="none" strike="noStrike">
                <a:solidFill>
                  <a:srgbClr val="AAB5C8"/>
                </a:solidFill>
                <a:effectLst/>
                <a:uFillTx/>
                <a:latin typeface="Aptos"/>
              </a:rPr>
              <a:t>Independent composite + speed / cost methodology</a:t>
            </a:r>
            <a:endParaRPr lang="en-US" sz="920" b="0" u="none" strike="noStrike">
              <a:solidFill>
                <a:srgbClr val="FFFFFF"/>
              </a:solidFill>
              <a:effectLst/>
              <a:uFillTx/>
              <a:latin typeface="Arial"/>
            </a:endParaRPr>
          </a:p>
        </p:txBody>
      </p:sp>
      <p:sp>
        <p:nvSpPr>
          <p:cNvPr id="487" name="Text 27">
            <a:hlinkClick r:id="rId3"/>
          </p:cNvPr>
          <p:cNvSpPr/>
          <p:nvPr/>
        </p:nvSpPr>
        <p:spPr>
          <a:xfrm>
            <a:off x="10643760" y="2103120"/>
            <a:ext cx="4111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sng" strike="noStrike">
                <a:solidFill>
                  <a:srgbClr val="33D6FF"/>
                </a:solidFill>
                <a:effectLst/>
                <a:uFillTx/>
                <a:latin typeface="Aptos"/>
                <a:hlinkClick r:id="rId3"/>
              </a:rPr>
              <a:t>open</a:t>
            </a:r>
            <a:endParaRPr lang="en-US" sz="750" b="0" u="none" strike="noStrike">
              <a:solidFill>
                <a:srgbClr val="FFFFFF"/>
              </a:solidFill>
              <a:effectLst/>
              <a:uFillTx/>
              <a:latin typeface="Arial"/>
            </a:endParaRPr>
          </a:p>
        </p:txBody>
      </p:sp>
      <p:sp>
        <p:nvSpPr>
          <p:cNvPr id="488" name="Shape 28"/>
          <p:cNvSpPr/>
          <p:nvPr/>
        </p:nvSpPr>
        <p:spPr>
          <a:xfrm>
            <a:off x="6419160" y="2532960"/>
            <a:ext cx="4891680" cy="785880"/>
          </a:xfrm>
          <a:prstGeom prst="roundRect">
            <a:avLst>
              <a:gd name="adj" fmla="val 9302"/>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89" name="Shape 29"/>
          <p:cNvSpPr/>
          <p:nvPr/>
        </p:nvSpPr>
        <p:spPr>
          <a:xfrm>
            <a:off x="6419160" y="2532960"/>
            <a:ext cx="54360" cy="78588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0" name="Text 30"/>
          <p:cNvSpPr/>
          <p:nvPr/>
        </p:nvSpPr>
        <p:spPr>
          <a:xfrm>
            <a:off x="6620400" y="2697480"/>
            <a:ext cx="4544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a:solidFill>
                  <a:srgbClr val="F5F8FC"/>
                </a:solidFill>
                <a:effectLst/>
                <a:uFillTx/>
                <a:latin typeface="Aptos"/>
              </a:rPr>
              <a:t>Arena</a:t>
            </a:r>
            <a:endParaRPr lang="en-US" sz="1250" b="0" u="none" strike="noStrike">
              <a:solidFill>
                <a:srgbClr val="FFFFFF"/>
              </a:solidFill>
              <a:effectLst/>
              <a:uFillTx/>
              <a:latin typeface="Arial"/>
            </a:endParaRPr>
          </a:p>
        </p:txBody>
      </p:sp>
      <p:sp>
        <p:nvSpPr>
          <p:cNvPr id="491" name="Text 31"/>
          <p:cNvSpPr/>
          <p:nvPr/>
        </p:nvSpPr>
        <p:spPr>
          <a:xfrm>
            <a:off x="6620400" y="3035880"/>
            <a:ext cx="454428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10000"/>
          </a:bodyPr>
          <a:lstStyle/>
          <a:p>
            <a:pPr defTabSz="914400">
              <a:lnSpc>
                <a:spcPct val="100000"/>
              </a:lnSpc>
              <a:tabLst>
                <a:tab pos="0" algn="l"/>
              </a:tabLst>
            </a:pPr>
            <a:r>
              <a:rPr lang="en-US" sz="920" b="0" u="none" strike="noStrike">
                <a:solidFill>
                  <a:srgbClr val="AAB5C8"/>
                </a:solidFill>
                <a:effectLst/>
                <a:uFillTx/>
                <a:latin typeface="Aptos"/>
              </a:rPr>
              <a:t>Blind human preference comparisons + public policy</a:t>
            </a:r>
            <a:endParaRPr lang="en-US" sz="920" b="0" u="none" strike="noStrike">
              <a:solidFill>
                <a:srgbClr val="FFFFFF"/>
              </a:solidFill>
              <a:effectLst/>
              <a:uFillTx/>
              <a:latin typeface="Arial"/>
            </a:endParaRPr>
          </a:p>
        </p:txBody>
      </p:sp>
      <p:sp>
        <p:nvSpPr>
          <p:cNvPr id="492" name="Text 32">
            <a:hlinkClick r:id="rId4"/>
          </p:cNvPr>
          <p:cNvSpPr/>
          <p:nvPr/>
        </p:nvSpPr>
        <p:spPr>
          <a:xfrm>
            <a:off x="10643760" y="3044880"/>
            <a:ext cx="4111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sng" strike="noStrike">
                <a:solidFill>
                  <a:srgbClr val="33D6FF"/>
                </a:solidFill>
                <a:effectLst/>
                <a:uFillTx/>
                <a:latin typeface="Aptos"/>
                <a:hlinkClick r:id="rId4"/>
              </a:rPr>
              <a:t>open</a:t>
            </a:r>
            <a:endParaRPr lang="en-US" sz="750" b="0" u="none" strike="noStrike">
              <a:solidFill>
                <a:srgbClr val="FFFFFF"/>
              </a:solidFill>
              <a:effectLst/>
              <a:uFillTx/>
              <a:latin typeface="Arial"/>
            </a:endParaRPr>
          </a:p>
        </p:txBody>
      </p:sp>
      <p:sp>
        <p:nvSpPr>
          <p:cNvPr id="493" name="Shape 33"/>
          <p:cNvSpPr/>
          <p:nvPr/>
        </p:nvSpPr>
        <p:spPr>
          <a:xfrm>
            <a:off x="6419160" y="3474720"/>
            <a:ext cx="4891680" cy="785880"/>
          </a:xfrm>
          <a:prstGeom prst="roundRect">
            <a:avLst>
              <a:gd name="adj" fmla="val 9302"/>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4" name="Shape 34"/>
          <p:cNvSpPr/>
          <p:nvPr/>
        </p:nvSpPr>
        <p:spPr>
          <a:xfrm>
            <a:off x="6419160" y="3474720"/>
            <a:ext cx="54360" cy="78588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495" name="Text 35"/>
          <p:cNvSpPr/>
          <p:nvPr/>
        </p:nvSpPr>
        <p:spPr>
          <a:xfrm>
            <a:off x="6620400" y="3639240"/>
            <a:ext cx="4544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a:solidFill>
                  <a:srgbClr val="F5F8FC"/>
                </a:solidFill>
                <a:effectLst/>
                <a:uFillTx/>
                <a:latin typeface="Aptos"/>
              </a:rPr>
              <a:t>LiveBench</a:t>
            </a:r>
            <a:endParaRPr lang="en-US" sz="1250" b="0" u="none" strike="noStrike">
              <a:solidFill>
                <a:srgbClr val="FFFFFF"/>
              </a:solidFill>
              <a:effectLst/>
              <a:uFillTx/>
              <a:latin typeface="Arial"/>
            </a:endParaRPr>
          </a:p>
        </p:txBody>
      </p:sp>
      <p:sp>
        <p:nvSpPr>
          <p:cNvPr id="496" name="Text 36"/>
          <p:cNvSpPr/>
          <p:nvPr/>
        </p:nvSpPr>
        <p:spPr>
          <a:xfrm>
            <a:off x="6620400" y="3977640"/>
            <a:ext cx="454428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10000"/>
          </a:bodyPr>
          <a:lstStyle/>
          <a:p>
            <a:pPr defTabSz="914400">
              <a:lnSpc>
                <a:spcPct val="100000"/>
              </a:lnSpc>
              <a:tabLst>
                <a:tab pos="0" algn="l"/>
              </a:tabLst>
            </a:pPr>
            <a:r>
              <a:rPr lang="en-US" sz="920" b="0" u="none" strike="noStrike">
                <a:solidFill>
                  <a:srgbClr val="AAB5C8"/>
                </a:solidFill>
                <a:effectLst/>
                <a:uFillTx/>
                <a:latin typeface="Aptos"/>
              </a:rPr>
              <a:t>Frequently refreshed objective benchmark set</a:t>
            </a:r>
            <a:endParaRPr lang="en-US" sz="920" b="0" u="none" strike="noStrike">
              <a:solidFill>
                <a:srgbClr val="FFFFFF"/>
              </a:solidFill>
              <a:effectLst/>
              <a:uFillTx/>
              <a:latin typeface="Arial"/>
            </a:endParaRPr>
          </a:p>
        </p:txBody>
      </p:sp>
      <p:sp>
        <p:nvSpPr>
          <p:cNvPr id="497" name="Text 37">
            <a:hlinkClick r:id="rId5"/>
          </p:cNvPr>
          <p:cNvSpPr/>
          <p:nvPr/>
        </p:nvSpPr>
        <p:spPr>
          <a:xfrm>
            <a:off x="10643760" y="3986640"/>
            <a:ext cx="4111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sng" strike="noStrike">
                <a:solidFill>
                  <a:srgbClr val="33D6FF"/>
                </a:solidFill>
                <a:effectLst/>
                <a:uFillTx/>
                <a:latin typeface="Aptos"/>
                <a:hlinkClick r:id="rId5"/>
              </a:rPr>
              <a:t>open</a:t>
            </a:r>
            <a:endParaRPr lang="en-US" sz="750" b="0" u="none" strike="noStrike">
              <a:solidFill>
                <a:srgbClr val="FFFFFF"/>
              </a:solidFill>
              <a:effectLst/>
              <a:uFillTx/>
              <a:latin typeface="Arial"/>
            </a:endParaRPr>
          </a:p>
        </p:txBody>
      </p:sp>
      <p:sp>
        <p:nvSpPr>
          <p:cNvPr id="498" name="Shape 38"/>
          <p:cNvSpPr/>
          <p:nvPr/>
        </p:nvSpPr>
        <p:spPr>
          <a:xfrm>
            <a:off x="6419160" y="4416480"/>
            <a:ext cx="4891680" cy="785880"/>
          </a:xfrm>
          <a:prstGeom prst="roundRect">
            <a:avLst>
              <a:gd name="adj" fmla="val 9302"/>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499" name="Shape 39"/>
          <p:cNvSpPr/>
          <p:nvPr/>
        </p:nvSpPr>
        <p:spPr>
          <a:xfrm>
            <a:off x="6419160" y="4416480"/>
            <a:ext cx="54360" cy="78588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0" name="Text 40"/>
          <p:cNvSpPr/>
          <p:nvPr/>
        </p:nvSpPr>
        <p:spPr>
          <a:xfrm>
            <a:off x="6620400" y="4581000"/>
            <a:ext cx="45442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50" b="1" u="none" strike="noStrike">
                <a:solidFill>
                  <a:srgbClr val="F5F8FC"/>
                </a:solidFill>
                <a:effectLst/>
                <a:uFillTx/>
                <a:latin typeface="Aptos"/>
              </a:rPr>
              <a:t>SWE-bench</a:t>
            </a:r>
            <a:endParaRPr lang="en-US" sz="1250" b="0" u="none" strike="noStrike">
              <a:solidFill>
                <a:srgbClr val="FFFFFF"/>
              </a:solidFill>
              <a:effectLst/>
              <a:uFillTx/>
              <a:latin typeface="Arial"/>
            </a:endParaRPr>
          </a:p>
        </p:txBody>
      </p:sp>
      <p:sp>
        <p:nvSpPr>
          <p:cNvPr id="501" name="Text 41"/>
          <p:cNvSpPr/>
          <p:nvPr/>
        </p:nvSpPr>
        <p:spPr>
          <a:xfrm>
            <a:off x="6620400" y="4919400"/>
            <a:ext cx="4544280" cy="1278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lnSpcReduction="10000"/>
          </a:bodyPr>
          <a:lstStyle/>
          <a:p>
            <a:pPr defTabSz="914400">
              <a:lnSpc>
                <a:spcPct val="100000"/>
              </a:lnSpc>
              <a:tabLst>
                <a:tab pos="0" algn="l"/>
              </a:tabLst>
            </a:pPr>
            <a:r>
              <a:rPr lang="en-US" sz="920" b="0" u="none" strike="noStrike">
                <a:solidFill>
                  <a:srgbClr val="AAB5C8"/>
                </a:solidFill>
                <a:effectLst/>
                <a:uFillTx/>
                <a:latin typeface="Aptos"/>
              </a:rPr>
              <a:t>Software engineering benchmark ecosystem</a:t>
            </a:r>
            <a:endParaRPr lang="en-US" sz="920" b="0" u="none" strike="noStrike">
              <a:solidFill>
                <a:srgbClr val="FFFFFF"/>
              </a:solidFill>
              <a:effectLst/>
              <a:uFillTx/>
              <a:latin typeface="Arial"/>
            </a:endParaRPr>
          </a:p>
        </p:txBody>
      </p:sp>
      <p:sp>
        <p:nvSpPr>
          <p:cNvPr id="502" name="Text 42">
            <a:hlinkClick r:id="rId6"/>
          </p:cNvPr>
          <p:cNvSpPr/>
          <p:nvPr/>
        </p:nvSpPr>
        <p:spPr>
          <a:xfrm>
            <a:off x="10643760" y="4928760"/>
            <a:ext cx="4111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750" b="0" u="sng" strike="noStrike">
                <a:solidFill>
                  <a:srgbClr val="33D6FF"/>
                </a:solidFill>
                <a:effectLst/>
                <a:uFillTx/>
                <a:latin typeface="Aptos"/>
                <a:hlinkClick r:id="rId6"/>
              </a:rPr>
              <a:t>open</a:t>
            </a:r>
            <a:endParaRPr lang="en-US" sz="750" b="0" u="none" strike="noStrike">
              <a:solidFill>
                <a:srgbClr val="FFFFFF"/>
              </a:solidFill>
              <a:effectLst/>
              <a:uFillTx/>
              <a:latin typeface="Arial"/>
            </a:endParaRPr>
          </a:p>
        </p:txBody>
      </p:sp>
      <p:sp>
        <p:nvSpPr>
          <p:cNvPr id="503" name="Shape 43"/>
          <p:cNvSpPr/>
          <p:nvPr/>
        </p:nvSpPr>
        <p:spPr>
          <a:xfrm>
            <a:off x="6419160" y="5440680"/>
            <a:ext cx="4891680" cy="411120"/>
          </a:xfrm>
          <a:prstGeom prst="roundRect">
            <a:avLst>
              <a:gd name="adj" fmla="val 8889"/>
            </a:avLst>
          </a:prstGeom>
          <a:solidFill>
            <a:srgbClr val="2A1C1C"/>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4" name="Text 44">
            <a:hlinkClick r:id="rId7"/>
          </p:cNvPr>
          <p:cNvSpPr/>
          <p:nvPr/>
        </p:nvSpPr>
        <p:spPr>
          <a:xfrm>
            <a:off x="6565320" y="5568840"/>
            <a:ext cx="45990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80" b="1" u="sng" strike="noStrike">
                <a:solidFill>
                  <a:srgbClr val="FF6B6B"/>
                </a:solidFill>
                <a:effectLst/>
                <a:uFillTx/>
                <a:latin typeface="Aptos"/>
                <a:hlinkClick r:id="rId7"/>
              </a:rPr>
              <a:t>Benchmark caution: even test suites can contain flawed cases.</a:t>
            </a:r>
            <a:endParaRPr lang="en-US" sz="980" b="0" u="none" strike="noStrike">
              <a:solidFill>
                <a:srgbClr val="FFFFFF"/>
              </a:solidFill>
              <a:effectLst/>
              <a:uFillTx/>
              <a:latin typeface="Arial"/>
            </a:endParaRPr>
          </a:p>
        </p:txBody>
      </p:sp>
      <p:sp>
        <p:nvSpPr>
          <p:cNvPr id="505" name="PlaceHolder 1"/>
          <p:cNvSpPr>
            <a:spLocks noGrp="1"/>
          </p:cNvSpPr>
          <p:nvPr>
            <p:ph type="sldNum" idx="19"/>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2174A032-DEA1-4B00-B071-820D6851287D}" type="slidenum">
              <a:rPr lang="en-US" sz="750" b="0" u="none" strike="noStrike">
                <a:solidFill>
                  <a:srgbClr val="73809A"/>
                </a:solidFill>
                <a:effectLst/>
                <a:uFillTx/>
                <a:latin typeface="Aptos"/>
                <a:ea typeface="Aptos"/>
              </a:rPr>
              <a:t>15</a:t>
            </a:fld>
            <a:endParaRPr lang="en-US" sz="750" b="0" u="none" strike="noStrike">
              <a:solidFill>
                <a:srgbClr val="FFFFFF"/>
              </a:solidFill>
              <a:effectLst/>
              <a:uFillTx/>
              <a:latin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Local AI stack: what each component does</a:t>
            </a:r>
            <a:endParaRPr lang="en-US" sz="2600" b="0" u="none" strike="noStrike">
              <a:solidFill>
                <a:srgbClr val="FFFFFF"/>
              </a:solidFill>
              <a:effectLst/>
              <a:uFillTx/>
              <a:latin typeface="Arial"/>
            </a:endParaRPr>
          </a:p>
        </p:txBody>
      </p:sp>
      <p:sp>
        <p:nvSpPr>
          <p:cNvPr id="50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“Local” can mean local UI, local model, local storage, or fully isolated network. Be specific.</a:t>
            </a:r>
            <a:endParaRPr lang="en-US" sz="1150" b="0" u="none" strike="noStrike">
              <a:solidFill>
                <a:srgbClr val="FFFFFF"/>
              </a:solidFill>
              <a:effectLst/>
              <a:uFillTx/>
              <a:latin typeface="Arial"/>
            </a:endParaRPr>
          </a:p>
        </p:txBody>
      </p:sp>
      <p:sp>
        <p:nvSpPr>
          <p:cNvPr id="508" name="Shape 2"/>
          <p:cNvSpPr/>
          <p:nvPr/>
        </p:nvSpPr>
        <p:spPr>
          <a:xfrm>
            <a:off x="1097280" y="1152000"/>
            <a:ext cx="10012320" cy="566640"/>
          </a:xfrm>
          <a:prstGeom prst="roundRect">
            <a:avLst>
              <a:gd name="adj" fmla="val 8065"/>
            </a:avLst>
          </a:prstGeom>
          <a:solidFill>
            <a:srgbClr val="121A2B"/>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09" name="Text 3"/>
          <p:cNvSpPr/>
          <p:nvPr/>
        </p:nvSpPr>
        <p:spPr>
          <a:xfrm>
            <a:off x="1371600" y="1271160"/>
            <a:ext cx="2011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40" b="1" u="none" strike="noStrike">
                <a:solidFill>
                  <a:srgbClr val="33D6FF"/>
                </a:solidFill>
                <a:effectLst/>
                <a:uFillTx/>
                <a:latin typeface="Aptos"/>
              </a:rPr>
              <a:t>Open WebUI</a:t>
            </a:r>
            <a:endParaRPr lang="en-US" sz="1240" b="0" u="none" strike="noStrike">
              <a:solidFill>
                <a:srgbClr val="FFFFFF"/>
              </a:solidFill>
              <a:effectLst/>
              <a:uFillTx/>
              <a:latin typeface="Arial"/>
            </a:endParaRPr>
          </a:p>
        </p:txBody>
      </p:sp>
      <p:sp>
        <p:nvSpPr>
          <p:cNvPr id="510" name="Text 4"/>
          <p:cNvSpPr/>
          <p:nvPr/>
        </p:nvSpPr>
        <p:spPr>
          <a:xfrm>
            <a:off x="3456360" y="1261800"/>
            <a:ext cx="72234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Browser-based self-hosted chat / knowledge UI</a:t>
            </a:r>
            <a:endParaRPr lang="en-US" sz="1070" b="0" u="none" strike="noStrike">
              <a:solidFill>
                <a:srgbClr val="FFFFFF"/>
              </a:solidFill>
              <a:effectLst/>
              <a:uFillTx/>
              <a:latin typeface="Arial"/>
            </a:endParaRPr>
          </a:p>
        </p:txBody>
      </p:sp>
      <p:sp>
        <p:nvSpPr>
          <p:cNvPr id="511" name="Shape 5"/>
          <p:cNvSpPr/>
          <p:nvPr/>
        </p:nvSpPr>
        <p:spPr>
          <a:xfrm>
            <a:off x="6108120" y="1728000"/>
            <a:ext cx="360" cy="11880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12" name="Shape 6"/>
          <p:cNvSpPr/>
          <p:nvPr/>
        </p:nvSpPr>
        <p:spPr>
          <a:xfrm>
            <a:off x="1097280" y="1865520"/>
            <a:ext cx="10012320" cy="566640"/>
          </a:xfrm>
          <a:prstGeom prst="roundRect">
            <a:avLst>
              <a:gd name="adj" fmla="val 8065"/>
            </a:avLst>
          </a:prstGeom>
          <a:solidFill>
            <a:srgbClr val="121A2B"/>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3" name="Text 7"/>
          <p:cNvSpPr/>
          <p:nvPr/>
        </p:nvSpPr>
        <p:spPr>
          <a:xfrm>
            <a:off x="1371600" y="1984320"/>
            <a:ext cx="2011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40" b="1" u="none" strike="noStrike">
                <a:solidFill>
                  <a:srgbClr val="A78BFA"/>
                </a:solidFill>
                <a:effectLst/>
                <a:uFillTx/>
                <a:latin typeface="Aptos"/>
              </a:rPr>
              <a:t>Hermes / OpenClaw</a:t>
            </a:r>
            <a:endParaRPr lang="en-US" sz="1240" b="0" u="none" strike="noStrike">
              <a:solidFill>
                <a:srgbClr val="FFFFFF"/>
              </a:solidFill>
              <a:effectLst/>
              <a:uFillTx/>
              <a:latin typeface="Arial"/>
            </a:endParaRPr>
          </a:p>
        </p:txBody>
      </p:sp>
      <p:sp>
        <p:nvSpPr>
          <p:cNvPr id="514" name="Text 8"/>
          <p:cNvSpPr/>
          <p:nvPr/>
        </p:nvSpPr>
        <p:spPr>
          <a:xfrm>
            <a:off x="3456360" y="1974960"/>
            <a:ext cx="72234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Agent layer: tools, files, terminal, memory, workflows</a:t>
            </a:r>
            <a:endParaRPr lang="en-US" sz="1070" b="0" u="none" strike="noStrike">
              <a:solidFill>
                <a:srgbClr val="FFFFFF"/>
              </a:solidFill>
              <a:effectLst/>
              <a:uFillTx/>
              <a:latin typeface="Arial"/>
            </a:endParaRPr>
          </a:p>
        </p:txBody>
      </p:sp>
      <p:sp>
        <p:nvSpPr>
          <p:cNvPr id="515" name="Shape 9"/>
          <p:cNvSpPr/>
          <p:nvPr/>
        </p:nvSpPr>
        <p:spPr>
          <a:xfrm>
            <a:off x="6108120" y="2441160"/>
            <a:ext cx="360" cy="1191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16" name="Shape 10"/>
          <p:cNvSpPr/>
          <p:nvPr/>
        </p:nvSpPr>
        <p:spPr>
          <a:xfrm>
            <a:off x="1097280" y="2578680"/>
            <a:ext cx="10012320" cy="566640"/>
          </a:xfrm>
          <a:prstGeom prst="roundRect">
            <a:avLst>
              <a:gd name="adj" fmla="val 8065"/>
            </a:avLst>
          </a:prstGeom>
          <a:solidFill>
            <a:srgbClr val="121A2B"/>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17" name="Text 11"/>
          <p:cNvSpPr/>
          <p:nvPr/>
        </p:nvSpPr>
        <p:spPr>
          <a:xfrm>
            <a:off x="1371600" y="2697480"/>
            <a:ext cx="2011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40" b="1" u="none" strike="noStrike">
                <a:solidFill>
                  <a:srgbClr val="FFC857"/>
                </a:solidFill>
                <a:effectLst/>
                <a:uFillTx/>
                <a:latin typeface="Aptos"/>
              </a:rPr>
              <a:t>OpenRouter / gateway</a:t>
            </a:r>
            <a:endParaRPr lang="en-US" sz="1240" b="0" u="none" strike="noStrike">
              <a:solidFill>
                <a:srgbClr val="FFFFFF"/>
              </a:solidFill>
              <a:effectLst/>
              <a:uFillTx/>
              <a:latin typeface="Arial"/>
            </a:endParaRPr>
          </a:p>
        </p:txBody>
      </p:sp>
      <p:sp>
        <p:nvSpPr>
          <p:cNvPr id="518" name="Text 12"/>
          <p:cNvSpPr/>
          <p:nvPr/>
        </p:nvSpPr>
        <p:spPr>
          <a:xfrm>
            <a:off x="3456360" y="2688480"/>
            <a:ext cx="72234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Optional routing to many remote providers/models</a:t>
            </a:r>
            <a:endParaRPr lang="en-US" sz="1070" b="0" u="none" strike="noStrike">
              <a:solidFill>
                <a:srgbClr val="FFFFFF"/>
              </a:solidFill>
              <a:effectLst/>
              <a:uFillTx/>
              <a:latin typeface="Arial"/>
            </a:endParaRPr>
          </a:p>
        </p:txBody>
      </p:sp>
      <p:sp>
        <p:nvSpPr>
          <p:cNvPr id="519" name="Shape 13"/>
          <p:cNvSpPr/>
          <p:nvPr/>
        </p:nvSpPr>
        <p:spPr>
          <a:xfrm>
            <a:off x="6108120" y="3154680"/>
            <a:ext cx="360" cy="11880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20" name="Shape 14"/>
          <p:cNvSpPr/>
          <p:nvPr/>
        </p:nvSpPr>
        <p:spPr>
          <a:xfrm>
            <a:off x="1097280" y="3291840"/>
            <a:ext cx="10012320" cy="566640"/>
          </a:xfrm>
          <a:prstGeom prst="roundRect">
            <a:avLst>
              <a:gd name="adj" fmla="val 8065"/>
            </a:avLst>
          </a:prstGeom>
          <a:solidFill>
            <a:srgbClr val="121A2B"/>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1" name="Text 15"/>
          <p:cNvSpPr/>
          <p:nvPr/>
        </p:nvSpPr>
        <p:spPr>
          <a:xfrm>
            <a:off x="1371600" y="3410640"/>
            <a:ext cx="2011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40" b="1" u="none" strike="noStrike">
                <a:solidFill>
                  <a:srgbClr val="40E0A1"/>
                </a:solidFill>
                <a:effectLst/>
                <a:uFillTx/>
                <a:latin typeface="Aptos"/>
              </a:rPr>
              <a:t>Ollama</a:t>
            </a:r>
            <a:endParaRPr lang="en-US" sz="1240" b="0" u="none" strike="noStrike">
              <a:solidFill>
                <a:srgbClr val="FFFFFF"/>
              </a:solidFill>
              <a:effectLst/>
              <a:uFillTx/>
              <a:latin typeface="Arial"/>
            </a:endParaRPr>
          </a:p>
        </p:txBody>
      </p:sp>
      <p:sp>
        <p:nvSpPr>
          <p:cNvPr id="522" name="Text 16"/>
          <p:cNvSpPr/>
          <p:nvPr/>
        </p:nvSpPr>
        <p:spPr>
          <a:xfrm>
            <a:off x="3456360" y="3401640"/>
            <a:ext cx="72234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Local model runtime + API; downloads and serves model packages</a:t>
            </a:r>
            <a:endParaRPr lang="en-US" sz="1070" b="0" u="none" strike="noStrike">
              <a:solidFill>
                <a:srgbClr val="FFFFFF"/>
              </a:solidFill>
              <a:effectLst/>
              <a:uFillTx/>
              <a:latin typeface="Arial"/>
            </a:endParaRPr>
          </a:p>
        </p:txBody>
      </p:sp>
      <p:sp>
        <p:nvSpPr>
          <p:cNvPr id="523" name="Shape 17"/>
          <p:cNvSpPr/>
          <p:nvPr/>
        </p:nvSpPr>
        <p:spPr>
          <a:xfrm>
            <a:off x="6108120" y="3867840"/>
            <a:ext cx="360" cy="11880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24" name="Shape 18"/>
          <p:cNvSpPr/>
          <p:nvPr/>
        </p:nvSpPr>
        <p:spPr>
          <a:xfrm>
            <a:off x="1097280" y="4005000"/>
            <a:ext cx="10012320" cy="566640"/>
          </a:xfrm>
          <a:prstGeom prst="roundRect">
            <a:avLst>
              <a:gd name="adj" fmla="val 8065"/>
            </a:avLst>
          </a:prstGeom>
          <a:solidFill>
            <a:srgbClr val="121A2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5" name="Text 19"/>
          <p:cNvSpPr/>
          <p:nvPr/>
        </p:nvSpPr>
        <p:spPr>
          <a:xfrm>
            <a:off x="1371600" y="4123800"/>
            <a:ext cx="2011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40" b="1" u="none" strike="noStrike">
                <a:solidFill>
                  <a:srgbClr val="FF6B6B"/>
                </a:solidFill>
                <a:effectLst/>
                <a:uFillTx/>
                <a:latin typeface="Aptos"/>
              </a:rPr>
              <a:t>llama.cpp / backends</a:t>
            </a:r>
            <a:endParaRPr lang="en-US" sz="1240" b="0" u="none" strike="noStrike">
              <a:solidFill>
                <a:srgbClr val="FFFFFF"/>
              </a:solidFill>
              <a:effectLst/>
              <a:uFillTx/>
              <a:latin typeface="Arial"/>
            </a:endParaRPr>
          </a:p>
        </p:txBody>
      </p:sp>
      <p:sp>
        <p:nvSpPr>
          <p:cNvPr id="526" name="Text 20"/>
          <p:cNvSpPr/>
          <p:nvPr/>
        </p:nvSpPr>
        <p:spPr>
          <a:xfrm>
            <a:off x="3456360" y="4114800"/>
            <a:ext cx="72234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Low-level local inference / quantized GGUF ecosystem</a:t>
            </a:r>
            <a:endParaRPr lang="en-US" sz="1070" b="0" u="none" strike="noStrike">
              <a:solidFill>
                <a:srgbClr val="FFFFFF"/>
              </a:solidFill>
              <a:effectLst/>
              <a:uFillTx/>
              <a:latin typeface="Arial"/>
            </a:endParaRPr>
          </a:p>
        </p:txBody>
      </p:sp>
      <p:sp>
        <p:nvSpPr>
          <p:cNvPr id="527" name="Shape 21"/>
          <p:cNvSpPr/>
          <p:nvPr/>
        </p:nvSpPr>
        <p:spPr>
          <a:xfrm>
            <a:off x="6108120" y="4581000"/>
            <a:ext cx="360" cy="11880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28" name="Shape 22"/>
          <p:cNvSpPr/>
          <p:nvPr/>
        </p:nvSpPr>
        <p:spPr>
          <a:xfrm>
            <a:off x="1097280" y="4718160"/>
            <a:ext cx="10012320" cy="566640"/>
          </a:xfrm>
          <a:prstGeom prst="roundRect">
            <a:avLst>
              <a:gd name="adj" fmla="val 8065"/>
            </a:avLst>
          </a:prstGeom>
          <a:solidFill>
            <a:srgbClr val="121A2B"/>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29" name="Text 23"/>
          <p:cNvSpPr/>
          <p:nvPr/>
        </p:nvSpPr>
        <p:spPr>
          <a:xfrm>
            <a:off x="1371600" y="4837320"/>
            <a:ext cx="20113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40" b="1" u="none" strike="noStrike">
                <a:solidFill>
                  <a:srgbClr val="33D6FF"/>
                </a:solidFill>
                <a:effectLst/>
                <a:uFillTx/>
                <a:latin typeface="Aptos"/>
              </a:rPr>
              <a:t>GPU / CPU / RAM</a:t>
            </a:r>
            <a:endParaRPr lang="en-US" sz="1240" b="0" u="none" strike="noStrike">
              <a:solidFill>
                <a:srgbClr val="FFFFFF"/>
              </a:solidFill>
              <a:effectLst/>
              <a:uFillTx/>
              <a:latin typeface="Arial"/>
            </a:endParaRPr>
          </a:p>
        </p:txBody>
      </p:sp>
      <p:sp>
        <p:nvSpPr>
          <p:cNvPr id="530" name="Text 24"/>
          <p:cNvSpPr/>
          <p:nvPr/>
        </p:nvSpPr>
        <p:spPr>
          <a:xfrm>
            <a:off x="3456360" y="4827960"/>
            <a:ext cx="7223400" cy="23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70" b="0" u="none" strike="noStrike">
                <a:solidFill>
                  <a:srgbClr val="AAB5C8"/>
                </a:solidFill>
                <a:effectLst/>
                <a:uFillTx/>
                <a:latin typeface="Aptos"/>
              </a:rPr>
              <a:t>Where inference actually runs</a:t>
            </a:r>
            <a:endParaRPr lang="en-US" sz="1070" b="0" u="none" strike="noStrike">
              <a:solidFill>
                <a:srgbClr val="FFFFFF"/>
              </a:solidFill>
              <a:effectLst/>
              <a:uFillTx/>
              <a:latin typeface="Arial"/>
            </a:endParaRPr>
          </a:p>
        </p:txBody>
      </p:sp>
      <p:sp>
        <p:nvSpPr>
          <p:cNvPr id="531" name="Text 25"/>
          <p:cNvSpPr/>
          <p:nvPr/>
        </p:nvSpPr>
        <p:spPr>
          <a:xfrm>
            <a:off x="1234440" y="5559480"/>
            <a:ext cx="973800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320" b="1" u="none" strike="noStrike">
                <a:solidFill>
                  <a:srgbClr val="FFC857"/>
                </a:solidFill>
                <a:effectLst/>
                <a:uFillTx/>
                <a:latin typeface="Aptos"/>
              </a:rPr>
              <a:t>Cloud path can still exist inside a “local” stack. Follow the arrows and ask: where does the prompt leave my machine?</a:t>
            </a:r>
            <a:endParaRPr lang="en-US" sz="1320" b="0" u="none" strike="noStrike">
              <a:solidFill>
                <a:srgbClr val="FFFFFF"/>
              </a:solidFill>
              <a:effectLst/>
              <a:uFillTx/>
              <a:latin typeface="Arial"/>
            </a:endParaRPr>
          </a:p>
        </p:txBody>
      </p:sp>
      <p:sp>
        <p:nvSpPr>
          <p:cNvPr id="532" name="Text 26">
            <a:hlinkClick r:id="rId3"/>
          </p:cNvPr>
          <p:cNvSpPr/>
          <p:nvPr/>
        </p:nvSpPr>
        <p:spPr>
          <a:xfrm>
            <a:off x="521280" y="6190560"/>
            <a:ext cx="12571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Ollama</a:t>
            </a:r>
            <a:endParaRPr lang="en-US" sz="720" b="0" u="none" strike="noStrike">
              <a:solidFill>
                <a:srgbClr val="FFFFFF"/>
              </a:solidFill>
              <a:effectLst/>
              <a:uFillTx/>
              <a:latin typeface="Arial"/>
            </a:endParaRPr>
          </a:p>
        </p:txBody>
      </p:sp>
      <p:sp>
        <p:nvSpPr>
          <p:cNvPr id="533" name="Text 27">
            <a:hlinkClick r:id="rId4"/>
          </p:cNvPr>
          <p:cNvSpPr/>
          <p:nvPr/>
        </p:nvSpPr>
        <p:spPr>
          <a:xfrm>
            <a:off x="1778400" y="6190560"/>
            <a:ext cx="1156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Open WebUI</a:t>
            </a:r>
            <a:endParaRPr lang="en-US" sz="720" b="0" u="none" strike="noStrike">
              <a:solidFill>
                <a:srgbClr val="FFFFFF"/>
              </a:solidFill>
              <a:effectLst/>
              <a:uFillTx/>
              <a:latin typeface="Arial"/>
            </a:endParaRPr>
          </a:p>
        </p:txBody>
      </p:sp>
      <p:sp>
        <p:nvSpPr>
          <p:cNvPr id="534" name="Text 28">
            <a:hlinkClick r:id="rId5"/>
          </p:cNvPr>
          <p:cNvSpPr/>
          <p:nvPr/>
        </p:nvSpPr>
        <p:spPr>
          <a:xfrm>
            <a:off x="2935080" y="6190560"/>
            <a:ext cx="11563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5"/>
              </a:rPr>
              <a:t> • OpenRouter</a:t>
            </a:r>
            <a:endParaRPr lang="en-US" sz="720" b="0" u="none" strike="noStrike">
              <a:solidFill>
                <a:srgbClr val="FFFFFF"/>
              </a:solidFill>
              <a:effectLst/>
              <a:uFillTx/>
              <a:latin typeface="Arial"/>
            </a:endParaRPr>
          </a:p>
        </p:txBody>
      </p:sp>
      <p:sp>
        <p:nvSpPr>
          <p:cNvPr id="535" name="Text 29">
            <a:hlinkClick r:id="rId6"/>
          </p:cNvPr>
          <p:cNvSpPr/>
          <p:nvPr/>
        </p:nvSpPr>
        <p:spPr>
          <a:xfrm>
            <a:off x="4092120" y="6190560"/>
            <a:ext cx="955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6"/>
              </a:rPr>
              <a:t> • Hermes</a:t>
            </a:r>
            <a:endParaRPr lang="en-US" sz="720" b="0" u="none" strike="noStrike">
              <a:solidFill>
                <a:srgbClr val="FFFFFF"/>
              </a:solidFill>
              <a:effectLst/>
              <a:uFillTx/>
              <a:latin typeface="Arial"/>
            </a:endParaRPr>
          </a:p>
        </p:txBody>
      </p:sp>
      <p:sp>
        <p:nvSpPr>
          <p:cNvPr id="536" name="Text 30">
            <a:hlinkClick r:id="rId7"/>
          </p:cNvPr>
          <p:cNvSpPr/>
          <p:nvPr/>
        </p:nvSpPr>
        <p:spPr>
          <a:xfrm>
            <a:off x="5047560" y="6190560"/>
            <a:ext cx="10558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7"/>
              </a:rPr>
              <a:t> • OpenClaw</a:t>
            </a:r>
            <a:endParaRPr lang="en-US" sz="720" b="0" u="none" strike="noStrike">
              <a:solidFill>
                <a:srgbClr val="FFFFFF"/>
              </a:solidFill>
              <a:effectLst/>
              <a:uFillTx/>
              <a:latin typeface="Arial"/>
            </a:endParaRPr>
          </a:p>
        </p:txBody>
      </p:sp>
      <p:sp>
        <p:nvSpPr>
          <p:cNvPr id="537" name="PlaceHolder 1"/>
          <p:cNvSpPr>
            <a:spLocks noGrp="1"/>
          </p:cNvSpPr>
          <p:nvPr>
            <p:ph type="sldNum" idx="20"/>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511210BB-7560-4D81-ADC1-1976B9B1125E}" type="slidenum">
              <a:rPr lang="en-US" sz="750" b="0" u="none" strike="noStrike">
                <a:solidFill>
                  <a:srgbClr val="73809A"/>
                </a:solidFill>
                <a:effectLst/>
                <a:uFillTx/>
                <a:latin typeface="Aptos"/>
                <a:ea typeface="Aptos"/>
              </a:rPr>
              <a:t>16</a:t>
            </a:fld>
            <a:endParaRPr lang="en-US" sz="750" b="0" u="none" strike="noStrike">
              <a:solidFill>
                <a:srgbClr val="FFFFFF"/>
              </a:solidFill>
              <a:effectLst/>
              <a:uFillTx/>
              <a:latin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8"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Reading a local model name: 31B, Q4, 128K, Instruct…</a:t>
            </a:r>
            <a:endParaRPr lang="en-US" sz="2600" b="0" u="none" strike="noStrike">
              <a:solidFill>
                <a:srgbClr val="FFFFFF"/>
              </a:solidFill>
              <a:effectLst/>
              <a:uFillTx/>
              <a:latin typeface="Arial"/>
            </a:endParaRPr>
          </a:p>
        </p:txBody>
      </p:sp>
      <p:sp>
        <p:nvSpPr>
          <p:cNvPr id="539"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The label tells you different things about architecture, precision, context, and tuning.</a:t>
            </a:r>
            <a:endParaRPr lang="en-US" sz="1150" b="0" u="none" strike="noStrike">
              <a:solidFill>
                <a:srgbClr val="FFFFFF"/>
              </a:solidFill>
              <a:effectLst/>
              <a:uFillTx/>
              <a:latin typeface="Arial"/>
            </a:endParaRPr>
          </a:p>
        </p:txBody>
      </p:sp>
      <p:sp>
        <p:nvSpPr>
          <p:cNvPr id="540" name="Shape 2"/>
          <p:cNvSpPr/>
          <p:nvPr/>
        </p:nvSpPr>
        <p:spPr>
          <a:xfrm>
            <a:off x="685800" y="1353240"/>
            <a:ext cx="10807920" cy="868320"/>
          </a:xfrm>
          <a:prstGeom prst="roundRect">
            <a:avLst>
              <a:gd name="adj" fmla="val 8421"/>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41" name="Shape 3"/>
          <p:cNvSpPr/>
          <p:nvPr/>
        </p:nvSpPr>
        <p:spPr>
          <a:xfrm>
            <a:off x="951120" y="1591200"/>
            <a:ext cx="1325520" cy="402120"/>
          </a:xfrm>
          <a:prstGeom prst="roundRect">
            <a:avLst>
              <a:gd name="adj" fmla="val 9091"/>
            </a:avLst>
          </a:prstGeom>
          <a:solidFill>
            <a:srgbClr val="33D6FF">
              <a:alpha val="24000"/>
            </a:srgbClr>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2" name="Text 4"/>
          <p:cNvSpPr/>
          <p:nvPr/>
        </p:nvSpPr>
        <p:spPr>
          <a:xfrm>
            <a:off x="987480" y="1673280"/>
            <a:ext cx="125244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1040" b="1" u="none" strike="noStrike">
                <a:solidFill>
                  <a:srgbClr val="F5F8FC"/>
                </a:solidFill>
                <a:effectLst/>
                <a:uFillTx/>
                <a:latin typeface="Aptos"/>
              </a:rPr>
              <a:t>Qwen3</a:t>
            </a:r>
            <a:endParaRPr lang="en-US" sz="1040" b="0" u="none" strike="noStrike">
              <a:solidFill>
                <a:srgbClr val="FFFFFF"/>
              </a:solidFill>
              <a:effectLst/>
              <a:uFillTx/>
              <a:latin typeface="Arial"/>
            </a:endParaRPr>
          </a:p>
        </p:txBody>
      </p:sp>
      <p:sp>
        <p:nvSpPr>
          <p:cNvPr id="543" name="Text 5"/>
          <p:cNvSpPr/>
          <p:nvPr/>
        </p:nvSpPr>
        <p:spPr>
          <a:xfrm>
            <a:off x="951120" y="2340720"/>
            <a:ext cx="132552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70" b="0" u="none" strike="noStrike">
                <a:solidFill>
                  <a:srgbClr val="33D6FF"/>
                </a:solidFill>
                <a:effectLst/>
                <a:uFillTx/>
                <a:latin typeface="Aptos"/>
              </a:rPr>
              <a:t>family</a:t>
            </a:r>
            <a:endParaRPr lang="en-US" sz="870" b="0" u="none" strike="noStrike">
              <a:solidFill>
                <a:srgbClr val="FFFFFF"/>
              </a:solidFill>
              <a:effectLst/>
              <a:uFillTx/>
              <a:latin typeface="Arial"/>
            </a:endParaRPr>
          </a:p>
        </p:txBody>
      </p:sp>
      <p:sp>
        <p:nvSpPr>
          <p:cNvPr id="544" name="Shape 6"/>
          <p:cNvSpPr/>
          <p:nvPr/>
        </p:nvSpPr>
        <p:spPr>
          <a:xfrm>
            <a:off x="1613880" y="1993320"/>
            <a:ext cx="360" cy="301680"/>
          </a:xfrm>
          <a:prstGeom prst="line">
            <a:avLst/>
          </a:prstGeom>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45" name="Shape 7"/>
          <p:cNvSpPr/>
          <p:nvPr/>
        </p:nvSpPr>
        <p:spPr>
          <a:xfrm>
            <a:off x="2597040" y="1591200"/>
            <a:ext cx="1389600" cy="402120"/>
          </a:xfrm>
          <a:prstGeom prst="roundRect">
            <a:avLst>
              <a:gd name="adj" fmla="val 9091"/>
            </a:avLst>
          </a:prstGeom>
          <a:solidFill>
            <a:srgbClr val="40E0A1">
              <a:alpha val="24000"/>
            </a:srgbClr>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46" name="Text 8"/>
          <p:cNvSpPr/>
          <p:nvPr/>
        </p:nvSpPr>
        <p:spPr>
          <a:xfrm>
            <a:off x="2633400" y="1673280"/>
            <a:ext cx="131652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1040" b="1" u="none" strike="noStrike">
                <a:solidFill>
                  <a:srgbClr val="F5F8FC"/>
                </a:solidFill>
                <a:effectLst/>
                <a:uFillTx/>
                <a:latin typeface="Aptos"/>
              </a:rPr>
              <a:t>32B</a:t>
            </a:r>
            <a:endParaRPr lang="en-US" sz="1040" b="0" u="none" strike="noStrike">
              <a:solidFill>
                <a:srgbClr val="FFFFFF"/>
              </a:solidFill>
              <a:effectLst/>
              <a:uFillTx/>
              <a:latin typeface="Arial"/>
            </a:endParaRPr>
          </a:p>
        </p:txBody>
      </p:sp>
      <p:sp>
        <p:nvSpPr>
          <p:cNvPr id="547" name="Text 9"/>
          <p:cNvSpPr/>
          <p:nvPr/>
        </p:nvSpPr>
        <p:spPr>
          <a:xfrm>
            <a:off x="2597040" y="2340720"/>
            <a:ext cx="13896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70" b="0" u="none" strike="noStrike">
                <a:solidFill>
                  <a:srgbClr val="40E0A1"/>
                </a:solidFill>
                <a:effectLst/>
                <a:uFillTx/>
                <a:latin typeface="Aptos"/>
              </a:rPr>
              <a:t>~parameter count</a:t>
            </a:r>
            <a:endParaRPr lang="en-US" sz="870" b="0" u="none" strike="noStrike">
              <a:solidFill>
                <a:srgbClr val="FFFFFF"/>
              </a:solidFill>
              <a:effectLst/>
              <a:uFillTx/>
              <a:latin typeface="Arial"/>
            </a:endParaRPr>
          </a:p>
        </p:txBody>
      </p:sp>
      <p:sp>
        <p:nvSpPr>
          <p:cNvPr id="548" name="Shape 10"/>
          <p:cNvSpPr/>
          <p:nvPr/>
        </p:nvSpPr>
        <p:spPr>
          <a:xfrm>
            <a:off x="3291840" y="1993320"/>
            <a:ext cx="360" cy="301680"/>
          </a:xfrm>
          <a:prstGeom prst="line">
            <a:avLst/>
          </a:prstGeom>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49" name="Shape 11"/>
          <p:cNvSpPr/>
          <p:nvPr/>
        </p:nvSpPr>
        <p:spPr>
          <a:xfrm>
            <a:off x="4306680" y="1591200"/>
            <a:ext cx="1992960" cy="402120"/>
          </a:xfrm>
          <a:prstGeom prst="roundRect">
            <a:avLst>
              <a:gd name="adj" fmla="val 9091"/>
            </a:avLst>
          </a:prstGeom>
          <a:solidFill>
            <a:srgbClr val="FFC857">
              <a:alpha val="24000"/>
            </a:srgbClr>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50" name="Text 12"/>
          <p:cNvSpPr/>
          <p:nvPr/>
        </p:nvSpPr>
        <p:spPr>
          <a:xfrm>
            <a:off x="4343400" y="1673280"/>
            <a:ext cx="191988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1040" b="1" u="none" strike="noStrike">
                <a:solidFill>
                  <a:srgbClr val="F5F8FC"/>
                </a:solidFill>
                <a:effectLst/>
                <a:uFillTx/>
                <a:latin typeface="Aptos"/>
              </a:rPr>
              <a:t>Instruct</a:t>
            </a:r>
            <a:endParaRPr lang="en-US" sz="1040" b="0" u="none" strike="noStrike">
              <a:solidFill>
                <a:srgbClr val="FFFFFF"/>
              </a:solidFill>
              <a:effectLst/>
              <a:uFillTx/>
              <a:latin typeface="Arial"/>
            </a:endParaRPr>
          </a:p>
        </p:txBody>
      </p:sp>
      <p:sp>
        <p:nvSpPr>
          <p:cNvPr id="551" name="Text 13"/>
          <p:cNvSpPr/>
          <p:nvPr/>
        </p:nvSpPr>
        <p:spPr>
          <a:xfrm>
            <a:off x="4306680" y="2340720"/>
            <a:ext cx="19929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70" b="0" u="none" strike="noStrike">
                <a:solidFill>
                  <a:srgbClr val="FFC857"/>
                </a:solidFill>
                <a:effectLst/>
                <a:uFillTx/>
                <a:latin typeface="Aptos"/>
              </a:rPr>
              <a:t>tuned for chat/instructions</a:t>
            </a:r>
            <a:endParaRPr lang="en-US" sz="870" b="0" u="none" strike="noStrike">
              <a:solidFill>
                <a:srgbClr val="FFFFFF"/>
              </a:solidFill>
              <a:effectLst/>
              <a:uFillTx/>
              <a:latin typeface="Arial"/>
            </a:endParaRPr>
          </a:p>
        </p:txBody>
      </p:sp>
      <p:sp>
        <p:nvSpPr>
          <p:cNvPr id="552" name="Shape 14"/>
          <p:cNvSpPr/>
          <p:nvPr/>
        </p:nvSpPr>
        <p:spPr>
          <a:xfrm>
            <a:off x="5303520" y="1993320"/>
            <a:ext cx="360" cy="301680"/>
          </a:xfrm>
          <a:prstGeom prst="line">
            <a:avLst/>
          </a:prstGeom>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53" name="Shape 15"/>
          <p:cNvSpPr/>
          <p:nvPr/>
        </p:nvSpPr>
        <p:spPr>
          <a:xfrm>
            <a:off x="6620400" y="1591200"/>
            <a:ext cx="1938240" cy="402120"/>
          </a:xfrm>
          <a:prstGeom prst="roundRect">
            <a:avLst>
              <a:gd name="adj" fmla="val 9091"/>
            </a:avLst>
          </a:prstGeom>
          <a:solidFill>
            <a:srgbClr val="A78BFA">
              <a:alpha val="24000"/>
            </a:srgbClr>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4" name="Text 16"/>
          <p:cNvSpPr/>
          <p:nvPr/>
        </p:nvSpPr>
        <p:spPr>
          <a:xfrm>
            <a:off x="6656760" y="1673280"/>
            <a:ext cx="186516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1040" b="1" u="none" strike="noStrike">
                <a:solidFill>
                  <a:srgbClr val="F5F8FC"/>
                </a:solidFill>
                <a:effectLst/>
                <a:uFillTx/>
                <a:latin typeface="Aptos"/>
              </a:rPr>
              <a:t>Q4_K_M</a:t>
            </a:r>
            <a:endParaRPr lang="en-US" sz="1040" b="0" u="none" strike="noStrike">
              <a:solidFill>
                <a:srgbClr val="FFFFFF"/>
              </a:solidFill>
              <a:effectLst/>
              <a:uFillTx/>
              <a:latin typeface="Arial"/>
            </a:endParaRPr>
          </a:p>
        </p:txBody>
      </p:sp>
      <p:sp>
        <p:nvSpPr>
          <p:cNvPr id="555" name="Text 17"/>
          <p:cNvSpPr/>
          <p:nvPr/>
        </p:nvSpPr>
        <p:spPr>
          <a:xfrm>
            <a:off x="6620400" y="2340720"/>
            <a:ext cx="19382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70" b="0" u="none" strike="noStrike">
                <a:solidFill>
                  <a:srgbClr val="A78BFA"/>
                </a:solidFill>
                <a:effectLst/>
                <a:uFillTx/>
                <a:latin typeface="Aptos"/>
              </a:rPr>
              <a:t>4-bit-class quantization</a:t>
            </a:r>
            <a:endParaRPr lang="en-US" sz="870" b="0" u="none" strike="noStrike">
              <a:solidFill>
                <a:srgbClr val="FFFFFF"/>
              </a:solidFill>
              <a:effectLst/>
              <a:uFillTx/>
              <a:latin typeface="Arial"/>
            </a:endParaRPr>
          </a:p>
        </p:txBody>
      </p:sp>
      <p:sp>
        <p:nvSpPr>
          <p:cNvPr id="556" name="Shape 18"/>
          <p:cNvSpPr/>
          <p:nvPr/>
        </p:nvSpPr>
        <p:spPr>
          <a:xfrm>
            <a:off x="7589520" y="1993320"/>
            <a:ext cx="360" cy="301680"/>
          </a:xfrm>
          <a:prstGeom prst="line">
            <a:avLst/>
          </a:prstGeom>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57" name="Shape 19"/>
          <p:cNvSpPr/>
          <p:nvPr/>
        </p:nvSpPr>
        <p:spPr>
          <a:xfrm>
            <a:off x="8878680" y="1591200"/>
            <a:ext cx="1535760" cy="402120"/>
          </a:xfrm>
          <a:prstGeom prst="roundRect">
            <a:avLst>
              <a:gd name="adj" fmla="val 9091"/>
            </a:avLst>
          </a:prstGeom>
          <a:solidFill>
            <a:srgbClr val="FF6B6B">
              <a:alpha val="24000"/>
            </a:srgbClr>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58" name="Text 20"/>
          <p:cNvSpPr/>
          <p:nvPr/>
        </p:nvSpPr>
        <p:spPr>
          <a:xfrm>
            <a:off x="8915400" y="1673280"/>
            <a:ext cx="1462680" cy="11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85000" lnSpcReduction="19999"/>
          </a:bodyPr>
          <a:lstStyle/>
          <a:p>
            <a:pPr algn="ctr" defTabSz="914400">
              <a:lnSpc>
                <a:spcPct val="100000"/>
              </a:lnSpc>
              <a:tabLst>
                <a:tab pos="0" algn="l"/>
              </a:tabLst>
            </a:pPr>
            <a:r>
              <a:rPr lang="en-US" sz="1040" b="1" u="none" strike="noStrike">
                <a:solidFill>
                  <a:srgbClr val="F5F8FC"/>
                </a:solidFill>
                <a:effectLst/>
                <a:uFillTx/>
                <a:latin typeface="Aptos"/>
              </a:rPr>
              <a:t>128K</a:t>
            </a:r>
            <a:endParaRPr lang="en-US" sz="1040" b="0" u="none" strike="noStrike">
              <a:solidFill>
                <a:srgbClr val="FFFFFF"/>
              </a:solidFill>
              <a:effectLst/>
              <a:uFillTx/>
              <a:latin typeface="Arial"/>
            </a:endParaRPr>
          </a:p>
        </p:txBody>
      </p:sp>
      <p:sp>
        <p:nvSpPr>
          <p:cNvPr id="559" name="Text 21"/>
          <p:cNvSpPr/>
          <p:nvPr/>
        </p:nvSpPr>
        <p:spPr>
          <a:xfrm>
            <a:off x="8878680" y="2340720"/>
            <a:ext cx="15357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70" b="0" u="none" strike="noStrike">
                <a:solidFill>
                  <a:srgbClr val="FF6B6B"/>
                </a:solidFill>
                <a:effectLst/>
                <a:uFillTx/>
                <a:latin typeface="Aptos"/>
              </a:rPr>
              <a:t>advertised context window</a:t>
            </a:r>
            <a:endParaRPr lang="en-US" sz="870" b="0" u="none" strike="noStrike">
              <a:solidFill>
                <a:srgbClr val="FFFFFF"/>
              </a:solidFill>
              <a:effectLst/>
              <a:uFillTx/>
              <a:latin typeface="Arial"/>
            </a:endParaRPr>
          </a:p>
        </p:txBody>
      </p:sp>
      <p:sp>
        <p:nvSpPr>
          <p:cNvPr id="560" name="Shape 22"/>
          <p:cNvSpPr/>
          <p:nvPr/>
        </p:nvSpPr>
        <p:spPr>
          <a:xfrm>
            <a:off x="9646920" y="1993320"/>
            <a:ext cx="360" cy="301680"/>
          </a:xfrm>
          <a:prstGeom prst="line">
            <a:avLst/>
          </a:prstGeom>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561" name="Shape 23"/>
          <p:cNvSpPr/>
          <p:nvPr/>
        </p:nvSpPr>
        <p:spPr>
          <a:xfrm>
            <a:off x="713160" y="2953440"/>
            <a:ext cx="3401280" cy="1983960"/>
          </a:xfrm>
          <a:prstGeom prst="roundRect">
            <a:avLst>
              <a:gd name="adj" fmla="val 3687"/>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2" name="Shape 24"/>
          <p:cNvSpPr/>
          <p:nvPr/>
        </p:nvSpPr>
        <p:spPr>
          <a:xfrm>
            <a:off x="713160" y="2953440"/>
            <a:ext cx="54360" cy="198396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563" name="Text 25"/>
          <p:cNvSpPr/>
          <p:nvPr/>
        </p:nvSpPr>
        <p:spPr>
          <a:xfrm>
            <a:off x="914400" y="311796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“B” = billion parameters</a:t>
            </a:r>
            <a:endParaRPr lang="en-US" sz="1500" b="0" u="none" strike="noStrike">
              <a:solidFill>
                <a:srgbClr val="FFFFFF"/>
              </a:solidFill>
              <a:effectLst/>
              <a:uFillTx/>
              <a:latin typeface="Arial"/>
            </a:endParaRPr>
          </a:p>
        </p:txBody>
      </p:sp>
      <p:sp>
        <p:nvSpPr>
          <p:cNvPr id="564" name="Text 26"/>
          <p:cNvSpPr/>
          <p:nvPr/>
        </p:nvSpPr>
        <p:spPr>
          <a:xfrm>
            <a:off x="914400" y="3456360"/>
            <a:ext cx="305388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20" b="0" u="none" strike="noStrike">
                <a:solidFill>
                  <a:srgbClr val="AAB5C8"/>
                </a:solidFill>
                <a:effectLst/>
                <a:uFillTx/>
                <a:latin typeface="Aptos"/>
              </a:rPr>
              <a:t>32B means roughly 32 billion learned parameters. Parameter count is not the same as file size, RAM use, or quality.</a:t>
            </a:r>
            <a:endParaRPr lang="en-US" sz="1120" b="0" u="none" strike="noStrike">
              <a:solidFill>
                <a:srgbClr val="FFFFFF"/>
              </a:solidFill>
              <a:effectLst/>
              <a:uFillTx/>
              <a:latin typeface="Arial"/>
            </a:endParaRPr>
          </a:p>
        </p:txBody>
      </p:sp>
      <p:sp>
        <p:nvSpPr>
          <p:cNvPr id="565" name="Shape 27"/>
          <p:cNvSpPr/>
          <p:nvPr/>
        </p:nvSpPr>
        <p:spPr>
          <a:xfrm>
            <a:off x="4407480" y="2953440"/>
            <a:ext cx="3401280" cy="1983960"/>
          </a:xfrm>
          <a:prstGeom prst="roundRect">
            <a:avLst>
              <a:gd name="adj" fmla="val 3687"/>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6" name="Shape 28"/>
          <p:cNvSpPr/>
          <p:nvPr/>
        </p:nvSpPr>
        <p:spPr>
          <a:xfrm>
            <a:off x="4407480" y="2953440"/>
            <a:ext cx="54360" cy="198396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67" name="Text 29"/>
          <p:cNvSpPr/>
          <p:nvPr/>
        </p:nvSpPr>
        <p:spPr>
          <a:xfrm>
            <a:off x="4608720" y="311796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Quantization shrinks weights</a:t>
            </a:r>
            <a:endParaRPr lang="en-US" sz="1500" b="0" u="none" strike="noStrike">
              <a:solidFill>
                <a:srgbClr val="FFFFFF"/>
              </a:solidFill>
              <a:effectLst/>
              <a:uFillTx/>
              <a:latin typeface="Arial"/>
            </a:endParaRPr>
          </a:p>
        </p:txBody>
      </p:sp>
      <p:sp>
        <p:nvSpPr>
          <p:cNvPr id="568" name="Text 30"/>
          <p:cNvSpPr/>
          <p:nvPr/>
        </p:nvSpPr>
        <p:spPr>
          <a:xfrm>
            <a:off x="4608720" y="3456360"/>
            <a:ext cx="305388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20" b="0" u="none" strike="noStrike">
                <a:solidFill>
                  <a:srgbClr val="AAB5C8"/>
                </a:solidFill>
                <a:effectLst/>
                <a:uFillTx/>
                <a:latin typeface="Aptos"/>
              </a:rPr>
              <a:t>llama.cpp supports low-bit quantization (including 4-bit classes), reducing model size / memory at some potential quality cost.</a:t>
            </a:r>
            <a:endParaRPr lang="en-US" sz="1120" b="0" u="none" strike="noStrike">
              <a:solidFill>
                <a:srgbClr val="FFFFFF"/>
              </a:solidFill>
              <a:effectLst/>
              <a:uFillTx/>
              <a:latin typeface="Arial"/>
            </a:endParaRPr>
          </a:p>
        </p:txBody>
      </p:sp>
      <p:sp>
        <p:nvSpPr>
          <p:cNvPr id="569" name="Shape 31"/>
          <p:cNvSpPr/>
          <p:nvPr/>
        </p:nvSpPr>
        <p:spPr>
          <a:xfrm>
            <a:off x="8101440" y="2953440"/>
            <a:ext cx="3401280" cy="1983960"/>
          </a:xfrm>
          <a:prstGeom prst="roundRect">
            <a:avLst>
              <a:gd name="adj" fmla="val 3687"/>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0" name="Shape 32"/>
          <p:cNvSpPr/>
          <p:nvPr/>
        </p:nvSpPr>
        <p:spPr>
          <a:xfrm>
            <a:off x="8101440" y="2953440"/>
            <a:ext cx="54360" cy="198396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71" name="Text 33"/>
          <p:cNvSpPr/>
          <p:nvPr/>
        </p:nvSpPr>
        <p:spPr>
          <a:xfrm>
            <a:off x="8302680" y="3117960"/>
            <a:ext cx="3053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Context also consumes memory</a:t>
            </a:r>
            <a:endParaRPr lang="en-US" sz="1500" b="0" u="none" strike="noStrike">
              <a:solidFill>
                <a:srgbClr val="FFFFFF"/>
              </a:solidFill>
              <a:effectLst/>
              <a:uFillTx/>
              <a:latin typeface="Arial"/>
            </a:endParaRPr>
          </a:p>
        </p:txBody>
      </p:sp>
      <p:sp>
        <p:nvSpPr>
          <p:cNvPr id="572" name="Text 34"/>
          <p:cNvSpPr/>
          <p:nvPr/>
        </p:nvSpPr>
        <p:spPr>
          <a:xfrm>
            <a:off x="8302680" y="3456360"/>
            <a:ext cx="3053880" cy="13255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20" b="0" u="none" strike="noStrike">
                <a:solidFill>
                  <a:srgbClr val="AAB5C8"/>
                </a:solidFill>
                <a:effectLst/>
                <a:uFillTx/>
                <a:latin typeface="Aptos"/>
              </a:rPr>
              <a:t>Longer context can require substantial additional runtime memory; “128K supported” does not mean 128K is always practical on your hardware.</a:t>
            </a:r>
            <a:endParaRPr lang="en-US" sz="1120" b="0" u="none" strike="noStrike">
              <a:solidFill>
                <a:srgbClr val="FFFFFF"/>
              </a:solidFill>
              <a:effectLst/>
              <a:uFillTx/>
              <a:latin typeface="Arial"/>
            </a:endParaRPr>
          </a:p>
        </p:txBody>
      </p:sp>
      <p:sp>
        <p:nvSpPr>
          <p:cNvPr id="573" name="Text 35"/>
          <p:cNvSpPr/>
          <p:nvPr/>
        </p:nvSpPr>
        <p:spPr>
          <a:xfrm>
            <a:off x="914400" y="5349240"/>
            <a:ext cx="10359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u="none" strike="noStrike">
                <a:solidFill>
                  <a:srgbClr val="FFC857"/>
                </a:solidFill>
                <a:effectLst/>
                <a:uFillTx/>
                <a:latin typeface="Aptos"/>
              </a:rPr>
              <a:t>Rule of thumb for weights only: 32B at ~4 bits ≈ 16 GB before format/runtime overhead. Real usage is higher.</a:t>
            </a:r>
            <a:endParaRPr lang="en-US" sz="1300" b="0" u="none" strike="noStrike">
              <a:solidFill>
                <a:srgbClr val="FFFFFF"/>
              </a:solidFill>
              <a:effectLst/>
              <a:uFillTx/>
              <a:latin typeface="Arial"/>
            </a:endParaRPr>
          </a:p>
        </p:txBody>
      </p:sp>
      <p:sp>
        <p:nvSpPr>
          <p:cNvPr id="574" name="Text 36">
            <a:hlinkClick r:id="rId3"/>
          </p:cNvPr>
          <p:cNvSpPr/>
          <p:nvPr/>
        </p:nvSpPr>
        <p:spPr>
          <a:xfrm>
            <a:off x="521280" y="6190560"/>
            <a:ext cx="23130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llama.cpp quantization docs</a:t>
            </a:r>
            <a:endParaRPr lang="en-US" sz="720" b="0" u="none" strike="noStrike">
              <a:solidFill>
                <a:srgbClr val="FFFFFF"/>
              </a:solidFill>
              <a:effectLst/>
              <a:uFillTx/>
              <a:latin typeface="Arial"/>
            </a:endParaRPr>
          </a:p>
        </p:txBody>
      </p:sp>
      <p:sp>
        <p:nvSpPr>
          <p:cNvPr id="575" name="Text 37">
            <a:hlinkClick r:id="rId4"/>
          </p:cNvPr>
          <p:cNvSpPr/>
          <p:nvPr/>
        </p:nvSpPr>
        <p:spPr>
          <a:xfrm>
            <a:off x="2834640" y="6190560"/>
            <a:ext cx="17096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Ollama model examples</a:t>
            </a:r>
            <a:endParaRPr lang="en-US" sz="720" b="0" u="none" strike="noStrike">
              <a:solidFill>
                <a:srgbClr val="FFFFFF"/>
              </a:solidFill>
              <a:effectLst/>
              <a:uFillTx/>
              <a:latin typeface="Arial"/>
            </a:endParaRPr>
          </a:p>
        </p:txBody>
      </p:sp>
      <p:sp>
        <p:nvSpPr>
          <p:cNvPr id="576" name="PlaceHolder 1"/>
          <p:cNvSpPr>
            <a:spLocks noGrp="1"/>
          </p:cNvSpPr>
          <p:nvPr>
            <p:ph type="sldNum" idx="21"/>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83856973-D998-4588-B0F3-FE07C23D9C5B}" type="slidenum">
              <a:rPr lang="en-US" sz="750" b="0" u="none" strike="noStrike">
                <a:solidFill>
                  <a:srgbClr val="73809A"/>
                </a:solidFill>
                <a:effectLst/>
                <a:uFillTx/>
                <a:latin typeface="Aptos"/>
                <a:ea typeface="Aptos"/>
              </a:rPr>
              <a:t>17</a:t>
            </a:fld>
            <a:endParaRPr lang="en-US" sz="750" b="0" u="none" strike="noStrike">
              <a:solidFill>
                <a:srgbClr val="FFFFFF"/>
              </a:solidFill>
              <a:effectLst/>
              <a:uFillTx/>
              <a:latin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Local model sizing: practical starting points</a:t>
            </a:r>
            <a:endParaRPr lang="en-US" sz="2600" b="0" u="none" strike="noStrike">
              <a:solidFill>
                <a:srgbClr val="FFFFFF"/>
              </a:solidFill>
              <a:effectLst/>
              <a:uFillTx/>
              <a:latin typeface="Arial"/>
            </a:endParaRPr>
          </a:p>
        </p:txBody>
      </p:sp>
      <p:sp>
        <p:nvSpPr>
          <p:cNvPr id="578"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Approximate guidance for quantized models. Exact needs vary with architecture, quantization, context, GPU offload, and concurrency.</a:t>
            </a:r>
            <a:endParaRPr lang="en-US" sz="1150" b="0" u="none" strike="noStrike">
              <a:solidFill>
                <a:srgbClr val="FFFFFF"/>
              </a:solidFill>
              <a:effectLst/>
              <a:uFillTx/>
              <a:latin typeface="Arial"/>
            </a:endParaRPr>
          </a:p>
        </p:txBody>
      </p:sp>
      <p:sp>
        <p:nvSpPr>
          <p:cNvPr id="579" name="Shape 2"/>
          <p:cNvSpPr/>
          <p:nvPr/>
        </p:nvSpPr>
        <p:spPr>
          <a:xfrm>
            <a:off x="640080" y="1371600"/>
            <a:ext cx="1279800" cy="45684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0" name="Text 3"/>
          <p:cNvSpPr/>
          <p:nvPr/>
        </p:nvSpPr>
        <p:spPr>
          <a:xfrm>
            <a:off x="685800" y="1508760"/>
            <a:ext cx="118836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1" u="none" strike="noStrike">
                <a:solidFill>
                  <a:srgbClr val="33D6FF"/>
                </a:solidFill>
                <a:effectLst/>
                <a:uFillTx/>
                <a:latin typeface="Aptos"/>
              </a:rPr>
              <a:t>Model tier</a:t>
            </a:r>
            <a:endParaRPr lang="en-US" sz="880" b="0" u="none" strike="noStrike">
              <a:solidFill>
                <a:srgbClr val="FFFFFF"/>
              </a:solidFill>
              <a:effectLst/>
              <a:uFillTx/>
              <a:latin typeface="Arial"/>
            </a:endParaRPr>
          </a:p>
        </p:txBody>
      </p:sp>
      <p:sp>
        <p:nvSpPr>
          <p:cNvPr id="581" name="Shape 4"/>
          <p:cNvSpPr/>
          <p:nvPr/>
        </p:nvSpPr>
        <p:spPr>
          <a:xfrm>
            <a:off x="1920240" y="1371600"/>
            <a:ext cx="1416960" cy="45684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2" name="Text 5"/>
          <p:cNvSpPr/>
          <p:nvPr/>
        </p:nvSpPr>
        <p:spPr>
          <a:xfrm>
            <a:off x="1965960" y="1508760"/>
            <a:ext cx="132552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1" u="none" strike="noStrike">
                <a:solidFill>
                  <a:srgbClr val="33D6FF"/>
                </a:solidFill>
                <a:effectLst/>
                <a:uFillTx/>
                <a:latin typeface="Aptos"/>
              </a:rPr>
              <a:t>Typical Q4-ish package</a:t>
            </a:r>
            <a:endParaRPr lang="en-US" sz="880" b="0" u="none" strike="noStrike">
              <a:solidFill>
                <a:srgbClr val="FFFFFF"/>
              </a:solidFill>
              <a:effectLst/>
              <a:uFillTx/>
              <a:latin typeface="Arial"/>
            </a:endParaRPr>
          </a:p>
        </p:txBody>
      </p:sp>
      <p:sp>
        <p:nvSpPr>
          <p:cNvPr id="583" name="Shape 6"/>
          <p:cNvSpPr/>
          <p:nvPr/>
        </p:nvSpPr>
        <p:spPr>
          <a:xfrm>
            <a:off x="3337560" y="1371600"/>
            <a:ext cx="1554120" cy="45684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4" name="Text 7"/>
          <p:cNvSpPr/>
          <p:nvPr/>
        </p:nvSpPr>
        <p:spPr>
          <a:xfrm>
            <a:off x="3383280" y="1508760"/>
            <a:ext cx="146268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1" u="none" strike="noStrike">
                <a:solidFill>
                  <a:srgbClr val="33D6FF"/>
                </a:solidFill>
                <a:effectLst/>
                <a:uFillTx/>
                <a:latin typeface="Aptos"/>
              </a:rPr>
              <a:t>Practical RAM</a:t>
            </a:r>
            <a:endParaRPr lang="en-US" sz="880" b="0" u="none" strike="noStrike">
              <a:solidFill>
                <a:srgbClr val="FFFFFF"/>
              </a:solidFill>
              <a:effectLst/>
              <a:uFillTx/>
              <a:latin typeface="Arial"/>
            </a:endParaRPr>
          </a:p>
        </p:txBody>
      </p:sp>
      <p:sp>
        <p:nvSpPr>
          <p:cNvPr id="585" name="Shape 8"/>
          <p:cNvSpPr/>
          <p:nvPr/>
        </p:nvSpPr>
        <p:spPr>
          <a:xfrm>
            <a:off x="4892040" y="1371600"/>
            <a:ext cx="1599840" cy="45684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6" name="Text 9"/>
          <p:cNvSpPr/>
          <p:nvPr/>
        </p:nvSpPr>
        <p:spPr>
          <a:xfrm>
            <a:off x="4937760" y="1508760"/>
            <a:ext cx="150840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80" b="1" u="none" strike="noStrike">
                <a:solidFill>
                  <a:srgbClr val="33D6FF"/>
                </a:solidFill>
                <a:effectLst/>
                <a:uFillTx/>
                <a:latin typeface="Aptos"/>
              </a:rPr>
              <a:t>Comfortable GPU VRAM</a:t>
            </a:r>
            <a:endParaRPr lang="en-US" sz="880" b="0" u="none" strike="noStrike">
              <a:solidFill>
                <a:srgbClr val="FFFFFF"/>
              </a:solidFill>
              <a:effectLst/>
              <a:uFillTx/>
              <a:latin typeface="Arial"/>
            </a:endParaRPr>
          </a:p>
        </p:txBody>
      </p:sp>
      <p:sp>
        <p:nvSpPr>
          <p:cNvPr id="587" name="Shape 10"/>
          <p:cNvSpPr/>
          <p:nvPr/>
        </p:nvSpPr>
        <p:spPr>
          <a:xfrm>
            <a:off x="6492240" y="1371600"/>
            <a:ext cx="4663080" cy="45684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88" name="Text 11"/>
          <p:cNvSpPr/>
          <p:nvPr/>
        </p:nvSpPr>
        <p:spPr>
          <a:xfrm>
            <a:off x="6537960" y="1508760"/>
            <a:ext cx="4571640" cy="145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80" b="1" u="none" strike="noStrike">
                <a:solidFill>
                  <a:srgbClr val="33D6FF"/>
                </a:solidFill>
                <a:effectLst/>
                <a:uFillTx/>
                <a:latin typeface="Aptos"/>
              </a:rPr>
              <a:t>Good for</a:t>
            </a:r>
            <a:endParaRPr lang="en-US" sz="880" b="0" u="none" strike="noStrike">
              <a:solidFill>
                <a:srgbClr val="FFFFFF"/>
              </a:solidFill>
              <a:effectLst/>
              <a:uFillTx/>
              <a:latin typeface="Arial"/>
            </a:endParaRPr>
          </a:p>
        </p:txBody>
      </p:sp>
      <p:sp>
        <p:nvSpPr>
          <p:cNvPr id="589" name="Shape 12"/>
          <p:cNvSpPr/>
          <p:nvPr/>
        </p:nvSpPr>
        <p:spPr>
          <a:xfrm>
            <a:off x="640080" y="1828800"/>
            <a:ext cx="127980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0" name="Text 13"/>
          <p:cNvSpPr/>
          <p:nvPr/>
        </p:nvSpPr>
        <p:spPr>
          <a:xfrm>
            <a:off x="704160" y="1984320"/>
            <a:ext cx="1151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1" u="none" strike="noStrike">
                <a:solidFill>
                  <a:srgbClr val="40E0A1"/>
                </a:solidFill>
                <a:effectLst/>
                <a:uFillTx/>
                <a:latin typeface="Aptos"/>
              </a:rPr>
              <a:t>1–4B</a:t>
            </a:r>
            <a:endParaRPr lang="en-US" sz="1020" b="0" u="none" strike="noStrike">
              <a:solidFill>
                <a:srgbClr val="FFFFFF"/>
              </a:solidFill>
              <a:effectLst/>
              <a:uFillTx/>
              <a:latin typeface="Arial"/>
            </a:endParaRPr>
          </a:p>
        </p:txBody>
      </p:sp>
      <p:sp>
        <p:nvSpPr>
          <p:cNvPr id="591" name="Shape 14"/>
          <p:cNvSpPr/>
          <p:nvPr/>
        </p:nvSpPr>
        <p:spPr>
          <a:xfrm>
            <a:off x="1920240" y="1828800"/>
            <a:ext cx="141696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2" name="Text 15"/>
          <p:cNvSpPr/>
          <p:nvPr/>
        </p:nvSpPr>
        <p:spPr>
          <a:xfrm>
            <a:off x="1984320" y="1984320"/>
            <a:ext cx="1288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~1–4 GB</a:t>
            </a:r>
            <a:endParaRPr lang="en-US" sz="1020" b="0" u="none" strike="noStrike">
              <a:solidFill>
                <a:srgbClr val="FFFFFF"/>
              </a:solidFill>
              <a:effectLst/>
              <a:uFillTx/>
              <a:latin typeface="Arial"/>
            </a:endParaRPr>
          </a:p>
        </p:txBody>
      </p:sp>
      <p:sp>
        <p:nvSpPr>
          <p:cNvPr id="593" name="Shape 16"/>
          <p:cNvSpPr/>
          <p:nvPr/>
        </p:nvSpPr>
        <p:spPr>
          <a:xfrm>
            <a:off x="3337560" y="1828800"/>
            <a:ext cx="155412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4" name="Text 17"/>
          <p:cNvSpPr/>
          <p:nvPr/>
        </p:nvSpPr>
        <p:spPr>
          <a:xfrm>
            <a:off x="3401640" y="1984320"/>
            <a:ext cx="1425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8 GB RAM</a:t>
            </a:r>
            <a:endParaRPr lang="en-US" sz="1020" b="0" u="none" strike="noStrike">
              <a:solidFill>
                <a:srgbClr val="FFFFFF"/>
              </a:solidFill>
              <a:effectLst/>
              <a:uFillTx/>
              <a:latin typeface="Arial"/>
            </a:endParaRPr>
          </a:p>
        </p:txBody>
      </p:sp>
      <p:sp>
        <p:nvSpPr>
          <p:cNvPr id="595" name="Shape 18"/>
          <p:cNvSpPr/>
          <p:nvPr/>
        </p:nvSpPr>
        <p:spPr>
          <a:xfrm>
            <a:off x="4892040" y="1828800"/>
            <a:ext cx="159984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6" name="Text 19"/>
          <p:cNvSpPr/>
          <p:nvPr/>
        </p:nvSpPr>
        <p:spPr>
          <a:xfrm>
            <a:off x="4956120" y="1984320"/>
            <a:ext cx="1471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4–6 GB VRAM</a:t>
            </a:r>
            <a:endParaRPr lang="en-US" sz="1020" b="0" u="none" strike="noStrike">
              <a:solidFill>
                <a:srgbClr val="FFFFFF"/>
              </a:solidFill>
              <a:effectLst/>
              <a:uFillTx/>
              <a:latin typeface="Arial"/>
            </a:endParaRPr>
          </a:p>
        </p:txBody>
      </p:sp>
      <p:sp>
        <p:nvSpPr>
          <p:cNvPr id="597" name="Shape 20"/>
          <p:cNvSpPr/>
          <p:nvPr/>
        </p:nvSpPr>
        <p:spPr>
          <a:xfrm>
            <a:off x="6492240" y="1828800"/>
            <a:ext cx="466308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598" name="Text 21"/>
          <p:cNvSpPr/>
          <p:nvPr/>
        </p:nvSpPr>
        <p:spPr>
          <a:xfrm>
            <a:off x="6556320" y="1984320"/>
            <a:ext cx="4534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0" b="0" u="none" strike="noStrike">
                <a:solidFill>
                  <a:srgbClr val="AAB5C8"/>
                </a:solidFill>
                <a:effectLst/>
                <a:uFillTx/>
                <a:latin typeface="Aptos"/>
              </a:rPr>
              <a:t>Fast helpers, extraction, simple chat</a:t>
            </a:r>
            <a:endParaRPr lang="en-US" sz="980" b="0" u="none" strike="noStrike">
              <a:solidFill>
                <a:srgbClr val="FFFFFF"/>
              </a:solidFill>
              <a:effectLst/>
              <a:uFillTx/>
              <a:latin typeface="Arial"/>
            </a:endParaRPr>
          </a:p>
        </p:txBody>
      </p:sp>
      <p:sp>
        <p:nvSpPr>
          <p:cNvPr id="599" name="Shape 22"/>
          <p:cNvSpPr/>
          <p:nvPr/>
        </p:nvSpPr>
        <p:spPr>
          <a:xfrm>
            <a:off x="640080" y="2496240"/>
            <a:ext cx="127980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0" name="Text 23"/>
          <p:cNvSpPr/>
          <p:nvPr/>
        </p:nvSpPr>
        <p:spPr>
          <a:xfrm>
            <a:off x="704160" y="2651760"/>
            <a:ext cx="1151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1" u="none" strike="noStrike">
                <a:solidFill>
                  <a:srgbClr val="40E0A1"/>
                </a:solidFill>
                <a:effectLst/>
                <a:uFillTx/>
                <a:latin typeface="Aptos"/>
              </a:rPr>
              <a:t>7–9B</a:t>
            </a:r>
            <a:endParaRPr lang="en-US" sz="1020" b="0" u="none" strike="noStrike">
              <a:solidFill>
                <a:srgbClr val="FFFFFF"/>
              </a:solidFill>
              <a:effectLst/>
              <a:uFillTx/>
              <a:latin typeface="Arial"/>
            </a:endParaRPr>
          </a:p>
        </p:txBody>
      </p:sp>
      <p:sp>
        <p:nvSpPr>
          <p:cNvPr id="601" name="Shape 24"/>
          <p:cNvSpPr/>
          <p:nvPr/>
        </p:nvSpPr>
        <p:spPr>
          <a:xfrm>
            <a:off x="1920240" y="2496240"/>
            <a:ext cx="141696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2" name="Text 25"/>
          <p:cNvSpPr/>
          <p:nvPr/>
        </p:nvSpPr>
        <p:spPr>
          <a:xfrm>
            <a:off x="1984320" y="2651760"/>
            <a:ext cx="1288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~5–7 GB</a:t>
            </a:r>
            <a:endParaRPr lang="en-US" sz="1020" b="0" u="none" strike="noStrike">
              <a:solidFill>
                <a:srgbClr val="FFFFFF"/>
              </a:solidFill>
              <a:effectLst/>
              <a:uFillTx/>
              <a:latin typeface="Arial"/>
            </a:endParaRPr>
          </a:p>
        </p:txBody>
      </p:sp>
      <p:sp>
        <p:nvSpPr>
          <p:cNvPr id="603" name="Shape 26"/>
          <p:cNvSpPr/>
          <p:nvPr/>
        </p:nvSpPr>
        <p:spPr>
          <a:xfrm>
            <a:off x="3337560" y="2496240"/>
            <a:ext cx="155412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4" name="Text 27"/>
          <p:cNvSpPr/>
          <p:nvPr/>
        </p:nvSpPr>
        <p:spPr>
          <a:xfrm>
            <a:off x="3401640" y="2651760"/>
            <a:ext cx="1425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16 GB RAM</a:t>
            </a:r>
            <a:endParaRPr lang="en-US" sz="1020" b="0" u="none" strike="noStrike">
              <a:solidFill>
                <a:srgbClr val="FFFFFF"/>
              </a:solidFill>
              <a:effectLst/>
              <a:uFillTx/>
              <a:latin typeface="Arial"/>
            </a:endParaRPr>
          </a:p>
        </p:txBody>
      </p:sp>
      <p:sp>
        <p:nvSpPr>
          <p:cNvPr id="605" name="Shape 28"/>
          <p:cNvSpPr/>
          <p:nvPr/>
        </p:nvSpPr>
        <p:spPr>
          <a:xfrm>
            <a:off x="4892040" y="2496240"/>
            <a:ext cx="159984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6" name="Text 29"/>
          <p:cNvSpPr/>
          <p:nvPr/>
        </p:nvSpPr>
        <p:spPr>
          <a:xfrm>
            <a:off x="4956120" y="2651760"/>
            <a:ext cx="1471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8 GB VRAM</a:t>
            </a:r>
            <a:endParaRPr lang="en-US" sz="1020" b="0" u="none" strike="noStrike">
              <a:solidFill>
                <a:srgbClr val="FFFFFF"/>
              </a:solidFill>
              <a:effectLst/>
              <a:uFillTx/>
              <a:latin typeface="Arial"/>
            </a:endParaRPr>
          </a:p>
        </p:txBody>
      </p:sp>
      <p:sp>
        <p:nvSpPr>
          <p:cNvPr id="607" name="Shape 30"/>
          <p:cNvSpPr/>
          <p:nvPr/>
        </p:nvSpPr>
        <p:spPr>
          <a:xfrm>
            <a:off x="6492240" y="2496240"/>
            <a:ext cx="466308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08" name="Text 31"/>
          <p:cNvSpPr/>
          <p:nvPr/>
        </p:nvSpPr>
        <p:spPr>
          <a:xfrm>
            <a:off x="6556320" y="2651760"/>
            <a:ext cx="4534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0" b="0" u="none" strike="noStrike">
                <a:solidFill>
                  <a:srgbClr val="AAB5C8"/>
                </a:solidFill>
                <a:effectLst/>
                <a:uFillTx/>
                <a:latin typeface="Aptos"/>
              </a:rPr>
              <a:t>Excellent maker-space starting tier</a:t>
            </a:r>
            <a:endParaRPr lang="en-US" sz="980" b="0" u="none" strike="noStrike">
              <a:solidFill>
                <a:srgbClr val="FFFFFF"/>
              </a:solidFill>
              <a:effectLst/>
              <a:uFillTx/>
              <a:latin typeface="Arial"/>
            </a:endParaRPr>
          </a:p>
        </p:txBody>
      </p:sp>
      <p:sp>
        <p:nvSpPr>
          <p:cNvPr id="609" name="Shape 32"/>
          <p:cNvSpPr/>
          <p:nvPr/>
        </p:nvSpPr>
        <p:spPr>
          <a:xfrm>
            <a:off x="640080" y="3163680"/>
            <a:ext cx="127980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0" name="Text 33"/>
          <p:cNvSpPr/>
          <p:nvPr/>
        </p:nvSpPr>
        <p:spPr>
          <a:xfrm>
            <a:off x="704160" y="3319200"/>
            <a:ext cx="1151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1" u="none" strike="noStrike">
                <a:solidFill>
                  <a:srgbClr val="40E0A1"/>
                </a:solidFill>
                <a:effectLst/>
                <a:uFillTx/>
                <a:latin typeface="Aptos"/>
              </a:rPr>
              <a:t>12–14B</a:t>
            </a:r>
            <a:endParaRPr lang="en-US" sz="1020" b="0" u="none" strike="noStrike">
              <a:solidFill>
                <a:srgbClr val="FFFFFF"/>
              </a:solidFill>
              <a:effectLst/>
              <a:uFillTx/>
              <a:latin typeface="Arial"/>
            </a:endParaRPr>
          </a:p>
        </p:txBody>
      </p:sp>
      <p:sp>
        <p:nvSpPr>
          <p:cNvPr id="611" name="Shape 34"/>
          <p:cNvSpPr/>
          <p:nvPr/>
        </p:nvSpPr>
        <p:spPr>
          <a:xfrm>
            <a:off x="1920240" y="3163680"/>
            <a:ext cx="141696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2" name="Text 35"/>
          <p:cNvSpPr/>
          <p:nvPr/>
        </p:nvSpPr>
        <p:spPr>
          <a:xfrm>
            <a:off x="1984320" y="3319200"/>
            <a:ext cx="1288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~8–10 GB</a:t>
            </a:r>
            <a:endParaRPr lang="en-US" sz="1020" b="0" u="none" strike="noStrike">
              <a:solidFill>
                <a:srgbClr val="FFFFFF"/>
              </a:solidFill>
              <a:effectLst/>
              <a:uFillTx/>
              <a:latin typeface="Arial"/>
            </a:endParaRPr>
          </a:p>
        </p:txBody>
      </p:sp>
      <p:sp>
        <p:nvSpPr>
          <p:cNvPr id="613" name="Shape 36"/>
          <p:cNvSpPr/>
          <p:nvPr/>
        </p:nvSpPr>
        <p:spPr>
          <a:xfrm>
            <a:off x="3337560" y="3163680"/>
            <a:ext cx="155412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4" name="Text 37"/>
          <p:cNvSpPr/>
          <p:nvPr/>
        </p:nvSpPr>
        <p:spPr>
          <a:xfrm>
            <a:off x="3401640" y="3319200"/>
            <a:ext cx="1425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24 GB RAM</a:t>
            </a:r>
            <a:endParaRPr lang="en-US" sz="1020" b="0" u="none" strike="noStrike">
              <a:solidFill>
                <a:srgbClr val="FFFFFF"/>
              </a:solidFill>
              <a:effectLst/>
              <a:uFillTx/>
              <a:latin typeface="Arial"/>
            </a:endParaRPr>
          </a:p>
        </p:txBody>
      </p:sp>
      <p:sp>
        <p:nvSpPr>
          <p:cNvPr id="615" name="Shape 38"/>
          <p:cNvSpPr/>
          <p:nvPr/>
        </p:nvSpPr>
        <p:spPr>
          <a:xfrm>
            <a:off x="4892040" y="3163680"/>
            <a:ext cx="159984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6" name="Text 39"/>
          <p:cNvSpPr/>
          <p:nvPr/>
        </p:nvSpPr>
        <p:spPr>
          <a:xfrm>
            <a:off x="4956120" y="3319200"/>
            <a:ext cx="1471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12–16 GB VRAM</a:t>
            </a:r>
            <a:endParaRPr lang="en-US" sz="1020" b="0" u="none" strike="noStrike">
              <a:solidFill>
                <a:srgbClr val="FFFFFF"/>
              </a:solidFill>
              <a:effectLst/>
              <a:uFillTx/>
              <a:latin typeface="Arial"/>
            </a:endParaRPr>
          </a:p>
        </p:txBody>
      </p:sp>
      <p:sp>
        <p:nvSpPr>
          <p:cNvPr id="617" name="Shape 40"/>
          <p:cNvSpPr/>
          <p:nvPr/>
        </p:nvSpPr>
        <p:spPr>
          <a:xfrm>
            <a:off x="6492240" y="3163680"/>
            <a:ext cx="466308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18" name="Text 41"/>
          <p:cNvSpPr/>
          <p:nvPr/>
        </p:nvSpPr>
        <p:spPr>
          <a:xfrm>
            <a:off x="6556320" y="3319200"/>
            <a:ext cx="4534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0" b="0" u="none" strike="noStrike">
                <a:solidFill>
                  <a:srgbClr val="AAB5C8"/>
                </a:solidFill>
                <a:effectLst/>
                <a:uFillTx/>
                <a:latin typeface="Aptos"/>
              </a:rPr>
              <a:t>Stronger reasoning / coding</a:t>
            </a:r>
            <a:endParaRPr lang="en-US" sz="980" b="0" u="none" strike="noStrike">
              <a:solidFill>
                <a:srgbClr val="FFFFFF"/>
              </a:solidFill>
              <a:effectLst/>
              <a:uFillTx/>
              <a:latin typeface="Arial"/>
            </a:endParaRPr>
          </a:p>
        </p:txBody>
      </p:sp>
      <p:sp>
        <p:nvSpPr>
          <p:cNvPr id="619" name="Shape 42"/>
          <p:cNvSpPr/>
          <p:nvPr/>
        </p:nvSpPr>
        <p:spPr>
          <a:xfrm>
            <a:off x="640080" y="3831480"/>
            <a:ext cx="127980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0" name="Text 43"/>
          <p:cNvSpPr/>
          <p:nvPr/>
        </p:nvSpPr>
        <p:spPr>
          <a:xfrm>
            <a:off x="704160" y="3986640"/>
            <a:ext cx="1151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1" u="none" strike="noStrike">
                <a:solidFill>
                  <a:srgbClr val="40E0A1"/>
                </a:solidFill>
                <a:effectLst/>
                <a:uFillTx/>
                <a:latin typeface="Aptos"/>
              </a:rPr>
              <a:t>27–32B</a:t>
            </a:r>
            <a:endParaRPr lang="en-US" sz="1020" b="0" u="none" strike="noStrike">
              <a:solidFill>
                <a:srgbClr val="FFFFFF"/>
              </a:solidFill>
              <a:effectLst/>
              <a:uFillTx/>
              <a:latin typeface="Arial"/>
            </a:endParaRPr>
          </a:p>
        </p:txBody>
      </p:sp>
      <p:sp>
        <p:nvSpPr>
          <p:cNvPr id="621" name="Shape 44"/>
          <p:cNvSpPr/>
          <p:nvPr/>
        </p:nvSpPr>
        <p:spPr>
          <a:xfrm>
            <a:off x="1920240" y="3831480"/>
            <a:ext cx="141696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2" name="Text 45"/>
          <p:cNvSpPr/>
          <p:nvPr/>
        </p:nvSpPr>
        <p:spPr>
          <a:xfrm>
            <a:off x="1984320" y="3986640"/>
            <a:ext cx="1288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~17–22 GB</a:t>
            </a:r>
            <a:endParaRPr lang="en-US" sz="1020" b="0" u="none" strike="noStrike">
              <a:solidFill>
                <a:srgbClr val="FFFFFF"/>
              </a:solidFill>
              <a:effectLst/>
              <a:uFillTx/>
              <a:latin typeface="Arial"/>
            </a:endParaRPr>
          </a:p>
        </p:txBody>
      </p:sp>
      <p:sp>
        <p:nvSpPr>
          <p:cNvPr id="623" name="Shape 46"/>
          <p:cNvSpPr/>
          <p:nvPr/>
        </p:nvSpPr>
        <p:spPr>
          <a:xfrm>
            <a:off x="3337560" y="3831480"/>
            <a:ext cx="155412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4" name="Text 47"/>
          <p:cNvSpPr/>
          <p:nvPr/>
        </p:nvSpPr>
        <p:spPr>
          <a:xfrm>
            <a:off x="3401640" y="3986640"/>
            <a:ext cx="1425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32–48 GB RAM</a:t>
            </a:r>
            <a:endParaRPr lang="en-US" sz="1020" b="0" u="none" strike="noStrike">
              <a:solidFill>
                <a:srgbClr val="FFFFFF"/>
              </a:solidFill>
              <a:effectLst/>
              <a:uFillTx/>
              <a:latin typeface="Arial"/>
            </a:endParaRPr>
          </a:p>
        </p:txBody>
      </p:sp>
      <p:sp>
        <p:nvSpPr>
          <p:cNvPr id="625" name="Shape 48"/>
          <p:cNvSpPr/>
          <p:nvPr/>
        </p:nvSpPr>
        <p:spPr>
          <a:xfrm>
            <a:off x="4892040" y="3831480"/>
            <a:ext cx="159984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6" name="Text 49"/>
          <p:cNvSpPr/>
          <p:nvPr/>
        </p:nvSpPr>
        <p:spPr>
          <a:xfrm>
            <a:off x="4956120" y="3986640"/>
            <a:ext cx="1471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24 GB VRAM</a:t>
            </a:r>
            <a:endParaRPr lang="en-US" sz="1020" b="0" u="none" strike="noStrike">
              <a:solidFill>
                <a:srgbClr val="FFFFFF"/>
              </a:solidFill>
              <a:effectLst/>
              <a:uFillTx/>
              <a:latin typeface="Arial"/>
            </a:endParaRPr>
          </a:p>
        </p:txBody>
      </p:sp>
      <p:sp>
        <p:nvSpPr>
          <p:cNvPr id="627" name="Shape 50"/>
          <p:cNvSpPr/>
          <p:nvPr/>
        </p:nvSpPr>
        <p:spPr>
          <a:xfrm>
            <a:off x="6492240" y="3831480"/>
            <a:ext cx="4663080" cy="66708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28" name="Text 51"/>
          <p:cNvSpPr/>
          <p:nvPr/>
        </p:nvSpPr>
        <p:spPr>
          <a:xfrm>
            <a:off x="6556320" y="3986640"/>
            <a:ext cx="4534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0" b="0" u="none" strike="noStrike">
                <a:solidFill>
                  <a:srgbClr val="AAB5C8"/>
                </a:solidFill>
                <a:effectLst/>
                <a:uFillTx/>
                <a:latin typeface="Aptos"/>
              </a:rPr>
              <a:t>High-quality single-GPU target</a:t>
            </a:r>
            <a:endParaRPr lang="en-US" sz="980" b="0" u="none" strike="noStrike">
              <a:solidFill>
                <a:srgbClr val="FFFFFF"/>
              </a:solidFill>
              <a:effectLst/>
              <a:uFillTx/>
              <a:latin typeface="Arial"/>
            </a:endParaRPr>
          </a:p>
        </p:txBody>
      </p:sp>
      <p:sp>
        <p:nvSpPr>
          <p:cNvPr id="629" name="Shape 52"/>
          <p:cNvSpPr/>
          <p:nvPr/>
        </p:nvSpPr>
        <p:spPr>
          <a:xfrm>
            <a:off x="640080" y="4498920"/>
            <a:ext cx="127980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0" name="Text 53"/>
          <p:cNvSpPr/>
          <p:nvPr/>
        </p:nvSpPr>
        <p:spPr>
          <a:xfrm>
            <a:off x="704160" y="4654440"/>
            <a:ext cx="115164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1" u="none" strike="noStrike">
                <a:solidFill>
                  <a:srgbClr val="40E0A1"/>
                </a:solidFill>
                <a:effectLst/>
                <a:uFillTx/>
                <a:latin typeface="Aptos"/>
              </a:rPr>
              <a:t>70B</a:t>
            </a:r>
            <a:endParaRPr lang="en-US" sz="1020" b="0" u="none" strike="noStrike">
              <a:solidFill>
                <a:srgbClr val="FFFFFF"/>
              </a:solidFill>
              <a:effectLst/>
              <a:uFillTx/>
              <a:latin typeface="Arial"/>
            </a:endParaRPr>
          </a:p>
        </p:txBody>
      </p:sp>
      <p:sp>
        <p:nvSpPr>
          <p:cNvPr id="631" name="Shape 54"/>
          <p:cNvSpPr/>
          <p:nvPr/>
        </p:nvSpPr>
        <p:spPr>
          <a:xfrm>
            <a:off x="1920240" y="4498920"/>
            <a:ext cx="141696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2" name="Text 55"/>
          <p:cNvSpPr/>
          <p:nvPr/>
        </p:nvSpPr>
        <p:spPr>
          <a:xfrm>
            <a:off x="1984320" y="4654440"/>
            <a:ext cx="128880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~40+ GB</a:t>
            </a:r>
            <a:endParaRPr lang="en-US" sz="1020" b="0" u="none" strike="noStrike">
              <a:solidFill>
                <a:srgbClr val="FFFFFF"/>
              </a:solidFill>
              <a:effectLst/>
              <a:uFillTx/>
              <a:latin typeface="Arial"/>
            </a:endParaRPr>
          </a:p>
        </p:txBody>
      </p:sp>
      <p:sp>
        <p:nvSpPr>
          <p:cNvPr id="633" name="Shape 56"/>
          <p:cNvSpPr/>
          <p:nvPr/>
        </p:nvSpPr>
        <p:spPr>
          <a:xfrm>
            <a:off x="3337560" y="4498920"/>
            <a:ext cx="155412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4" name="Text 57"/>
          <p:cNvSpPr/>
          <p:nvPr/>
        </p:nvSpPr>
        <p:spPr>
          <a:xfrm>
            <a:off x="3401640" y="4654440"/>
            <a:ext cx="1425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64+ GB RAM</a:t>
            </a:r>
            <a:endParaRPr lang="en-US" sz="1020" b="0" u="none" strike="noStrike">
              <a:solidFill>
                <a:srgbClr val="FFFFFF"/>
              </a:solidFill>
              <a:effectLst/>
              <a:uFillTx/>
              <a:latin typeface="Arial"/>
            </a:endParaRPr>
          </a:p>
        </p:txBody>
      </p:sp>
      <p:sp>
        <p:nvSpPr>
          <p:cNvPr id="635" name="Shape 58"/>
          <p:cNvSpPr/>
          <p:nvPr/>
        </p:nvSpPr>
        <p:spPr>
          <a:xfrm>
            <a:off x="4892040" y="4498920"/>
            <a:ext cx="159984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6" name="Text 59"/>
          <p:cNvSpPr/>
          <p:nvPr/>
        </p:nvSpPr>
        <p:spPr>
          <a:xfrm>
            <a:off x="4956120" y="4654440"/>
            <a:ext cx="147168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20" b="0" u="none" strike="noStrike">
                <a:solidFill>
                  <a:srgbClr val="F5F8FC"/>
                </a:solidFill>
                <a:effectLst/>
                <a:uFillTx/>
                <a:latin typeface="Aptos"/>
              </a:rPr>
              <a:t>48+ GB VRAM*</a:t>
            </a:r>
            <a:endParaRPr lang="en-US" sz="1020" b="0" u="none" strike="noStrike">
              <a:solidFill>
                <a:srgbClr val="FFFFFF"/>
              </a:solidFill>
              <a:effectLst/>
              <a:uFillTx/>
              <a:latin typeface="Arial"/>
            </a:endParaRPr>
          </a:p>
        </p:txBody>
      </p:sp>
      <p:sp>
        <p:nvSpPr>
          <p:cNvPr id="637" name="Shape 60"/>
          <p:cNvSpPr/>
          <p:nvPr/>
        </p:nvSpPr>
        <p:spPr>
          <a:xfrm>
            <a:off x="6492240" y="4498920"/>
            <a:ext cx="4663080" cy="66708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38" name="Text 61"/>
          <p:cNvSpPr/>
          <p:nvPr/>
        </p:nvSpPr>
        <p:spPr>
          <a:xfrm>
            <a:off x="6556320" y="4654440"/>
            <a:ext cx="453492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80" b="0" u="none" strike="noStrike">
                <a:solidFill>
                  <a:srgbClr val="AAB5C8"/>
                </a:solidFill>
                <a:effectLst/>
                <a:uFillTx/>
                <a:latin typeface="Aptos"/>
              </a:rPr>
              <a:t>High-end / multi-GPU / CPU-offload territory</a:t>
            </a:r>
            <a:endParaRPr lang="en-US" sz="980" b="0" u="none" strike="noStrike">
              <a:solidFill>
                <a:srgbClr val="FFFFFF"/>
              </a:solidFill>
              <a:effectLst/>
              <a:uFillTx/>
              <a:latin typeface="Arial"/>
            </a:endParaRPr>
          </a:p>
        </p:txBody>
      </p:sp>
      <p:sp>
        <p:nvSpPr>
          <p:cNvPr id="639" name="Text 62"/>
          <p:cNvSpPr/>
          <p:nvPr/>
        </p:nvSpPr>
        <p:spPr>
          <a:xfrm>
            <a:off x="694800" y="5340240"/>
            <a:ext cx="10807920" cy="38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*“Comfortable GPU VRAM” is workshop guidance, not a vendor minimum. CPU/RAM offload can run larger models more slowly. Context/KV cache and multiple users add memory.</a:t>
            </a:r>
            <a:endParaRPr lang="en-US" sz="950" b="0" u="none" strike="noStrike">
              <a:solidFill>
                <a:srgbClr val="FFFFFF"/>
              </a:solidFill>
              <a:effectLst/>
              <a:uFillTx/>
              <a:latin typeface="Arial"/>
            </a:endParaRPr>
          </a:p>
        </p:txBody>
      </p:sp>
      <p:sp>
        <p:nvSpPr>
          <p:cNvPr id="640" name="Text 63"/>
          <p:cNvSpPr/>
          <p:nvPr/>
        </p:nvSpPr>
        <p:spPr>
          <a:xfrm>
            <a:off x="694800" y="5706000"/>
            <a:ext cx="10807920" cy="347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40" b="1" u="none" strike="noStrike">
                <a:solidFill>
                  <a:srgbClr val="FFC857"/>
                </a:solidFill>
                <a:effectLst/>
                <a:uFillTx/>
                <a:latin typeface="Aptos"/>
              </a:rPr>
              <a:t>Concrete proof point: Ollama lists Gemma 3 packages around 3.3 GB (4B), 8.1 GB (12B), and 17 GB (27B); the same family supports quantization-aware variants with lower memory footprint.</a:t>
            </a:r>
            <a:endParaRPr lang="en-US" sz="1040" b="0" u="none" strike="noStrike">
              <a:solidFill>
                <a:srgbClr val="FFFFFF"/>
              </a:solidFill>
              <a:effectLst/>
              <a:uFillTx/>
              <a:latin typeface="Arial"/>
            </a:endParaRPr>
          </a:p>
        </p:txBody>
      </p:sp>
      <p:sp>
        <p:nvSpPr>
          <p:cNvPr id="641" name="Text 64">
            <a:hlinkClick r:id="rId3"/>
          </p:cNvPr>
          <p:cNvSpPr/>
          <p:nvPr/>
        </p:nvSpPr>
        <p:spPr>
          <a:xfrm>
            <a:off x="521280" y="6190560"/>
            <a:ext cx="23634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Ollama Gemma 3 package sizes</a:t>
            </a:r>
            <a:endParaRPr lang="en-US" sz="720" b="0" u="none" strike="noStrike">
              <a:solidFill>
                <a:srgbClr val="FFFFFF"/>
              </a:solidFill>
              <a:effectLst/>
              <a:uFillTx/>
              <a:latin typeface="Arial"/>
            </a:endParaRPr>
          </a:p>
        </p:txBody>
      </p:sp>
      <p:sp>
        <p:nvSpPr>
          <p:cNvPr id="642" name="Text 65">
            <a:hlinkClick r:id="rId4"/>
          </p:cNvPr>
          <p:cNvSpPr/>
          <p:nvPr/>
        </p:nvSpPr>
        <p:spPr>
          <a:xfrm>
            <a:off x="2885040" y="6190560"/>
            <a:ext cx="176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llama.cpp quantization</a:t>
            </a:r>
            <a:endParaRPr lang="en-US" sz="720" b="0" u="none" strike="noStrike">
              <a:solidFill>
                <a:srgbClr val="FFFFFF"/>
              </a:solidFill>
              <a:effectLst/>
              <a:uFillTx/>
              <a:latin typeface="Arial"/>
            </a:endParaRPr>
          </a:p>
        </p:txBody>
      </p:sp>
      <p:sp>
        <p:nvSpPr>
          <p:cNvPr id="643" name="PlaceHolder 1"/>
          <p:cNvSpPr>
            <a:spLocks noGrp="1"/>
          </p:cNvSpPr>
          <p:nvPr>
            <p:ph type="sldNum" idx="22"/>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8479B22C-47D6-4698-B63C-B8F7F7438F9F}" type="slidenum">
              <a:rPr lang="en-US" sz="750" b="0" u="none" strike="noStrike">
                <a:solidFill>
                  <a:srgbClr val="73809A"/>
                </a:solidFill>
                <a:effectLst/>
                <a:uFillTx/>
                <a:latin typeface="Aptos"/>
                <a:ea typeface="Aptos"/>
              </a:rPr>
              <a:t>18</a:t>
            </a:fld>
            <a:endParaRPr lang="en-US" sz="750" b="0" u="none" strike="noStrike">
              <a:solidFill>
                <a:srgbClr val="FFFFFF"/>
              </a:solidFill>
              <a:effectLst/>
              <a:uFillTx/>
              <a:latin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Air-gapped AI: what “offline” actually requires</a:t>
            </a:r>
            <a:endParaRPr lang="en-US" sz="2600" b="0" u="none" strike="noStrike">
              <a:solidFill>
                <a:srgbClr val="FFFFFF"/>
              </a:solidFill>
              <a:effectLst/>
              <a:uFillTx/>
              <a:latin typeface="Arial"/>
            </a:endParaRPr>
          </a:p>
        </p:txBody>
      </p:sp>
      <p:sp>
        <p:nvSpPr>
          <p:cNvPr id="645"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Software offline mode is helpful. A true air gap is enforced by network isolation.</a:t>
            </a:r>
            <a:endParaRPr lang="en-US" sz="1150" b="0" u="none" strike="noStrike">
              <a:solidFill>
                <a:srgbClr val="FFFFFF"/>
              </a:solidFill>
              <a:effectLst/>
              <a:uFillTx/>
              <a:latin typeface="Arial"/>
            </a:endParaRPr>
          </a:p>
        </p:txBody>
      </p:sp>
      <p:sp>
        <p:nvSpPr>
          <p:cNvPr id="646" name="Shape 2"/>
          <p:cNvSpPr/>
          <p:nvPr/>
        </p:nvSpPr>
        <p:spPr>
          <a:xfrm>
            <a:off x="621720" y="1417320"/>
            <a:ext cx="2834280" cy="3584160"/>
          </a:xfrm>
          <a:prstGeom prst="roundRect">
            <a:avLst>
              <a:gd name="adj" fmla="val 2581"/>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47" name="Shape 3"/>
          <p:cNvSpPr/>
          <p:nvPr/>
        </p:nvSpPr>
        <p:spPr>
          <a:xfrm>
            <a:off x="621720" y="1417320"/>
            <a:ext cx="54360" cy="358416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48" name="Text 4"/>
          <p:cNvSpPr/>
          <p:nvPr/>
        </p:nvSpPr>
        <p:spPr>
          <a:xfrm>
            <a:off x="822960" y="1581840"/>
            <a:ext cx="24868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ONLINE STAGING MACHINE</a:t>
            </a:r>
            <a:endParaRPr lang="en-US" sz="1500" b="0" u="none" strike="noStrike">
              <a:solidFill>
                <a:srgbClr val="FFFFFF"/>
              </a:solidFill>
              <a:effectLst/>
              <a:uFillTx/>
              <a:latin typeface="Arial"/>
            </a:endParaRPr>
          </a:p>
        </p:txBody>
      </p:sp>
      <p:sp>
        <p:nvSpPr>
          <p:cNvPr id="649" name="Text 5"/>
          <p:cNvSpPr/>
          <p:nvPr/>
        </p:nvSpPr>
        <p:spPr>
          <a:xfrm>
            <a:off x="822960" y="1920240"/>
            <a:ext cx="2486880" cy="292572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150" b="0" u="none" strike="noStrike">
                <a:solidFill>
                  <a:srgbClr val="AAB5C8"/>
                </a:solidFill>
                <a:effectLst/>
                <a:uFillTx/>
                <a:latin typeface="Aptos"/>
              </a:rPr>
              <a:t>1. Download model files</a:t>
            </a:r>
            <a:endParaRPr lang="en-US" sz="1150" b="0" u="none" strike="noStrike">
              <a:solidFill>
                <a:srgbClr val="FFFFFF"/>
              </a:solidFill>
              <a:effectLst/>
              <a:uFillTx/>
              <a:latin typeface="Arial"/>
            </a:endParaRPr>
          </a:p>
          <a:p>
            <a:pPr defTabSz="914400">
              <a:lnSpc>
                <a:spcPct val="100000"/>
              </a:lnSpc>
              <a:tabLst>
                <a:tab pos="0" algn="l"/>
              </a:tabLst>
            </a:pPr>
            <a:r>
              <a:rPr lang="en-US" sz="1150" b="0" u="none" strike="noStrike">
                <a:solidFill>
                  <a:srgbClr val="AAB5C8"/>
                </a:solidFill>
                <a:effectLst/>
                <a:uFillTx/>
                <a:latin typeface="Aptos"/>
              </a:rPr>
              <a:t>2. Download containers / packages</a:t>
            </a:r>
            <a:endParaRPr lang="en-US" sz="1150" b="0" u="none" strike="noStrike">
              <a:solidFill>
                <a:srgbClr val="FFFFFF"/>
              </a:solidFill>
              <a:effectLst/>
              <a:uFillTx/>
              <a:latin typeface="Arial"/>
            </a:endParaRPr>
          </a:p>
          <a:p>
            <a:pPr defTabSz="914400">
              <a:lnSpc>
                <a:spcPct val="100000"/>
              </a:lnSpc>
              <a:tabLst>
                <a:tab pos="0" algn="l"/>
              </a:tabLst>
            </a:pPr>
            <a:r>
              <a:rPr lang="en-US" sz="1150" b="0" u="none" strike="noStrike">
                <a:solidFill>
                  <a:srgbClr val="AAB5C8"/>
                </a:solidFill>
                <a:effectLst/>
                <a:uFillTx/>
                <a:latin typeface="Aptos"/>
              </a:rPr>
              <a:t>3. Download embedding / speech models</a:t>
            </a:r>
            <a:endParaRPr lang="en-US" sz="1150" b="0" u="none" strike="noStrike">
              <a:solidFill>
                <a:srgbClr val="FFFFFF"/>
              </a:solidFill>
              <a:effectLst/>
              <a:uFillTx/>
              <a:latin typeface="Arial"/>
            </a:endParaRPr>
          </a:p>
          <a:p>
            <a:pPr defTabSz="914400">
              <a:lnSpc>
                <a:spcPct val="100000"/>
              </a:lnSpc>
              <a:tabLst>
                <a:tab pos="0" algn="l"/>
              </a:tabLst>
            </a:pPr>
            <a:r>
              <a:rPr lang="en-US" sz="1150" b="0" u="none" strike="noStrike">
                <a:solidFill>
                  <a:srgbClr val="AAB5C8"/>
                </a:solidFill>
                <a:effectLst/>
                <a:uFillTx/>
                <a:latin typeface="Aptos"/>
              </a:rPr>
              <a:t>4. Verify hashes / provenance</a:t>
            </a:r>
            <a:endParaRPr lang="en-US" sz="1150" b="0" u="none" strike="noStrike">
              <a:solidFill>
                <a:srgbClr val="FFFFFF"/>
              </a:solidFill>
              <a:effectLst/>
              <a:uFillTx/>
              <a:latin typeface="Arial"/>
            </a:endParaRPr>
          </a:p>
          <a:p>
            <a:pPr defTabSz="914400">
              <a:lnSpc>
                <a:spcPct val="100000"/>
              </a:lnSpc>
              <a:tabLst>
                <a:tab pos="0" algn="l"/>
              </a:tabLst>
            </a:pPr>
            <a:r>
              <a:rPr lang="en-US" sz="1150" b="0" u="none" strike="noStrike">
                <a:solidFill>
                  <a:srgbClr val="AAB5C8"/>
                </a:solidFill>
                <a:effectLst/>
                <a:uFillTx/>
                <a:latin typeface="Aptos"/>
              </a:rPr>
              <a:t>5. Transfer approved artifacts</a:t>
            </a:r>
            <a:endParaRPr lang="en-US" sz="1150" b="0" u="none" strike="noStrike">
              <a:solidFill>
                <a:srgbClr val="FFFFFF"/>
              </a:solidFill>
              <a:effectLst/>
              <a:uFillTx/>
              <a:latin typeface="Arial"/>
            </a:endParaRPr>
          </a:p>
        </p:txBody>
      </p:sp>
      <p:sp>
        <p:nvSpPr>
          <p:cNvPr id="650" name="Shape 6"/>
          <p:cNvSpPr/>
          <p:nvPr/>
        </p:nvSpPr>
        <p:spPr>
          <a:xfrm>
            <a:off x="3611880" y="3154680"/>
            <a:ext cx="1097280" cy="360"/>
          </a:xfrm>
          <a:prstGeom prst="line">
            <a:avLst/>
          </a:prstGeom>
          <a:ln w="25400">
            <a:solidFill>
              <a:srgbClr val="FFC857"/>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651" name="Text 7"/>
          <p:cNvSpPr/>
          <p:nvPr/>
        </p:nvSpPr>
        <p:spPr>
          <a:xfrm>
            <a:off x="3547800" y="2834640"/>
            <a:ext cx="123408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860" b="0" u="none" strike="noStrike">
                <a:solidFill>
                  <a:srgbClr val="FFC857"/>
                </a:solidFill>
                <a:effectLst/>
                <a:uFillTx/>
                <a:latin typeface="Aptos"/>
              </a:rPr>
              <a:t>controlled transfer</a:t>
            </a:r>
            <a:endParaRPr lang="en-US" sz="860" b="0" u="none" strike="noStrike">
              <a:solidFill>
                <a:srgbClr val="FFFFFF"/>
              </a:solidFill>
              <a:effectLst/>
              <a:uFillTx/>
              <a:latin typeface="Arial"/>
            </a:endParaRPr>
          </a:p>
        </p:txBody>
      </p:sp>
      <p:sp>
        <p:nvSpPr>
          <p:cNvPr id="652" name="Shape 8"/>
          <p:cNvSpPr/>
          <p:nvPr/>
        </p:nvSpPr>
        <p:spPr>
          <a:xfrm>
            <a:off x="4892040" y="1170360"/>
            <a:ext cx="6629040" cy="4224240"/>
          </a:xfrm>
          <a:prstGeom prst="roundRect">
            <a:avLst>
              <a:gd name="adj" fmla="val 2165"/>
            </a:avLst>
          </a:prstGeom>
          <a:solidFill>
            <a:srgbClr val="0B1A18"/>
          </a:solidFill>
          <a:ln w="1778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3" name="Text 9"/>
          <p:cNvSpPr/>
          <p:nvPr/>
        </p:nvSpPr>
        <p:spPr>
          <a:xfrm>
            <a:off x="5230440" y="1417320"/>
            <a:ext cx="338292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u="none" strike="noStrike">
                <a:solidFill>
                  <a:srgbClr val="40E0A1"/>
                </a:solidFill>
                <a:effectLst/>
                <a:uFillTx/>
                <a:latin typeface="Aptos"/>
              </a:rPr>
              <a:t>ISOLATED / AIR-GAPPED NETWORK</a:t>
            </a:r>
            <a:endParaRPr lang="en-US" sz="1300" b="0" u="none" strike="noStrike">
              <a:solidFill>
                <a:srgbClr val="FFFFFF"/>
              </a:solidFill>
              <a:effectLst/>
              <a:uFillTx/>
              <a:latin typeface="Arial"/>
            </a:endParaRPr>
          </a:p>
        </p:txBody>
      </p:sp>
      <p:sp>
        <p:nvSpPr>
          <p:cNvPr id="654" name="Shape 10"/>
          <p:cNvSpPr/>
          <p:nvPr/>
        </p:nvSpPr>
        <p:spPr>
          <a:xfrm>
            <a:off x="5257800" y="1874520"/>
            <a:ext cx="245016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5" name="Shape 11"/>
          <p:cNvSpPr/>
          <p:nvPr/>
        </p:nvSpPr>
        <p:spPr>
          <a:xfrm>
            <a:off x="5257800" y="1874520"/>
            <a:ext cx="54360" cy="123408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56" name="Text 12"/>
          <p:cNvSpPr/>
          <p:nvPr/>
        </p:nvSpPr>
        <p:spPr>
          <a:xfrm>
            <a:off x="5459040" y="2039040"/>
            <a:ext cx="2102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Open WebUI</a:t>
            </a:r>
            <a:endParaRPr lang="en-US" sz="1300" b="0" u="none" strike="noStrike">
              <a:solidFill>
                <a:srgbClr val="FFFFFF"/>
              </a:solidFill>
              <a:effectLst/>
              <a:uFillTx/>
              <a:latin typeface="Arial"/>
            </a:endParaRPr>
          </a:p>
        </p:txBody>
      </p:sp>
      <p:sp>
        <p:nvSpPr>
          <p:cNvPr id="657" name="Text 13"/>
          <p:cNvSpPr/>
          <p:nvPr/>
        </p:nvSpPr>
        <p:spPr>
          <a:xfrm>
            <a:off x="5459040" y="2377440"/>
            <a:ext cx="2102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UI + local docs / RAG</a:t>
            </a:r>
            <a:endParaRPr lang="en-US" sz="1020" b="0" u="none" strike="noStrike">
              <a:solidFill>
                <a:srgbClr val="FFFFFF"/>
              </a:solidFill>
              <a:effectLst/>
              <a:uFillTx/>
              <a:latin typeface="Arial"/>
            </a:endParaRPr>
          </a:p>
        </p:txBody>
      </p:sp>
      <p:sp>
        <p:nvSpPr>
          <p:cNvPr id="658" name="Shape 14"/>
          <p:cNvSpPr/>
          <p:nvPr/>
        </p:nvSpPr>
        <p:spPr>
          <a:xfrm>
            <a:off x="8339400" y="1874520"/>
            <a:ext cx="245016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59" name="Shape 15"/>
          <p:cNvSpPr/>
          <p:nvPr/>
        </p:nvSpPr>
        <p:spPr>
          <a:xfrm>
            <a:off x="8339400" y="1874520"/>
            <a:ext cx="54360" cy="123408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60" name="Text 16"/>
          <p:cNvSpPr/>
          <p:nvPr/>
        </p:nvSpPr>
        <p:spPr>
          <a:xfrm>
            <a:off x="8540640" y="2039040"/>
            <a:ext cx="2102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Ollama</a:t>
            </a:r>
            <a:endParaRPr lang="en-US" sz="1300" b="0" u="none" strike="noStrike">
              <a:solidFill>
                <a:srgbClr val="FFFFFF"/>
              </a:solidFill>
              <a:effectLst/>
              <a:uFillTx/>
              <a:latin typeface="Arial"/>
            </a:endParaRPr>
          </a:p>
        </p:txBody>
      </p:sp>
      <p:sp>
        <p:nvSpPr>
          <p:cNvPr id="661" name="Text 17"/>
          <p:cNvSpPr/>
          <p:nvPr/>
        </p:nvSpPr>
        <p:spPr>
          <a:xfrm>
            <a:off x="8540640" y="2377440"/>
            <a:ext cx="2102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Local model runtime</a:t>
            </a:r>
            <a:endParaRPr lang="en-US" sz="1020" b="0" u="none" strike="noStrike">
              <a:solidFill>
                <a:srgbClr val="FFFFFF"/>
              </a:solidFill>
              <a:effectLst/>
              <a:uFillTx/>
              <a:latin typeface="Arial"/>
            </a:endParaRPr>
          </a:p>
        </p:txBody>
      </p:sp>
      <p:sp>
        <p:nvSpPr>
          <p:cNvPr id="662" name="Shape 18"/>
          <p:cNvSpPr/>
          <p:nvPr/>
        </p:nvSpPr>
        <p:spPr>
          <a:xfrm>
            <a:off x="7726680" y="2486880"/>
            <a:ext cx="530280" cy="360"/>
          </a:xfrm>
          <a:prstGeom prst="line">
            <a:avLst/>
          </a:prstGeom>
          <a:ln w="25400">
            <a:solidFill>
              <a:srgbClr val="33D6FF"/>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663" name="Shape 19"/>
          <p:cNvSpPr/>
          <p:nvPr/>
        </p:nvSpPr>
        <p:spPr>
          <a:xfrm>
            <a:off x="5257800" y="3566160"/>
            <a:ext cx="245016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4" name="Shape 20"/>
          <p:cNvSpPr/>
          <p:nvPr/>
        </p:nvSpPr>
        <p:spPr>
          <a:xfrm>
            <a:off x="5257800" y="3566160"/>
            <a:ext cx="54360" cy="123408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5" name="Text 21"/>
          <p:cNvSpPr/>
          <p:nvPr/>
        </p:nvSpPr>
        <p:spPr>
          <a:xfrm>
            <a:off x="5459040" y="3730680"/>
            <a:ext cx="2102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Local models</a:t>
            </a:r>
            <a:endParaRPr lang="en-US" sz="1300" b="0" u="none" strike="noStrike">
              <a:solidFill>
                <a:srgbClr val="FFFFFF"/>
              </a:solidFill>
              <a:effectLst/>
              <a:uFillTx/>
              <a:latin typeface="Arial"/>
            </a:endParaRPr>
          </a:p>
        </p:txBody>
      </p:sp>
      <p:sp>
        <p:nvSpPr>
          <p:cNvPr id="666" name="Text 22"/>
          <p:cNvSpPr/>
          <p:nvPr/>
        </p:nvSpPr>
        <p:spPr>
          <a:xfrm>
            <a:off x="5459040" y="4069080"/>
            <a:ext cx="2102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Qwen / Gemma / Llama / etc.</a:t>
            </a:r>
            <a:endParaRPr lang="en-US" sz="1020" b="0" u="none" strike="noStrike">
              <a:solidFill>
                <a:srgbClr val="FFFFFF"/>
              </a:solidFill>
              <a:effectLst/>
              <a:uFillTx/>
              <a:latin typeface="Arial"/>
            </a:endParaRPr>
          </a:p>
        </p:txBody>
      </p:sp>
      <p:sp>
        <p:nvSpPr>
          <p:cNvPr id="667" name="Shape 23"/>
          <p:cNvSpPr/>
          <p:nvPr/>
        </p:nvSpPr>
        <p:spPr>
          <a:xfrm>
            <a:off x="8339400" y="3566160"/>
            <a:ext cx="245016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8" name="Shape 24"/>
          <p:cNvSpPr/>
          <p:nvPr/>
        </p:nvSpPr>
        <p:spPr>
          <a:xfrm>
            <a:off x="8339400" y="3566160"/>
            <a:ext cx="54360" cy="123408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69" name="Text 25"/>
          <p:cNvSpPr/>
          <p:nvPr/>
        </p:nvSpPr>
        <p:spPr>
          <a:xfrm>
            <a:off x="8540640" y="3730680"/>
            <a:ext cx="21027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300" b="1" u="none" strike="noStrike">
                <a:solidFill>
                  <a:srgbClr val="F5F8FC"/>
                </a:solidFill>
                <a:effectLst/>
                <a:uFillTx/>
                <a:latin typeface="Aptos"/>
              </a:rPr>
              <a:t>Local tools</a:t>
            </a:r>
            <a:endParaRPr lang="en-US" sz="1300" b="0" u="none" strike="noStrike">
              <a:solidFill>
                <a:srgbClr val="FFFFFF"/>
              </a:solidFill>
              <a:effectLst/>
              <a:uFillTx/>
              <a:latin typeface="Arial"/>
            </a:endParaRPr>
          </a:p>
        </p:txBody>
      </p:sp>
      <p:sp>
        <p:nvSpPr>
          <p:cNvPr id="670" name="Text 26"/>
          <p:cNvSpPr/>
          <p:nvPr/>
        </p:nvSpPr>
        <p:spPr>
          <a:xfrm>
            <a:off x="8540640" y="4069080"/>
            <a:ext cx="210276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Files • scripts • DB • optional agents</a:t>
            </a:r>
            <a:endParaRPr lang="en-US" sz="1020" b="0" u="none" strike="noStrike">
              <a:solidFill>
                <a:srgbClr val="FFFFFF"/>
              </a:solidFill>
              <a:effectLst/>
              <a:uFillTx/>
              <a:latin typeface="Arial"/>
            </a:endParaRPr>
          </a:p>
        </p:txBody>
      </p:sp>
      <p:sp>
        <p:nvSpPr>
          <p:cNvPr id="671" name="Shape 27"/>
          <p:cNvSpPr/>
          <p:nvPr/>
        </p:nvSpPr>
        <p:spPr>
          <a:xfrm>
            <a:off x="7726680" y="4187880"/>
            <a:ext cx="530280" cy="360"/>
          </a:xfrm>
          <a:prstGeom prst="line">
            <a:avLst/>
          </a:prstGeom>
          <a:ln w="25400">
            <a:solidFill>
              <a:srgbClr val="A78BF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672" name="Shape 28"/>
          <p:cNvSpPr/>
          <p:nvPr/>
        </p:nvSpPr>
        <p:spPr>
          <a:xfrm>
            <a:off x="5532120" y="5074920"/>
            <a:ext cx="4892040" cy="360"/>
          </a:xfrm>
          <a:prstGeom prst="line">
            <a:avLst/>
          </a:prstGeom>
          <a:ln w="38100">
            <a:solidFill>
              <a:srgbClr val="FF6B6B"/>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673" name="Text 29"/>
          <p:cNvSpPr/>
          <p:nvPr/>
        </p:nvSpPr>
        <p:spPr>
          <a:xfrm>
            <a:off x="6739200" y="5129640"/>
            <a:ext cx="2486880" cy="21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1" u="none" strike="noStrike">
                <a:solidFill>
                  <a:srgbClr val="FF6B6B"/>
                </a:solidFill>
                <a:effectLst/>
                <a:uFillTx/>
                <a:latin typeface="Aptos"/>
              </a:rPr>
              <a:t>NO INTERNET ROUTE</a:t>
            </a:r>
            <a:endParaRPr lang="en-US" sz="1050" b="0" u="none" strike="noStrike">
              <a:solidFill>
                <a:srgbClr val="FFFFFF"/>
              </a:solidFill>
              <a:effectLst/>
              <a:uFillTx/>
              <a:latin typeface="Arial"/>
            </a:endParaRPr>
          </a:p>
        </p:txBody>
      </p:sp>
      <p:sp>
        <p:nvSpPr>
          <p:cNvPr id="674" name="Text 30"/>
          <p:cNvSpPr/>
          <p:nvPr/>
        </p:nvSpPr>
        <p:spPr>
          <a:xfrm>
            <a:off x="804600" y="5650920"/>
            <a:ext cx="105883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60" b="1" u="none" strike="noStrike">
                <a:solidFill>
                  <a:srgbClr val="F5F8FC"/>
                </a:solidFill>
                <a:effectLst/>
                <a:uFillTx/>
                <a:latin typeface="Aptos"/>
              </a:rPr>
              <a:t>Open WebUI’s docs explicitly say full air-gapping requires isolating the instance from the internet; OFFLINE_MODE alone is not the network boundary.</a:t>
            </a:r>
            <a:endParaRPr lang="en-US" sz="1160" b="0" u="none" strike="noStrike">
              <a:solidFill>
                <a:srgbClr val="FFFFFF"/>
              </a:solidFill>
              <a:effectLst/>
              <a:uFillTx/>
              <a:latin typeface="Arial"/>
            </a:endParaRPr>
          </a:p>
        </p:txBody>
      </p:sp>
      <p:sp>
        <p:nvSpPr>
          <p:cNvPr id="675" name="Text 31"/>
          <p:cNvSpPr/>
          <p:nvPr/>
        </p:nvSpPr>
        <p:spPr>
          <a:xfrm>
            <a:off x="521280" y="6199560"/>
            <a:ext cx="110638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50" b="1" u="none" strike="noStrike">
                <a:solidFill>
                  <a:srgbClr val="73809A"/>
                </a:solidFill>
                <a:effectLst/>
                <a:uFillTx/>
                <a:latin typeface="Aptos"/>
              </a:rPr>
              <a:t>Source: </a:t>
            </a:r>
            <a:r>
              <a:rPr lang="en-US" sz="750" b="0" u="sng" strike="noStrike">
                <a:solidFill>
                  <a:srgbClr val="33D6FF"/>
                </a:solidFill>
                <a:effectLst/>
                <a:uFillTx/>
                <a:latin typeface="Aptos"/>
                <a:hlinkClick r:id="rId3"/>
              </a:rPr>
              <a:t>Open WebUI Offline Mode</a:t>
            </a:r>
            <a:endParaRPr lang="en-US" sz="750" b="0" u="none" strike="noStrike">
              <a:solidFill>
                <a:srgbClr val="FFFFFF"/>
              </a:solidFill>
              <a:effectLst/>
              <a:uFillTx/>
              <a:latin typeface="Arial"/>
            </a:endParaRPr>
          </a:p>
        </p:txBody>
      </p:sp>
      <p:sp>
        <p:nvSpPr>
          <p:cNvPr id="676" name="PlaceHolder 1"/>
          <p:cNvSpPr>
            <a:spLocks noGrp="1"/>
          </p:cNvSpPr>
          <p:nvPr>
            <p:ph type="sldNum" idx="23"/>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6AFB8EAD-AB25-443B-974B-D1DDBD5E6EAE}" type="slidenum">
              <a:rPr lang="en-US" sz="750" b="0" u="none" strike="noStrike">
                <a:solidFill>
                  <a:srgbClr val="73809A"/>
                </a:solidFill>
                <a:effectLst/>
                <a:uFillTx/>
                <a:latin typeface="Aptos"/>
                <a:ea typeface="Aptos"/>
              </a:rPr>
              <a:t>19</a:t>
            </a:fld>
            <a:endParaRPr lang="en-US" sz="750" b="0" u="none" strike="noStrike">
              <a:solidFill>
                <a:srgbClr val="FFFFFF"/>
              </a:solidFill>
              <a:effectLst/>
              <a:uFillTx/>
              <a:latin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Agents are different: they can take actions</a:t>
            </a:r>
            <a:endParaRPr lang="en-US" sz="2600" b="0" u="none" strike="noStrike">
              <a:solidFill>
                <a:srgbClr val="FFFFFF"/>
              </a:solidFill>
              <a:effectLst/>
              <a:uFillTx/>
              <a:latin typeface="Arial"/>
            </a:endParaRPr>
          </a:p>
        </p:txBody>
      </p:sp>
      <p:sp>
        <p:nvSpPr>
          <p:cNvPr id="678"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A chatbot proposes. An agent may read files, run commands, browse, edit, message, or call APIs.</a:t>
            </a:r>
            <a:endParaRPr lang="en-US" sz="1150" b="0" u="none" strike="noStrike">
              <a:solidFill>
                <a:srgbClr val="FFFFFF"/>
              </a:solidFill>
              <a:effectLst/>
              <a:uFillTx/>
              <a:latin typeface="Arial"/>
            </a:endParaRPr>
          </a:p>
        </p:txBody>
      </p:sp>
      <p:sp>
        <p:nvSpPr>
          <p:cNvPr id="679" name="Shape 2"/>
          <p:cNvSpPr/>
          <p:nvPr/>
        </p:nvSpPr>
        <p:spPr>
          <a:xfrm>
            <a:off x="4983480" y="2285640"/>
            <a:ext cx="2194200" cy="1572480"/>
          </a:xfrm>
          <a:prstGeom prst="ellipse">
            <a:avLst/>
          </a:prstGeom>
          <a:solidFill>
            <a:srgbClr val="18233A"/>
          </a:solidFill>
          <a:ln w="2032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0" name="Text 3"/>
          <p:cNvSpPr/>
          <p:nvPr/>
        </p:nvSpPr>
        <p:spPr>
          <a:xfrm>
            <a:off x="5193360" y="2380589"/>
            <a:ext cx="1700280" cy="52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a:bodyPr>
          <a:lstStyle/>
          <a:p>
            <a:pPr algn="ctr" defTabSz="914400">
              <a:lnSpc>
                <a:spcPct val="100000"/>
              </a:lnSpc>
              <a:tabLst>
                <a:tab pos="0" algn="l"/>
              </a:tabLst>
            </a:pPr>
            <a:r>
              <a:rPr lang="en-US" sz="1500" b="1" u="none" strike="noStrike" dirty="0">
                <a:solidFill>
                  <a:srgbClr val="F5F8FC"/>
                </a:solidFill>
                <a:effectLst/>
                <a:uFillTx/>
                <a:latin typeface="Aptos"/>
              </a:rPr>
              <a:t>AGENT</a:t>
            </a:r>
            <a:endParaRPr lang="en-US" sz="1500" b="0" u="none" strike="noStrike" dirty="0">
              <a:solidFill>
                <a:srgbClr val="FFFFFF"/>
              </a:solidFill>
              <a:effectLst/>
              <a:uFillTx/>
              <a:latin typeface="Arial"/>
            </a:endParaRPr>
          </a:p>
          <a:p>
            <a:pPr algn="ctr" defTabSz="914400">
              <a:lnSpc>
                <a:spcPct val="100000"/>
              </a:lnSpc>
              <a:tabLst>
                <a:tab pos="0" algn="l"/>
              </a:tabLst>
            </a:pPr>
            <a:r>
              <a:rPr lang="en-US" sz="1500" b="1" u="none" strike="noStrike" dirty="0">
                <a:solidFill>
                  <a:srgbClr val="F5F8FC"/>
                </a:solidFill>
                <a:effectLst/>
                <a:uFillTx/>
                <a:latin typeface="Aptos"/>
              </a:rPr>
              <a:t>Hermes / OpenClaw</a:t>
            </a:r>
            <a:endParaRPr lang="en-US" sz="1500" b="0" u="none" strike="noStrike" dirty="0">
              <a:solidFill>
                <a:srgbClr val="FFFFFF"/>
              </a:solidFill>
              <a:effectLst/>
              <a:uFillTx/>
              <a:latin typeface="Arial"/>
            </a:endParaRPr>
          </a:p>
        </p:txBody>
      </p:sp>
      <p:sp>
        <p:nvSpPr>
          <p:cNvPr id="681" name="Shape 4"/>
          <p:cNvSpPr/>
          <p:nvPr/>
        </p:nvSpPr>
        <p:spPr>
          <a:xfrm>
            <a:off x="960120" y="1298520"/>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2" name="Shape 5"/>
          <p:cNvSpPr/>
          <p:nvPr/>
        </p:nvSpPr>
        <p:spPr>
          <a:xfrm>
            <a:off x="960120" y="1298520"/>
            <a:ext cx="54360" cy="822600"/>
          </a:xfrm>
          <a:prstGeom prst="rect">
            <a:avLst/>
          </a:prstGeom>
          <a:solidFill>
            <a:srgbClr val="FF6B6B"/>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3" name="Text 6"/>
          <p:cNvSpPr/>
          <p:nvPr/>
        </p:nvSpPr>
        <p:spPr>
          <a:xfrm>
            <a:off x="1161360" y="146304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F5F8FC"/>
                </a:solidFill>
                <a:effectLst/>
                <a:uFillTx/>
                <a:latin typeface="Aptos"/>
              </a:rPr>
              <a:t>Terminal</a:t>
            </a:r>
            <a:endParaRPr lang="en-US" sz="1200" b="0" u="none" strike="noStrike">
              <a:solidFill>
                <a:srgbClr val="FFFFFF"/>
              </a:solidFill>
              <a:effectLst/>
              <a:uFillTx/>
              <a:latin typeface="Arial"/>
            </a:endParaRPr>
          </a:p>
        </p:txBody>
      </p:sp>
      <p:sp>
        <p:nvSpPr>
          <p:cNvPr id="684" name="Text 7"/>
          <p:cNvSpPr/>
          <p:nvPr/>
        </p:nvSpPr>
        <p:spPr>
          <a:xfrm>
            <a:off x="1161360" y="180144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685" name="Shape 8"/>
          <p:cNvSpPr/>
          <p:nvPr/>
        </p:nvSpPr>
        <p:spPr>
          <a:xfrm flipH="1" flipV="1">
            <a:off x="2928314" y="2148120"/>
            <a:ext cx="2279642" cy="86040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86" name="Shape 9"/>
          <p:cNvSpPr/>
          <p:nvPr/>
        </p:nvSpPr>
        <p:spPr>
          <a:xfrm>
            <a:off x="3772260" y="1246949"/>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87" name="Shape 10"/>
          <p:cNvSpPr/>
          <p:nvPr/>
        </p:nvSpPr>
        <p:spPr>
          <a:xfrm>
            <a:off x="3838366" y="1266846"/>
            <a:ext cx="45719" cy="791011"/>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000000"/>
              </a:solidFill>
              <a:effectLst/>
              <a:uFillTx/>
              <a:latin typeface="Arial"/>
            </a:endParaRPr>
          </a:p>
        </p:txBody>
      </p:sp>
      <p:sp>
        <p:nvSpPr>
          <p:cNvPr id="688" name="Text 11"/>
          <p:cNvSpPr/>
          <p:nvPr/>
        </p:nvSpPr>
        <p:spPr>
          <a:xfrm>
            <a:off x="4013325" y="133074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dirty="0">
                <a:solidFill>
                  <a:srgbClr val="F5F8FC"/>
                </a:solidFill>
                <a:effectLst/>
                <a:uFillTx/>
                <a:latin typeface="Aptos"/>
              </a:rPr>
              <a:t>Files</a:t>
            </a:r>
            <a:endParaRPr lang="en-US" sz="1200" b="0" u="none" strike="noStrike" dirty="0">
              <a:solidFill>
                <a:srgbClr val="FFFFFF"/>
              </a:solidFill>
              <a:effectLst/>
              <a:uFillTx/>
              <a:latin typeface="Arial"/>
            </a:endParaRPr>
          </a:p>
        </p:txBody>
      </p:sp>
      <p:sp>
        <p:nvSpPr>
          <p:cNvPr id="689" name="Text 12"/>
          <p:cNvSpPr/>
          <p:nvPr/>
        </p:nvSpPr>
        <p:spPr>
          <a:xfrm>
            <a:off x="4041720" y="134424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690" name="Shape 13"/>
          <p:cNvSpPr/>
          <p:nvPr/>
        </p:nvSpPr>
        <p:spPr>
          <a:xfrm flipH="1" flipV="1">
            <a:off x="4827960" y="2121120"/>
            <a:ext cx="739524" cy="45342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91" name="Shape 14"/>
          <p:cNvSpPr/>
          <p:nvPr/>
        </p:nvSpPr>
        <p:spPr>
          <a:xfrm>
            <a:off x="7543800" y="841320"/>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2" name="Shape 15"/>
          <p:cNvSpPr/>
          <p:nvPr/>
        </p:nvSpPr>
        <p:spPr>
          <a:xfrm>
            <a:off x="7543800" y="841320"/>
            <a:ext cx="54360" cy="82260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3" name="Text 16"/>
          <p:cNvSpPr/>
          <p:nvPr/>
        </p:nvSpPr>
        <p:spPr>
          <a:xfrm>
            <a:off x="7745040" y="100584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F5F8FC"/>
                </a:solidFill>
                <a:effectLst/>
                <a:uFillTx/>
                <a:latin typeface="Aptos"/>
              </a:rPr>
              <a:t>Web</a:t>
            </a:r>
            <a:endParaRPr lang="en-US" sz="1200" b="0" u="none" strike="noStrike">
              <a:solidFill>
                <a:srgbClr val="FFFFFF"/>
              </a:solidFill>
              <a:effectLst/>
              <a:uFillTx/>
              <a:latin typeface="Arial"/>
            </a:endParaRPr>
          </a:p>
        </p:txBody>
      </p:sp>
      <p:sp>
        <p:nvSpPr>
          <p:cNvPr id="694" name="Text 17"/>
          <p:cNvSpPr/>
          <p:nvPr/>
        </p:nvSpPr>
        <p:spPr>
          <a:xfrm>
            <a:off x="7745040" y="134424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695" name="Shape 18"/>
          <p:cNvSpPr/>
          <p:nvPr/>
        </p:nvSpPr>
        <p:spPr>
          <a:xfrm flipV="1">
            <a:off x="6547319" y="1390930"/>
            <a:ext cx="890865" cy="111467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696" name="Shape 19"/>
          <p:cNvSpPr/>
          <p:nvPr/>
        </p:nvSpPr>
        <p:spPr>
          <a:xfrm>
            <a:off x="9372600" y="2212920"/>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697" name="Shape 20"/>
          <p:cNvSpPr/>
          <p:nvPr/>
        </p:nvSpPr>
        <p:spPr>
          <a:xfrm>
            <a:off x="9372600" y="2212920"/>
            <a:ext cx="54360" cy="82260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698" name="Text 21"/>
          <p:cNvSpPr/>
          <p:nvPr/>
        </p:nvSpPr>
        <p:spPr>
          <a:xfrm>
            <a:off x="9573840" y="237744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F5F8FC"/>
                </a:solidFill>
                <a:effectLst/>
                <a:uFillTx/>
                <a:latin typeface="Aptos"/>
              </a:rPr>
              <a:t>Email / Chat</a:t>
            </a:r>
            <a:endParaRPr lang="en-US" sz="1200" b="0" u="none" strike="noStrike">
              <a:solidFill>
                <a:srgbClr val="FFFFFF"/>
              </a:solidFill>
              <a:effectLst/>
              <a:uFillTx/>
              <a:latin typeface="Arial"/>
            </a:endParaRPr>
          </a:p>
        </p:txBody>
      </p:sp>
      <p:sp>
        <p:nvSpPr>
          <p:cNvPr id="699" name="Text 22"/>
          <p:cNvSpPr/>
          <p:nvPr/>
        </p:nvSpPr>
        <p:spPr>
          <a:xfrm>
            <a:off x="9573840" y="271584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700" name="Shape 23"/>
          <p:cNvSpPr/>
          <p:nvPr/>
        </p:nvSpPr>
        <p:spPr>
          <a:xfrm flipV="1">
            <a:off x="6984044" y="2652120"/>
            <a:ext cx="2279641" cy="4107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01" name="Shape 24"/>
          <p:cNvSpPr/>
          <p:nvPr/>
        </p:nvSpPr>
        <p:spPr>
          <a:xfrm>
            <a:off x="8549640" y="4617720"/>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2" name="Shape 25"/>
          <p:cNvSpPr/>
          <p:nvPr/>
        </p:nvSpPr>
        <p:spPr>
          <a:xfrm>
            <a:off x="8549640" y="4617720"/>
            <a:ext cx="54360" cy="82260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3" name="Text 26"/>
          <p:cNvSpPr/>
          <p:nvPr/>
        </p:nvSpPr>
        <p:spPr>
          <a:xfrm>
            <a:off x="8750880" y="478224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F5F8FC"/>
                </a:solidFill>
                <a:effectLst/>
                <a:uFillTx/>
                <a:latin typeface="Aptos"/>
              </a:rPr>
              <a:t>APIs / MCP</a:t>
            </a:r>
            <a:endParaRPr lang="en-US" sz="1200" b="0" u="none" strike="noStrike">
              <a:solidFill>
                <a:srgbClr val="FFFFFF"/>
              </a:solidFill>
              <a:effectLst/>
              <a:uFillTx/>
              <a:latin typeface="Arial"/>
            </a:endParaRPr>
          </a:p>
        </p:txBody>
      </p:sp>
      <p:sp>
        <p:nvSpPr>
          <p:cNvPr id="704" name="Text 27"/>
          <p:cNvSpPr/>
          <p:nvPr/>
        </p:nvSpPr>
        <p:spPr>
          <a:xfrm>
            <a:off x="8750880" y="512064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705" name="Shape 28"/>
          <p:cNvSpPr/>
          <p:nvPr/>
        </p:nvSpPr>
        <p:spPr>
          <a:xfrm>
            <a:off x="6547318" y="3584520"/>
            <a:ext cx="1919881" cy="133452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06" name="Shape 29"/>
          <p:cNvSpPr/>
          <p:nvPr/>
        </p:nvSpPr>
        <p:spPr>
          <a:xfrm>
            <a:off x="4343400" y="4846320"/>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07" name="Shape 30"/>
          <p:cNvSpPr/>
          <p:nvPr/>
        </p:nvSpPr>
        <p:spPr>
          <a:xfrm>
            <a:off x="4343400" y="4846320"/>
            <a:ext cx="54360" cy="82260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08" name="Text 31"/>
          <p:cNvSpPr/>
          <p:nvPr/>
        </p:nvSpPr>
        <p:spPr>
          <a:xfrm>
            <a:off x="4544640" y="501084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F5F8FC"/>
                </a:solidFill>
                <a:effectLst/>
                <a:uFillTx/>
                <a:latin typeface="Aptos"/>
              </a:rPr>
              <a:t>Memory</a:t>
            </a:r>
            <a:endParaRPr lang="en-US" sz="1200" b="0" u="none" strike="noStrike">
              <a:solidFill>
                <a:srgbClr val="FFFFFF"/>
              </a:solidFill>
              <a:effectLst/>
              <a:uFillTx/>
              <a:latin typeface="Arial"/>
            </a:endParaRPr>
          </a:p>
        </p:txBody>
      </p:sp>
      <p:sp>
        <p:nvSpPr>
          <p:cNvPr id="709" name="Text 32"/>
          <p:cNvSpPr/>
          <p:nvPr/>
        </p:nvSpPr>
        <p:spPr>
          <a:xfrm>
            <a:off x="4544640" y="534924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710" name="Shape 33"/>
          <p:cNvSpPr/>
          <p:nvPr/>
        </p:nvSpPr>
        <p:spPr>
          <a:xfrm flipH="1">
            <a:off x="5055531" y="3538440"/>
            <a:ext cx="764724" cy="129924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11" name="Shape 34"/>
          <p:cNvSpPr/>
          <p:nvPr/>
        </p:nvSpPr>
        <p:spPr>
          <a:xfrm>
            <a:off x="1051560" y="4251960"/>
            <a:ext cx="1919880" cy="822600"/>
          </a:xfrm>
          <a:prstGeom prst="roundRect">
            <a:avLst>
              <a:gd name="adj" fmla="val 8889"/>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2" name="Shape 35"/>
          <p:cNvSpPr/>
          <p:nvPr/>
        </p:nvSpPr>
        <p:spPr>
          <a:xfrm>
            <a:off x="1051560" y="4251960"/>
            <a:ext cx="54360" cy="82260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13" name="Text 36"/>
          <p:cNvSpPr/>
          <p:nvPr/>
        </p:nvSpPr>
        <p:spPr>
          <a:xfrm>
            <a:off x="1252800" y="4416480"/>
            <a:ext cx="1572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200" b="1" u="none" strike="noStrike">
                <a:solidFill>
                  <a:srgbClr val="F5F8FC"/>
                </a:solidFill>
                <a:effectLst/>
                <a:uFillTx/>
                <a:latin typeface="Aptos"/>
              </a:rPr>
              <a:t>Local model</a:t>
            </a:r>
            <a:endParaRPr lang="en-US" sz="1200" b="0" u="none" strike="noStrike">
              <a:solidFill>
                <a:srgbClr val="FFFFFF"/>
              </a:solidFill>
              <a:effectLst/>
              <a:uFillTx/>
              <a:latin typeface="Arial"/>
            </a:endParaRPr>
          </a:p>
        </p:txBody>
      </p:sp>
      <p:sp>
        <p:nvSpPr>
          <p:cNvPr id="714" name="Text 37"/>
          <p:cNvSpPr/>
          <p:nvPr/>
        </p:nvSpPr>
        <p:spPr>
          <a:xfrm>
            <a:off x="1252800" y="4754880"/>
            <a:ext cx="1572480" cy="16416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endParaRPr lang="en-US" sz="800" b="0" u="none" strike="noStrike">
              <a:solidFill>
                <a:schemeClr val="dk1"/>
              </a:solidFill>
              <a:effectLst/>
              <a:uFillTx/>
              <a:latin typeface="Aptos"/>
            </a:endParaRPr>
          </a:p>
        </p:txBody>
      </p:sp>
      <p:sp>
        <p:nvSpPr>
          <p:cNvPr id="715" name="Shape 38"/>
          <p:cNvSpPr/>
          <p:nvPr/>
        </p:nvSpPr>
        <p:spPr>
          <a:xfrm flipH="1">
            <a:off x="3049064" y="3383640"/>
            <a:ext cx="2518420" cy="84960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716" name="Shape 39"/>
          <p:cNvSpPr/>
          <p:nvPr/>
        </p:nvSpPr>
        <p:spPr>
          <a:xfrm>
            <a:off x="822960" y="5623560"/>
            <a:ext cx="10625040" cy="429480"/>
          </a:xfrm>
          <a:prstGeom prst="roundRect">
            <a:avLst>
              <a:gd name="adj" fmla="val 8511"/>
            </a:avLst>
          </a:prstGeom>
          <a:solidFill>
            <a:srgbClr val="271B1D"/>
          </a:solidFill>
          <a:ln w="1270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17" name="Text 40"/>
          <p:cNvSpPr/>
          <p:nvPr/>
        </p:nvSpPr>
        <p:spPr>
          <a:xfrm>
            <a:off x="969120" y="5751720"/>
            <a:ext cx="103323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60" b="1" u="none" strike="noStrike">
                <a:solidFill>
                  <a:srgbClr val="FF6B6B"/>
                </a:solidFill>
                <a:effectLst/>
                <a:uFillTx/>
                <a:latin typeface="Aptos"/>
              </a:rPr>
              <a:t>Main risks: excessive permissions • destructive commands • secret exposure • prompt injection from untrusted webpages/files/messages • remote-provider data flow</a:t>
            </a:r>
            <a:endParaRPr lang="en-US" sz="960" b="0" u="none" strike="noStrike">
              <a:solidFill>
                <a:srgbClr val="FFFFFF"/>
              </a:solidFill>
              <a:effectLst/>
              <a:uFillTx/>
              <a:latin typeface="Arial"/>
            </a:endParaRPr>
          </a:p>
        </p:txBody>
      </p:sp>
      <p:sp>
        <p:nvSpPr>
          <p:cNvPr id="718" name="Text 41">
            <a:hlinkClick r:id="rId3"/>
          </p:cNvPr>
          <p:cNvSpPr/>
          <p:nvPr/>
        </p:nvSpPr>
        <p:spPr>
          <a:xfrm>
            <a:off x="521280" y="6190560"/>
            <a:ext cx="1810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Hermes Agent docs</a:t>
            </a:r>
            <a:endParaRPr lang="en-US" sz="720" b="0" u="none" strike="noStrike">
              <a:solidFill>
                <a:srgbClr val="FFFFFF"/>
              </a:solidFill>
              <a:effectLst/>
              <a:uFillTx/>
              <a:latin typeface="Arial"/>
            </a:endParaRPr>
          </a:p>
        </p:txBody>
      </p:sp>
      <p:sp>
        <p:nvSpPr>
          <p:cNvPr id="719" name="Text 42">
            <a:hlinkClick r:id="rId4"/>
          </p:cNvPr>
          <p:cNvSpPr/>
          <p:nvPr/>
        </p:nvSpPr>
        <p:spPr>
          <a:xfrm>
            <a:off x="2331720" y="6190560"/>
            <a:ext cx="26650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OpenClaw docs / prompt-injection warning</a:t>
            </a:r>
            <a:endParaRPr lang="en-US" sz="720" b="0" u="none" strike="noStrike">
              <a:solidFill>
                <a:srgbClr val="FFFFFF"/>
              </a:solidFill>
              <a:effectLst/>
              <a:uFillTx/>
              <a:latin typeface="Arial"/>
            </a:endParaRPr>
          </a:p>
        </p:txBody>
      </p:sp>
      <p:sp>
        <p:nvSpPr>
          <p:cNvPr id="720" name="PlaceHolder 1"/>
          <p:cNvSpPr>
            <a:spLocks noGrp="1"/>
          </p:cNvSpPr>
          <p:nvPr>
            <p:ph type="sldNum" idx="24"/>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72CACB65-7AB1-44E7-8A16-878F68234D5C}" type="slidenum">
              <a:rPr lang="en-US" sz="750" b="0" u="none" strike="noStrike">
                <a:solidFill>
                  <a:srgbClr val="73809A"/>
                </a:solidFill>
                <a:effectLst/>
                <a:uFillTx/>
                <a:latin typeface="Aptos"/>
                <a:ea typeface="Aptos"/>
              </a:rPr>
              <a:t>20</a:t>
            </a:fld>
            <a:endParaRPr lang="en-US" sz="750" b="0" u="none" strike="noStrike">
              <a:solidFill>
                <a:srgbClr val="FFFFFF"/>
              </a:solidFill>
              <a:effectLst/>
              <a:uFillTx/>
              <a:latin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1"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What is safe to paste into AI? Use a data-classification rule</a:t>
            </a:r>
            <a:endParaRPr lang="en-US" sz="2600" b="0" u="none" strike="noStrike">
              <a:solidFill>
                <a:srgbClr val="FFFFFF"/>
              </a:solidFill>
              <a:effectLst/>
              <a:uFillTx/>
              <a:latin typeface="Arial"/>
            </a:endParaRPr>
          </a:p>
        </p:txBody>
      </p:sp>
      <p:sp>
        <p:nvSpPr>
          <p:cNvPr id="722"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Do not decide based on “AI good / AI bad.” Decide based on sensitivity + provider + configuration + tools.</a:t>
            </a:r>
            <a:endParaRPr lang="en-US" sz="1150" b="0" u="none" strike="noStrike">
              <a:solidFill>
                <a:srgbClr val="FFFFFF"/>
              </a:solidFill>
              <a:effectLst/>
              <a:uFillTx/>
              <a:latin typeface="Arial"/>
            </a:endParaRPr>
          </a:p>
        </p:txBody>
      </p:sp>
      <p:sp>
        <p:nvSpPr>
          <p:cNvPr id="723" name="Shape 2"/>
          <p:cNvSpPr/>
          <p:nvPr/>
        </p:nvSpPr>
        <p:spPr>
          <a:xfrm>
            <a:off x="621720" y="1353240"/>
            <a:ext cx="1737000" cy="43848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4" name="Text 3"/>
          <p:cNvSpPr/>
          <p:nvPr/>
        </p:nvSpPr>
        <p:spPr>
          <a:xfrm>
            <a:off x="676800" y="1490400"/>
            <a:ext cx="16272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u="none" strike="noStrike">
                <a:solidFill>
                  <a:srgbClr val="33D6FF"/>
                </a:solidFill>
                <a:effectLst/>
                <a:uFillTx/>
                <a:latin typeface="Aptos"/>
              </a:rPr>
              <a:t>Class</a:t>
            </a:r>
            <a:endParaRPr lang="en-US" sz="900" b="0" u="none" strike="noStrike">
              <a:solidFill>
                <a:srgbClr val="FFFFFF"/>
              </a:solidFill>
              <a:effectLst/>
              <a:uFillTx/>
              <a:latin typeface="Arial"/>
            </a:endParaRPr>
          </a:p>
        </p:txBody>
      </p:sp>
      <p:sp>
        <p:nvSpPr>
          <p:cNvPr id="725" name="Shape 4"/>
          <p:cNvSpPr/>
          <p:nvPr/>
        </p:nvSpPr>
        <p:spPr>
          <a:xfrm>
            <a:off x="2468880" y="1353240"/>
            <a:ext cx="3492720" cy="43848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6" name="Text 5"/>
          <p:cNvSpPr/>
          <p:nvPr/>
        </p:nvSpPr>
        <p:spPr>
          <a:xfrm>
            <a:off x="2523600" y="1490400"/>
            <a:ext cx="33829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33D6FF"/>
                </a:solidFill>
                <a:effectLst/>
                <a:uFillTx/>
                <a:latin typeface="Aptos"/>
              </a:rPr>
              <a:t>Examples</a:t>
            </a:r>
            <a:endParaRPr lang="en-US" sz="900" b="0" u="none" strike="noStrike">
              <a:solidFill>
                <a:srgbClr val="FFFFFF"/>
              </a:solidFill>
              <a:effectLst/>
              <a:uFillTx/>
              <a:latin typeface="Arial"/>
            </a:endParaRPr>
          </a:p>
        </p:txBody>
      </p:sp>
      <p:sp>
        <p:nvSpPr>
          <p:cNvPr id="727" name="Shape 6"/>
          <p:cNvSpPr/>
          <p:nvPr/>
        </p:nvSpPr>
        <p:spPr>
          <a:xfrm>
            <a:off x="6071760" y="1353240"/>
            <a:ext cx="2239920" cy="43848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28" name="Text 7"/>
          <p:cNvSpPr/>
          <p:nvPr/>
        </p:nvSpPr>
        <p:spPr>
          <a:xfrm>
            <a:off x="6126480" y="1490400"/>
            <a:ext cx="21301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33D6FF"/>
                </a:solidFill>
                <a:effectLst/>
                <a:uFillTx/>
                <a:latin typeface="Aptos"/>
              </a:rPr>
              <a:t>Where to use</a:t>
            </a:r>
            <a:endParaRPr lang="en-US" sz="900" b="0" u="none" strike="noStrike">
              <a:solidFill>
                <a:srgbClr val="FFFFFF"/>
              </a:solidFill>
              <a:effectLst/>
              <a:uFillTx/>
              <a:latin typeface="Arial"/>
            </a:endParaRPr>
          </a:p>
        </p:txBody>
      </p:sp>
      <p:sp>
        <p:nvSpPr>
          <p:cNvPr id="729" name="Shape 8"/>
          <p:cNvSpPr/>
          <p:nvPr/>
        </p:nvSpPr>
        <p:spPr>
          <a:xfrm>
            <a:off x="8421480" y="1353240"/>
            <a:ext cx="3126960" cy="438480"/>
          </a:xfrm>
          <a:prstGeom prst="rect">
            <a:avLst/>
          </a:prstGeom>
          <a:solidFill>
            <a:srgbClr val="18233A"/>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0" name="Text 9"/>
          <p:cNvSpPr/>
          <p:nvPr/>
        </p:nvSpPr>
        <p:spPr>
          <a:xfrm>
            <a:off x="8476560" y="1490400"/>
            <a:ext cx="301716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u="none" strike="noStrike">
                <a:solidFill>
                  <a:srgbClr val="33D6FF"/>
                </a:solidFill>
                <a:effectLst/>
                <a:uFillTx/>
                <a:latin typeface="Aptos"/>
              </a:rPr>
              <a:t>Rule</a:t>
            </a:r>
            <a:endParaRPr lang="en-US" sz="900" b="0" u="none" strike="noStrike">
              <a:solidFill>
                <a:srgbClr val="FFFFFF"/>
              </a:solidFill>
              <a:effectLst/>
              <a:uFillTx/>
              <a:latin typeface="Arial"/>
            </a:endParaRPr>
          </a:p>
        </p:txBody>
      </p:sp>
      <p:sp>
        <p:nvSpPr>
          <p:cNvPr id="731" name="Shape 10"/>
          <p:cNvSpPr/>
          <p:nvPr/>
        </p:nvSpPr>
        <p:spPr>
          <a:xfrm>
            <a:off x="621720" y="1792080"/>
            <a:ext cx="173700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2" name="Text 11"/>
          <p:cNvSpPr/>
          <p:nvPr/>
        </p:nvSpPr>
        <p:spPr>
          <a:xfrm>
            <a:off x="685800" y="1920240"/>
            <a:ext cx="16088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40" b="1" u="none" strike="noStrike">
                <a:solidFill>
                  <a:srgbClr val="40E0A1"/>
                </a:solidFill>
                <a:effectLst/>
                <a:uFillTx/>
                <a:latin typeface="Aptos"/>
              </a:rPr>
              <a:t>PUBLIC</a:t>
            </a:r>
            <a:endParaRPr lang="en-US" sz="1040" b="0" u="none" strike="noStrike">
              <a:solidFill>
                <a:srgbClr val="FFFFFF"/>
              </a:solidFill>
              <a:effectLst/>
              <a:uFillTx/>
              <a:latin typeface="Arial"/>
            </a:endParaRPr>
          </a:p>
        </p:txBody>
      </p:sp>
      <p:sp>
        <p:nvSpPr>
          <p:cNvPr id="733" name="Shape 12"/>
          <p:cNvSpPr/>
          <p:nvPr/>
        </p:nvSpPr>
        <p:spPr>
          <a:xfrm>
            <a:off x="2468880" y="1792080"/>
            <a:ext cx="349272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4" name="Text 13"/>
          <p:cNvSpPr/>
          <p:nvPr/>
        </p:nvSpPr>
        <p:spPr>
          <a:xfrm>
            <a:off x="2532960" y="1920240"/>
            <a:ext cx="33645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Published manuals, public code, public product specs</a:t>
            </a:r>
            <a:endParaRPr lang="en-US" sz="950" b="0" u="none" strike="noStrike">
              <a:solidFill>
                <a:srgbClr val="FFFFFF"/>
              </a:solidFill>
              <a:effectLst/>
              <a:uFillTx/>
              <a:latin typeface="Arial"/>
            </a:endParaRPr>
          </a:p>
        </p:txBody>
      </p:sp>
      <p:sp>
        <p:nvSpPr>
          <p:cNvPr id="735" name="Shape 14"/>
          <p:cNvSpPr/>
          <p:nvPr/>
        </p:nvSpPr>
        <p:spPr>
          <a:xfrm>
            <a:off x="6071760" y="1792080"/>
            <a:ext cx="223992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6" name="Text 15"/>
          <p:cNvSpPr/>
          <p:nvPr/>
        </p:nvSpPr>
        <p:spPr>
          <a:xfrm>
            <a:off x="6135480" y="1920240"/>
            <a:ext cx="21117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Cloud or local</a:t>
            </a:r>
            <a:endParaRPr lang="en-US" sz="950" b="0" u="none" strike="noStrike">
              <a:solidFill>
                <a:srgbClr val="FFFFFF"/>
              </a:solidFill>
              <a:effectLst/>
              <a:uFillTx/>
              <a:latin typeface="Arial"/>
            </a:endParaRPr>
          </a:p>
        </p:txBody>
      </p:sp>
      <p:sp>
        <p:nvSpPr>
          <p:cNvPr id="737" name="Shape 16"/>
          <p:cNvSpPr/>
          <p:nvPr/>
        </p:nvSpPr>
        <p:spPr>
          <a:xfrm>
            <a:off x="8421480" y="1792080"/>
            <a:ext cx="312696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38" name="Text 17"/>
          <p:cNvSpPr/>
          <p:nvPr/>
        </p:nvSpPr>
        <p:spPr>
          <a:xfrm>
            <a:off x="8485560" y="1920240"/>
            <a:ext cx="299880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F5F8FC"/>
                </a:solidFill>
                <a:effectLst/>
                <a:uFillTx/>
                <a:latin typeface="Aptos"/>
              </a:rPr>
              <a:t>Still verify accuracy</a:t>
            </a:r>
            <a:endParaRPr lang="en-US" sz="950" b="0" u="none" strike="noStrike">
              <a:solidFill>
                <a:srgbClr val="FFFFFF"/>
              </a:solidFill>
              <a:effectLst/>
              <a:uFillTx/>
              <a:latin typeface="Arial"/>
            </a:endParaRPr>
          </a:p>
        </p:txBody>
      </p:sp>
      <p:sp>
        <p:nvSpPr>
          <p:cNvPr id="739" name="Shape 18"/>
          <p:cNvSpPr/>
          <p:nvPr/>
        </p:nvSpPr>
        <p:spPr>
          <a:xfrm>
            <a:off x="621720" y="2706480"/>
            <a:ext cx="173700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0" name="Text 19"/>
          <p:cNvSpPr/>
          <p:nvPr/>
        </p:nvSpPr>
        <p:spPr>
          <a:xfrm>
            <a:off x="685800" y="2834640"/>
            <a:ext cx="16088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40" b="1" u="none" strike="noStrike">
                <a:solidFill>
                  <a:srgbClr val="33D6FF"/>
                </a:solidFill>
                <a:effectLst/>
                <a:uFillTx/>
                <a:latin typeface="Aptos"/>
              </a:rPr>
              <a:t>INTERNAL</a:t>
            </a:r>
            <a:endParaRPr lang="en-US" sz="1040" b="0" u="none" strike="noStrike">
              <a:solidFill>
                <a:srgbClr val="FFFFFF"/>
              </a:solidFill>
              <a:effectLst/>
              <a:uFillTx/>
              <a:latin typeface="Arial"/>
            </a:endParaRPr>
          </a:p>
        </p:txBody>
      </p:sp>
      <p:sp>
        <p:nvSpPr>
          <p:cNvPr id="741" name="Shape 20"/>
          <p:cNvSpPr/>
          <p:nvPr/>
        </p:nvSpPr>
        <p:spPr>
          <a:xfrm>
            <a:off x="2468880" y="2706480"/>
            <a:ext cx="349272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2" name="Text 21"/>
          <p:cNvSpPr/>
          <p:nvPr/>
        </p:nvSpPr>
        <p:spPr>
          <a:xfrm>
            <a:off x="2532960" y="2834640"/>
            <a:ext cx="33645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Non-public project notes, draft designs, ordinary logs</a:t>
            </a:r>
            <a:endParaRPr lang="en-US" sz="950" b="0" u="none" strike="noStrike">
              <a:solidFill>
                <a:srgbClr val="FFFFFF"/>
              </a:solidFill>
              <a:effectLst/>
              <a:uFillTx/>
              <a:latin typeface="Arial"/>
            </a:endParaRPr>
          </a:p>
        </p:txBody>
      </p:sp>
      <p:sp>
        <p:nvSpPr>
          <p:cNvPr id="743" name="Shape 22"/>
          <p:cNvSpPr/>
          <p:nvPr/>
        </p:nvSpPr>
        <p:spPr>
          <a:xfrm>
            <a:off x="6071760" y="2706480"/>
            <a:ext cx="223992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4" name="Text 23"/>
          <p:cNvSpPr/>
          <p:nvPr/>
        </p:nvSpPr>
        <p:spPr>
          <a:xfrm>
            <a:off x="6135480" y="2834640"/>
            <a:ext cx="21117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Approved business service or controlled local</a:t>
            </a:r>
            <a:endParaRPr lang="en-US" sz="950" b="0" u="none" strike="noStrike">
              <a:solidFill>
                <a:srgbClr val="FFFFFF"/>
              </a:solidFill>
              <a:effectLst/>
              <a:uFillTx/>
              <a:latin typeface="Arial"/>
            </a:endParaRPr>
          </a:p>
        </p:txBody>
      </p:sp>
      <p:sp>
        <p:nvSpPr>
          <p:cNvPr id="745" name="Shape 24"/>
          <p:cNvSpPr/>
          <p:nvPr/>
        </p:nvSpPr>
        <p:spPr>
          <a:xfrm>
            <a:off x="8421480" y="2706480"/>
            <a:ext cx="312696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6" name="Text 25"/>
          <p:cNvSpPr/>
          <p:nvPr/>
        </p:nvSpPr>
        <p:spPr>
          <a:xfrm>
            <a:off x="8485560" y="2834640"/>
            <a:ext cx="299880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F5F8FC"/>
                </a:solidFill>
                <a:effectLst/>
                <a:uFillTx/>
                <a:latin typeface="Aptos"/>
              </a:rPr>
              <a:t>Check organization policy and retention settings</a:t>
            </a:r>
            <a:endParaRPr lang="en-US" sz="950" b="0" u="none" strike="noStrike">
              <a:solidFill>
                <a:srgbClr val="FFFFFF"/>
              </a:solidFill>
              <a:effectLst/>
              <a:uFillTx/>
              <a:latin typeface="Arial"/>
            </a:endParaRPr>
          </a:p>
        </p:txBody>
      </p:sp>
      <p:sp>
        <p:nvSpPr>
          <p:cNvPr id="747" name="Shape 26"/>
          <p:cNvSpPr/>
          <p:nvPr/>
        </p:nvSpPr>
        <p:spPr>
          <a:xfrm>
            <a:off x="621720" y="3620880"/>
            <a:ext cx="173700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48" name="Text 27"/>
          <p:cNvSpPr/>
          <p:nvPr/>
        </p:nvSpPr>
        <p:spPr>
          <a:xfrm>
            <a:off x="685800" y="3749040"/>
            <a:ext cx="16088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40" b="1" u="none" strike="noStrike">
                <a:solidFill>
                  <a:srgbClr val="FFC857"/>
                </a:solidFill>
                <a:effectLst/>
                <a:uFillTx/>
                <a:latin typeface="Aptos"/>
              </a:rPr>
              <a:t>CONFIDENTIAL</a:t>
            </a:r>
            <a:endParaRPr lang="en-US" sz="1040" b="0" u="none" strike="noStrike">
              <a:solidFill>
                <a:srgbClr val="FFFFFF"/>
              </a:solidFill>
              <a:effectLst/>
              <a:uFillTx/>
              <a:latin typeface="Arial"/>
            </a:endParaRPr>
          </a:p>
        </p:txBody>
      </p:sp>
      <p:sp>
        <p:nvSpPr>
          <p:cNvPr id="749" name="Shape 28"/>
          <p:cNvSpPr/>
          <p:nvPr/>
        </p:nvSpPr>
        <p:spPr>
          <a:xfrm>
            <a:off x="2468880" y="3620880"/>
            <a:ext cx="349272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0" name="Text 29"/>
          <p:cNvSpPr/>
          <p:nvPr/>
        </p:nvSpPr>
        <p:spPr>
          <a:xfrm>
            <a:off x="2532960" y="3749040"/>
            <a:ext cx="33645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Client data, proprietary source, private documents</a:t>
            </a:r>
            <a:endParaRPr lang="en-US" sz="950" b="0" u="none" strike="noStrike">
              <a:solidFill>
                <a:srgbClr val="FFFFFF"/>
              </a:solidFill>
              <a:effectLst/>
              <a:uFillTx/>
              <a:latin typeface="Arial"/>
            </a:endParaRPr>
          </a:p>
        </p:txBody>
      </p:sp>
      <p:sp>
        <p:nvSpPr>
          <p:cNvPr id="751" name="Shape 30"/>
          <p:cNvSpPr/>
          <p:nvPr/>
        </p:nvSpPr>
        <p:spPr>
          <a:xfrm>
            <a:off x="6071760" y="3620880"/>
            <a:ext cx="223992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2" name="Text 31"/>
          <p:cNvSpPr/>
          <p:nvPr/>
        </p:nvSpPr>
        <p:spPr>
          <a:xfrm>
            <a:off x="6135480" y="3749040"/>
            <a:ext cx="21117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dirty="0">
                <a:solidFill>
                  <a:srgbClr val="AAB5C8"/>
                </a:solidFill>
                <a:effectLst/>
                <a:uFillTx/>
                <a:latin typeface="Aptos"/>
              </a:rPr>
              <a:t>Only explicitly approved environment</a:t>
            </a:r>
            <a:endParaRPr lang="en-US" sz="950" b="0" u="none" strike="noStrike" dirty="0">
              <a:solidFill>
                <a:srgbClr val="FFFFFF"/>
              </a:solidFill>
              <a:effectLst/>
              <a:uFillTx/>
              <a:latin typeface="Arial"/>
            </a:endParaRPr>
          </a:p>
        </p:txBody>
      </p:sp>
      <p:sp>
        <p:nvSpPr>
          <p:cNvPr id="753" name="Shape 32"/>
          <p:cNvSpPr/>
          <p:nvPr/>
        </p:nvSpPr>
        <p:spPr>
          <a:xfrm>
            <a:off x="8421480" y="3620880"/>
            <a:ext cx="3126960" cy="840960"/>
          </a:xfrm>
          <a:prstGeom prst="rect">
            <a:avLst/>
          </a:prstGeom>
          <a:solidFill>
            <a:srgbClr val="0D1626"/>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4" name="Text 33"/>
          <p:cNvSpPr/>
          <p:nvPr/>
        </p:nvSpPr>
        <p:spPr>
          <a:xfrm>
            <a:off x="8485560" y="3749040"/>
            <a:ext cx="299880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F5F8FC"/>
                </a:solidFill>
                <a:effectLst/>
                <a:uFillTx/>
                <a:latin typeface="Aptos"/>
              </a:rPr>
              <a:t>Minimize, redact, access-control, log</a:t>
            </a:r>
            <a:endParaRPr lang="en-US" sz="950" b="0" u="none" strike="noStrike">
              <a:solidFill>
                <a:srgbClr val="FFFFFF"/>
              </a:solidFill>
              <a:effectLst/>
              <a:uFillTx/>
              <a:latin typeface="Arial"/>
            </a:endParaRPr>
          </a:p>
        </p:txBody>
      </p:sp>
      <p:sp>
        <p:nvSpPr>
          <p:cNvPr id="755" name="Shape 34"/>
          <p:cNvSpPr/>
          <p:nvPr/>
        </p:nvSpPr>
        <p:spPr>
          <a:xfrm>
            <a:off x="621720" y="4535280"/>
            <a:ext cx="173700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6" name="Text 35"/>
          <p:cNvSpPr/>
          <p:nvPr/>
        </p:nvSpPr>
        <p:spPr>
          <a:xfrm>
            <a:off x="685800" y="4663440"/>
            <a:ext cx="160884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040" b="1" u="none" strike="noStrike">
                <a:solidFill>
                  <a:srgbClr val="FF6B6B"/>
                </a:solidFill>
                <a:effectLst/>
                <a:uFillTx/>
                <a:latin typeface="Aptos"/>
              </a:rPr>
              <a:t>SECRET / REGULATED</a:t>
            </a:r>
            <a:endParaRPr lang="en-US" sz="1040" b="0" u="none" strike="noStrike">
              <a:solidFill>
                <a:srgbClr val="FFFFFF"/>
              </a:solidFill>
              <a:effectLst/>
              <a:uFillTx/>
              <a:latin typeface="Arial"/>
            </a:endParaRPr>
          </a:p>
        </p:txBody>
      </p:sp>
      <p:sp>
        <p:nvSpPr>
          <p:cNvPr id="757" name="Shape 36"/>
          <p:cNvSpPr/>
          <p:nvPr/>
        </p:nvSpPr>
        <p:spPr>
          <a:xfrm>
            <a:off x="2468880" y="4535280"/>
            <a:ext cx="349272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58" name="Text 37"/>
          <p:cNvSpPr/>
          <p:nvPr/>
        </p:nvSpPr>
        <p:spPr>
          <a:xfrm>
            <a:off x="2532960" y="4663440"/>
            <a:ext cx="33645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Passwords, API keys, private keys, sensitive personal/regulated data</a:t>
            </a:r>
            <a:endParaRPr lang="en-US" sz="950" b="0" u="none" strike="noStrike">
              <a:solidFill>
                <a:srgbClr val="FFFFFF"/>
              </a:solidFill>
              <a:effectLst/>
              <a:uFillTx/>
              <a:latin typeface="Arial"/>
            </a:endParaRPr>
          </a:p>
        </p:txBody>
      </p:sp>
      <p:sp>
        <p:nvSpPr>
          <p:cNvPr id="759" name="Shape 38"/>
          <p:cNvSpPr/>
          <p:nvPr/>
        </p:nvSpPr>
        <p:spPr>
          <a:xfrm>
            <a:off x="6071760" y="4535280"/>
            <a:ext cx="223992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0" name="Text 39"/>
          <p:cNvSpPr/>
          <p:nvPr/>
        </p:nvSpPr>
        <p:spPr>
          <a:xfrm>
            <a:off x="6135480" y="4663440"/>
            <a:ext cx="211176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AAB5C8"/>
                </a:solidFill>
                <a:effectLst/>
                <a:uFillTx/>
                <a:latin typeface="Aptos"/>
              </a:rPr>
              <a:t>Do not paste casually; use dedicated approved controls</a:t>
            </a:r>
            <a:endParaRPr lang="en-US" sz="950" b="0" u="none" strike="noStrike">
              <a:solidFill>
                <a:srgbClr val="FFFFFF"/>
              </a:solidFill>
              <a:effectLst/>
              <a:uFillTx/>
              <a:latin typeface="Arial"/>
            </a:endParaRPr>
          </a:p>
        </p:txBody>
      </p:sp>
      <p:sp>
        <p:nvSpPr>
          <p:cNvPr id="761" name="Shape 40"/>
          <p:cNvSpPr/>
          <p:nvPr/>
        </p:nvSpPr>
        <p:spPr>
          <a:xfrm>
            <a:off x="8421480" y="4535280"/>
            <a:ext cx="3126960" cy="840960"/>
          </a:xfrm>
          <a:prstGeom prst="rect">
            <a:avLst/>
          </a:prstGeom>
          <a:solidFill>
            <a:srgbClr val="10192A"/>
          </a:solidFill>
          <a:ln w="635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2" name="Text 41"/>
          <p:cNvSpPr/>
          <p:nvPr/>
        </p:nvSpPr>
        <p:spPr>
          <a:xfrm>
            <a:off x="8485560" y="4663440"/>
            <a:ext cx="2998800" cy="48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50" b="0" u="none" strike="noStrike">
                <a:solidFill>
                  <a:srgbClr val="F5F8FC"/>
                </a:solidFill>
                <a:effectLst/>
                <a:uFillTx/>
                <a:latin typeface="Aptos"/>
              </a:rPr>
              <a:t>Prefer secrets managers / specialized workflows; local alone is not sufficient</a:t>
            </a:r>
            <a:endParaRPr lang="en-US" sz="950" b="0" u="none" strike="noStrike">
              <a:solidFill>
                <a:srgbClr val="FFFFFF"/>
              </a:solidFill>
              <a:effectLst/>
              <a:uFillTx/>
              <a:latin typeface="Arial"/>
            </a:endParaRPr>
          </a:p>
        </p:txBody>
      </p:sp>
      <p:sp>
        <p:nvSpPr>
          <p:cNvPr id="763" name="Shape 42"/>
          <p:cNvSpPr/>
          <p:nvPr/>
        </p:nvSpPr>
        <p:spPr>
          <a:xfrm>
            <a:off x="694800" y="5623560"/>
            <a:ext cx="10716480" cy="420120"/>
          </a:xfrm>
          <a:prstGeom prst="roundRect">
            <a:avLst>
              <a:gd name="adj" fmla="val 8696"/>
            </a:avLst>
          </a:prstGeom>
          <a:solidFill>
            <a:srgbClr val="121A2B"/>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64" name="Text 43"/>
          <p:cNvSpPr/>
          <p:nvPr/>
        </p:nvSpPr>
        <p:spPr>
          <a:xfrm>
            <a:off x="896040" y="5751720"/>
            <a:ext cx="1031400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980" b="1" u="none" strike="noStrike">
                <a:solidFill>
                  <a:srgbClr val="33D6FF"/>
                </a:solidFill>
                <a:effectLst/>
                <a:uFillTx/>
                <a:latin typeface="Aptos"/>
              </a:rPr>
              <a:t>“Self-hosted” does not automatically mean “private”: plugins, agents, remote APIs, browser tools, telemetry, and update checks can create outbound paths.</a:t>
            </a:r>
            <a:endParaRPr lang="en-US" sz="980" b="0" u="none" strike="noStrike">
              <a:solidFill>
                <a:srgbClr val="FFFFFF"/>
              </a:solidFill>
              <a:effectLst/>
              <a:uFillTx/>
              <a:latin typeface="Arial"/>
            </a:endParaRPr>
          </a:p>
        </p:txBody>
      </p:sp>
      <p:sp>
        <p:nvSpPr>
          <p:cNvPr id="765" name="Text 44">
            <a:hlinkClick r:id="rId3"/>
          </p:cNvPr>
          <p:cNvSpPr/>
          <p:nvPr/>
        </p:nvSpPr>
        <p:spPr>
          <a:xfrm>
            <a:off x="521280" y="6190560"/>
            <a:ext cx="19609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73809A"/>
                </a:solidFill>
                <a:effectLst/>
                <a:uFillTx/>
                <a:latin typeface="Aptos"/>
                <a:hlinkClick r:id="rId3"/>
              </a:rPr>
              <a:t>Sources: Open WebUI hardening</a:t>
            </a:r>
            <a:endParaRPr lang="en-US" sz="720" b="0" u="none" strike="noStrike">
              <a:solidFill>
                <a:srgbClr val="FFFFFF"/>
              </a:solidFill>
              <a:effectLst/>
              <a:uFillTx/>
              <a:latin typeface="Arial"/>
            </a:endParaRPr>
          </a:p>
        </p:txBody>
      </p:sp>
      <p:sp>
        <p:nvSpPr>
          <p:cNvPr id="766" name="Text 45">
            <a:hlinkClick r:id="rId4"/>
          </p:cNvPr>
          <p:cNvSpPr/>
          <p:nvPr/>
        </p:nvSpPr>
        <p:spPr>
          <a:xfrm>
            <a:off x="2482560" y="6190560"/>
            <a:ext cx="19609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4"/>
              </a:rPr>
              <a:t> • OpenClaw data-flow caveats</a:t>
            </a:r>
            <a:endParaRPr lang="en-US" sz="720" b="0" u="none" strike="noStrike">
              <a:solidFill>
                <a:srgbClr val="FFFFFF"/>
              </a:solidFill>
              <a:effectLst/>
              <a:uFillTx/>
              <a:latin typeface="Arial"/>
            </a:endParaRPr>
          </a:p>
        </p:txBody>
      </p:sp>
      <p:sp>
        <p:nvSpPr>
          <p:cNvPr id="767" name="Text 46">
            <a:hlinkClick r:id="rId5"/>
          </p:cNvPr>
          <p:cNvSpPr/>
          <p:nvPr/>
        </p:nvSpPr>
        <p:spPr>
          <a:xfrm>
            <a:off x="4443840" y="6190560"/>
            <a:ext cx="18604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720" b="0" u="sng" strike="noStrike">
                <a:solidFill>
                  <a:srgbClr val="33D6FF"/>
                </a:solidFill>
                <a:effectLst/>
                <a:uFillTx/>
                <a:latin typeface="Aptos"/>
                <a:hlinkClick r:id="rId5"/>
              </a:rPr>
              <a:t> • OpenAI API data controls</a:t>
            </a:r>
            <a:endParaRPr lang="en-US" sz="720" b="0" u="none" strike="noStrike">
              <a:solidFill>
                <a:srgbClr val="FFFFFF"/>
              </a:solidFill>
              <a:effectLst/>
              <a:uFillTx/>
              <a:latin typeface="Arial"/>
            </a:endParaRPr>
          </a:p>
        </p:txBody>
      </p:sp>
      <p:sp>
        <p:nvSpPr>
          <p:cNvPr id="768" name="PlaceHolder 1"/>
          <p:cNvSpPr>
            <a:spLocks noGrp="1"/>
          </p:cNvSpPr>
          <p:nvPr>
            <p:ph type="sldNum" idx="25"/>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90A8A946-2BA6-416C-A9EF-57BE667F8E88}" type="slidenum">
              <a:rPr lang="en-US" sz="750" b="0" u="none" strike="noStrike">
                <a:solidFill>
                  <a:srgbClr val="73809A"/>
                </a:solidFill>
                <a:effectLst/>
                <a:uFillTx/>
                <a:latin typeface="Aptos"/>
                <a:ea typeface="Aptos"/>
              </a:rPr>
              <a:t>21</a:t>
            </a:fld>
            <a:endParaRPr lang="en-US" sz="750" b="0" u="none" strike="noStrike">
              <a:solidFill>
                <a:srgbClr val="FFFFFF"/>
              </a:solidFill>
              <a:effectLst/>
              <a:uFillTx/>
              <a:latin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Live demo plan — 12 to 15 minutes</a:t>
            </a:r>
            <a:endParaRPr lang="en-US" sz="2600" b="0" u="none" strike="noStrike">
              <a:solidFill>
                <a:srgbClr val="FFFFFF"/>
              </a:solidFill>
              <a:effectLst/>
              <a:uFillTx/>
              <a:latin typeface="Arial"/>
            </a:endParaRPr>
          </a:p>
        </p:txBody>
      </p:sp>
      <p:sp>
        <p:nvSpPr>
          <p:cNvPr id="770"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Three demos that teach transferable behavior instead of brand-specific tricks.</a:t>
            </a:r>
            <a:endParaRPr lang="en-US" sz="1150" b="0" u="none" strike="noStrike">
              <a:solidFill>
                <a:srgbClr val="FFFFFF"/>
              </a:solidFill>
              <a:effectLst/>
              <a:uFillTx/>
              <a:latin typeface="Arial"/>
            </a:endParaRPr>
          </a:p>
        </p:txBody>
      </p:sp>
      <p:sp>
        <p:nvSpPr>
          <p:cNvPr id="771" name="Shape 2"/>
          <p:cNvSpPr/>
          <p:nvPr/>
        </p:nvSpPr>
        <p:spPr>
          <a:xfrm>
            <a:off x="749880" y="1298520"/>
            <a:ext cx="93448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2" name="Shape 3"/>
          <p:cNvSpPr/>
          <p:nvPr/>
        </p:nvSpPr>
        <p:spPr>
          <a:xfrm>
            <a:off x="749880" y="1298520"/>
            <a:ext cx="54360" cy="123408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3" name="Text 4"/>
          <p:cNvSpPr/>
          <p:nvPr/>
        </p:nvSpPr>
        <p:spPr>
          <a:xfrm>
            <a:off x="951120" y="1463040"/>
            <a:ext cx="8997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DEMO 1 — PROMPT UPGRADE</a:t>
            </a:r>
            <a:endParaRPr lang="en-US" sz="1500" b="0" u="none" strike="noStrike">
              <a:solidFill>
                <a:srgbClr val="FFFFFF"/>
              </a:solidFill>
              <a:effectLst/>
              <a:uFillTx/>
              <a:latin typeface="Arial"/>
            </a:endParaRPr>
          </a:p>
        </p:txBody>
      </p:sp>
      <p:sp>
        <p:nvSpPr>
          <p:cNvPr id="774" name="Text 5"/>
          <p:cNvSpPr/>
          <p:nvPr/>
        </p:nvSpPr>
        <p:spPr>
          <a:xfrm>
            <a:off x="951120" y="1801440"/>
            <a:ext cx="89974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Start vague → add evidence + constraints → compare the answer</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Example: “My 3D print is bad” → attach photo/settings and ask for ranked tests.</a:t>
            </a:r>
            <a:endParaRPr lang="en-US" sz="1060" b="0" u="none" strike="noStrike">
              <a:solidFill>
                <a:srgbClr val="FFFFFF"/>
              </a:solidFill>
              <a:effectLst/>
              <a:uFillTx/>
              <a:latin typeface="Arial"/>
            </a:endParaRPr>
          </a:p>
        </p:txBody>
      </p:sp>
      <p:sp>
        <p:nvSpPr>
          <p:cNvPr id="775" name="Shape 6"/>
          <p:cNvSpPr/>
          <p:nvPr/>
        </p:nvSpPr>
        <p:spPr>
          <a:xfrm>
            <a:off x="10287000" y="1755720"/>
            <a:ext cx="959760" cy="310680"/>
          </a:xfrm>
          <a:prstGeom prst="roundRect">
            <a:avLst>
              <a:gd name="adj" fmla="val 50000"/>
            </a:avLst>
          </a:prstGeom>
          <a:solidFill>
            <a:srgbClr val="18233A"/>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6" name="Text 7"/>
          <p:cNvSpPr/>
          <p:nvPr/>
        </p:nvSpPr>
        <p:spPr>
          <a:xfrm>
            <a:off x="10360080" y="1819800"/>
            <a:ext cx="81360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33D6FF"/>
                </a:solidFill>
                <a:effectLst/>
                <a:uFillTx/>
                <a:latin typeface="Aptos"/>
              </a:rPr>
              <a:t>4 min</a:t>
            </a:r>
            <a:endParaRPr lang="en-US" sz="860" b="0" u="none" strike="noStrike">
              <a:solidFill>
                <a:srgbClr val="FFFFFF"/>
              </a:solidFill>
              <a:effectLst/>
              <a:uFillTx/>
              <a:latin typeface="Arial"/>
            </a:endParaRPr>
          </a:p>
        </p:txBody>
      </p:sp>
      <p:sp>
        <p:nvSpPr>
          <p:cNvPr id="777" name="Shape 8"/>
          <p:cNvSpPr/>
          <p:nvPr/>
        </p:nvSpPr>
        <p:spPr>
          <a:xfrm>
            <a:off x="749880" y="2807280"/>
            <a:ext cx="93448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78" name="Shape 9"/>
          <p:cNvSpPr/>
          <p:nvPr/>
        </p:nvSpPr>
        <p:spPr>
          <a:xfrm>
            <a:off x="749880" y="2807280"/>
            <a:ext cx="54360" cy="123408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79" name="Text 10"/>
          <p:cNvSpPr/>
          <p:nvPr/>
        </p:nvSpPr>
        <p:spPr>
          <a:xfrm>
            <a:off x="951120" y="2971800"/>
            <a:ext cx="8997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DEMO 2 — VERIFY A CLAIM</a:t>
            </a:r>
            <a:endParaRPr lang="en-US" sz="1500" b="0" u="none" strike="noStrike">
              <a:solidFill>
                <a:srgbClr val="FFFFFF"/>
              </a:solidFill>
              <a:effectLst/>
              <a:uFillTx/>
              <a:latin typeface="Arial"/>
            </a:endParaRPr>
          </a:p>
        </p:txBody>
      </p:sp>
      <p:sp>
        <p:nvSpPr>
          <p:cNvPr id="780" name="Text 11"/>
          <p:cNvSpPr/>
          <p:nvPr/>
        </p:nvSpPr>
        <p:spPr>
          <a:xfrm>
            <a:off x="951120" y="3310200"/>
            <a:ext cx="89974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Ask a current technical question → require sources → open one source</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Show that a polished answer still needs source verification.</a:t>
            </a:r>
            <a:endParaRPr lang="en-US" sz="1060" b="0" u="none" strike="noStrike">
              <a:solidFill>
                <a:srgbClr val="FFFFFF"/>
              </a:solidFill>
              <a:effectLst/>
              <a:uFillTx/>
              <a:latin typeface="Arial"/>
            </a:endParaRPr>
          </a:p>
        </p:txBody>
      </p:sp>
      <p:sp>
        <p:nvSpPr>
          <p:cNvPr id="781" name="Shape 12"/>
          <p:cNvSpPr/>
          <p:nvPr/>
        </p:nvSpPr>
        <p:spPr>
          <a:xfrm>
            <a:off x="10287000" y="3264480"/>
            <a:ext cx="959760" cy="310680"/>
          </a:xfrm>
          <a:prstGeom prst="roundRect">
            <a:avLst>
              <a:gd name="adj" fmla="val 50000"/>
            </a:avLst>
          </a:prstGeom>
          <a:solidFill>
            <a:srgbClr val="18233A"/>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2" name="Text 13"/>
          <p:cNvSpPr/>
          <p:nvPr/>
        </p:nvSpPr>
        <p:spPr>
          <a:xfrm>
            <a:off x="10360080" y="3328560"/>
            <a:ext cx="81360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40E0A1"/>
                </a:solidFill>
                <a:effectLst/>
                <a:uFillTx/>
                <a:latin typeface="Aptos"/>
              </a:rPr>
              <a:t>4 min</a:t>
            </a:r>
            <a:endParaRPr lang="en-US" sz="860" b="0" u="none" strike="noStrike">
              <a:solidFill>
                <a:srgbClr val="FFFFFF"/>
              </a:solidFill>
              <a:effectLst/>
              <a:uFillTx/>
              <a:latin typeface="Arial"/>
            </a:endParaRPr>
          </a:p>
        </p:txBody>
      </p:sp>
      <p:sp>
        <p:nvSpPr>
          <p:cNvPr id="783" name="Shape 14"/>
          <p:cNvSpPr/>
          <p:nvPr/>
        </p:nvSpPr>
        <p:spPr>
          <a:xfrm>
            <a:off x="749880" y="4316040"/>
            <a:ext cx="9344880" cy="1234080"/>
          </a:xfrm>
          <a:prstGeom prst="roundRect">
            <a:avLst>
              <a:gd name="adj" fmla="val 5926"/>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4" name="Shape 15"/>
          <p:cNvSpPr/>
          <p:nvPr/>
        </p:nvSpPr>
        <p:spPr>
          <a:xfrm>
            <a:off x="749880" y="4316040"/>
            <a:ext cx="54360" cy="123408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5" name="Text 16"/>
          <p:cNvSpPr/>
          <p:nvPr/>
        </p:nvSpPr>
        <p:spPr>
          <a:xfrm>
            <a:off x="951120" y="4480560"/>
            <a:ext cx="899748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500" b="1" u="none" strike="noStrike">
                <a:solidFill>
                  <a:srgbClr val="F5F8FC"/>
                </a:solidFill>
                <a:effectLst/>
                <a:uFillTx/>
                <a:latin typeface="Aptos"/>
              </a:rPr>
              <a:t>DEMO 3 — LOCAL VS CLOUD</a:t>
            </a:r>
            <a:endParaRPr lang="en-US" sz="1500" b="0" u="none" strike="noStrike">
              <a:solidFill>
                <a:srgbClr val="FFFFFF"/>
              </a:solidFill>
              <a:effectLst/>
              <a:uFillTx/>
              <a:latin typeface="Arial"/>
            </a:endParaRPr>
          </a:p>
        </p:txBody>
      </p:sp>
      <p:sp>
        <p:nvSpPr>
          <p:cNvPr id="786" name="Text 17"/>
          <p:cNvSpPr/>
          <p:nvPr/>
        </p:nvSpPr>
        <p:spPr>
          <a:xfrm>
            <a:off x="951120" y="4818960"/>
            <a:ext cx="8997480" cy="5756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60" b="0" u="none" strike="noStrike">
                <a:solidFill>
                  <a:srgbClr val="AAB5C8"/>
                </a:solidFill>
                <a:effectLst/>
                <a:uFillTx/>
                <a:latin typeface="Aptos"/>
              </a:rPr>
              <a:t>Run the same small task in a local model and a frontier cloud model</a:t>
            </a:r>
            <a:endParaRPr lang="en-US" sz="1060" b="0" u="none" strike="noStrike">
              <a:solidFill>
                <a:srgbClr val="FFFFFF"/>
              </a:solidFill>
              <a:effectLst/>
              <a:uFillTx/>
              <a:latin typeface="Arial"/>
            </a:endParaRPr>
          </a:p>
          <a:p>
            <a:pPr defTabSz="914400">
              <a:lnSpc>
                <a:spcPct val="100000"/>
              </a:lnSpc>
              <a:tabLst>
                <a:tab pos="0" algn="l"/>
              </a:tabLst>
            </a:pPr>
            <a:r>
              <a:rPr lang="en-US" sz="1060" b="0" u="none" strike="noStrike">
                <a:solidFill>
                  <a:srgbClr val="AAB5C8"/>
                </a:solidFill>
                <a:effectLst/>
                <a:uFillTx/>
                <a:latin typeface="Aptos"/>
              </a:rPr>
              <a:t>Compare latency, privacy path, depth, and hardware—not just wording.</a:t>
            </a:r>
            <a:endParaRPr lang="en-US" sz="1060" b="0" u="none" strike="noStrike">
              <a:solidFill>
                <a:srgbClr val="FFFFFF"/>
              </a:solidFill>
              <a:effectLst/>
              <a:uFillTx/>
              <a:latin typeface="Arial"/>
            </a:endParaRPr>
          </a:p>
        </p:txBody>
      </p:sp>
      <p:sp>
        <p:nvSpPr>
          <p:cNvPr id="787" name="Shape 18"/>
          <p:cNvSpPr/>
          <p:nvPr/>
        </p:nvSpPr>
        <p:spPr>
          <a:xfrm>
            <a:off x="10287000" y="4773240"/>
            <a:ext cx="959760" cy="310680"/>
          </a:xfrm>
          <a:prstGeom prst="roundRect">
            <a:avLst>
              <a:gd name="adj" fmla="val 50000"/>
            </a:avLst>
          </a:prstGeom>
          <a:solidFill>
            <a:srgbClr val="18233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88" name="Text 19"/>
          <p:cNvSpPr/>
          <p:nvPr/>
        </p:nvSpPr>
        <p:spPr>
          <a:xfrm>
            <a:off x="10360080" y="4837320"/>
            <a:ext cx="813600" cy="15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860" b="1" u="none" strike="noStrike">
                <a:solidFill>
                  <a:srgbClr val="A78BFA"/>
                </a:solidFill>
                <a:effectLst/>
                <a:uFillTx/>
                <a:latin typeface="Aptos"/>
              </a:rPr>
              <a:t>4–6 min</a:t>
            </a:r>
            <a:endParaRPr lang="en-US" sz="860" b="0" u="none" strike="noStrike">
              <a:solidFill>
                <a:srgbClr val="FFFFFF"/>
              </a:solidFill>
              <a:effectLst/>
              <a:uFillTx/>
              <a:latin typeface="Arial"/>
            </a:endParaRPr>
          </a:p>
        </p:txBody>
      </p:sp>
      <p:sp>
        <p:nvSpPr>
          <p:cNvPr id="789" name="Text 20"/>
          <p:cNvSpPr/>
          <p:nvPr/>
        </p:nvSpPr>
        <p:spPr>
          <a:xfrm>
            <a:off x="1024200" y="5833800"/>
            <a:ext cx="10058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50" b="1" u="none" strike="noStrike">
                <a:solidFill>
                  <a:srgbClr val="FFC857"/>
                </a:solidFill>
                <a:effectLst/>
                <a:uFillTx/>
                <a:latin typeface="Aptos"/>
              </a:rPr>
              <a:t>If Wi-Fi fails: demos 1 and 3 can still work entirely locally if the model and UI are already downloaded.</a:t>
            </a:r>
            <a:endParaRPr lang="en-US" sz="1150" b="0" u="none" strike="noStrike">
              <a:solidFill>
                <a:srgbClr val="FFFFFF"/>
              </a:solidFill>
              <a:effectLst/>
              <a:uFillTx/>
              <a:latin typeface="Arial"/>
            </a:endParaRPr>
          </a:p>
        </p:txBody>
      </p:sp>
      <p:sp>
        <p:nvSpPr>
          <p:cNvPr id="790" name="PlaceHolder 1"/>
          <p:cNvSpPr>
            <a:spLocks noGrp="1"/>
          </p:cNvSpPr>
          <p:nvPr>
            <p:ph type="sldNum" idx="26"/>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AB9B4A6A-FF5D-41D1-B413-0212F724A5A9}" type="slidenum">
              <a:rPr lang="en-US" sz="750" b="0" u="none" strike="noStrike">
                <a:solidFill>
                  <a:srgbClr val="73809A"/>
                </a:solidFill>
                <a:effectLst/>
                <a:uFillTx/>
                <a:latin typeface="Aptos"/>
                <a:ea typeface="Aptos"/>
              </a:rPr>
              <a:t>22</a:t>
            </a:fld>
            <a:endParaRPr lang="en-US" sz="750" b="0" u="none" strike="noStrike">
              <a:solidFill>
                <a:srgbClr val="FFFFFF"/>
              </a:solidFill>
              <a:effectLst/>
              <a:uFillTx/>
              <a:latin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Copy/paste demo prompts</a:t>
            </a:r>
            <a:endParaRPr lang="en-US" sz="2600" b="0" u="none" strike="noStrike">
              <a:solidFill>
                <a:srgbClr val="FFFFFF"/>
              </a:solidFill>
              <a:effectLst/>
              <a:uFillTx/>
              <a:latin typeface="Arial"/>
            </a:endParaRPr>
          </a:p>
        </p:txBody>
      </p:sp>
      <p:sp>
        <p:nvSpPr>
          <p:cNvPr id="792"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These are designed to expose uncertainty and produce testable next steps.</a:t>
            </a:r>
            <a:endParaRPr lang="en-US" sz="1150" b="0" u="none" strike="noStrike">
              <a:solidFill>
                <a:srgbClr val="FFFFFF"/>
              </a:solidFill>
              <a:effectLst/>
              <a:uFillTx/>
              <a:latin typeface="Arial"/>
            </a:endParaRPr>
          </a:p>
        </p:txBody>
      </p:sp>
      <p:sp>
        <p:nvSpPr>
          <p:cNvPr id="793" name="Shape 2"/>
          <p:cNvSpPr/>
          <p:nvPr/>
        </p:nvSpPr>
        <p:spPr>
          <a:xfrm>
            <a:off x="640080" y="1261800"/>
            <a:ext cx="10972440" cy="1352880"/>
          </a:xfrm>
          <a:prstGeom prst="roundRect">
            <a:avLst>
              <a:gd name="adj" fmla="val 5405"/>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4" name="Shape 3"/>
          <p:cNvSpPr/>
          <p:nvPr/>
        </p:nvSpPr>
        <p:spPr>
          <a:xfrm>
            <a:off x="640080" y="1261800"/>
            <a:ext cx="54360" cy="135288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5" name="Text 4"/>
          <p:cNvSpPr/>
          <p:nvPr/>
        </p:nvSpPr>
        <p:spPr>
          <a:xfrm>
            <a:off x="841320" y="1426320"/>
            <a:ext cx="10625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Troubleshooting</a:t>
            </a:r>
            <a:endParaRPr lang="en-US" sz="1400" b="0" u="none" strike="noStrike">
              <a:solidFill>
                <a:srgbClr val="FFFFFF"/>
              </a:solidFill>
              <a:effectLst/>
              <a:uFillTx/>
              <a:latin typeface="Arial"/>
            </a:endParaRPr>
          </a:p>
        </p:txBody>
      </p:sp>
      <p:sp>
        <p:nvSpPr>
          <p:cNvPr id="796" name="Text 5"/>
          <p:cNvSpPr/>
          <p:nvPr/>
        </p:nvSpPr>
        <p:spPr>
          <a:xfrm>
            <a:off x="841320" y="1764720"/>
            <a:ext cx="10625040" cy="694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AAB5C8"/>
                </a:solidFill>
                <a:effectLst/>
                <a:uFillTx/>
                <a:latin typeface="Aptos"/>
              </a:rPr>
              <a:t>I am diagnosing [device/problem]. Symptoms: [symptoms]. Environment/version: [details]. Evidence: [logs/photo/settings]. Rank the 3 most likely causes. For each: explain why, give ONE safe test that distinguishes it, and say what observation would rule it out. Do not recommend replacing parts until the evidence supports it.</a:t>
            </a:r>
            <a:endParaRPr lang="en-US" sz="1050" b="0" u="none" strike="noStrike">
              <a:solidFill>
                <a:srgbClr val="FFFFFF"/>
              </a:solidFill>
              <a:effectLst/>
              <a:uFillTx/>
              <a:latin typeface="Arial"/>
            </a:endParaRPr>
          </a:p>
        </p:txBody>
      </p:sp>
      <p:sp>
        <p:nvSpPr>
          <p:cNvPr id="797" name="Shape 6"/>
          <p:cNvSpPr/>
          <p:nvPr/>
        </p:nvSpPr>
        <p:spPr>
          <a:xfrm>
            <a:off x="640080" y="2816280"/>
            <a:ext cx="10972440" cy="1352880"/>
          </a:xfrm>
          <a:prstGeom prst="roundRect">
            <a:avLst>
              <a:gd name="adj" fmla="val 5405"/>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798" name="Shape 7"/>
          <p:cNvSpPr/>
          <p:nvPr/>
        </p:nvSpPr>
        <p:spPr>
          <a:xfrm>
            <a:off x="640080" y="2816280"/>
            <a:ext cx="54360" cy="135288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799" name="Text 8"/>
          <p:cNvSpPr/>
          <p:nvPr/>
        </p:nvSpPr>
        <p:spPr>
          <a:xfrm>
            <a:off x="841320" y="2980800"/>
            <a:ext cx="10625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Code debugging</a:t>
            </a:r>
            <a:endParaRPr lang="en-US" sz="1400" b="0" u="none" strike="noStrike">
              <a:solidFill>
                <a:srgbClr val="FFFFFF"/>
              </a:solidFill>
              <a:effectLst/>
              <a:uFillTx/>
              <a:latin typeface="Arial"/>
            </a:endParaRPr>
          </a:p>
        </p:txBody>
      </p:sp>
      <p:sp>
        <p:nvSpPr>
          <p:cNvPr id="800" name="Text 9"/>
          <p:cNvSpPr/>
          <p:nvPr/>
        </p:nvSpPr>
        <p:spPr>
          <a:xfrm>
            <a:off x="841320" y="3319200"/>
            <a:ext cx="10625040" cy="694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AAB5C8"/>
                </a:solidFill>
                <a:effectLst/>
                <a:uFillTx/>
                <a:latin typeface="Aptos"/>
              </a:rPr>
              <a:t>Review the attached code and error. First reproduce the failure mentally from the evidence. Then identify the smallest likely root cause. Propose a minimal patch, explain the risk, and give me tests that would fail before the patch and pass after it. If a dependency/version fact is uncertain, say so and tell me what command/doc to check.</a:t>
            </a:r>
            <a:endParaRPr lang="en-US" sz="1050" b="0" u="none" strike="noStrike">
              <a:solidFill>
                <a:srgbClr val="FFFFFF"/>
              </a:solidFill>
              <a:effectLst/>
              <a:uFillTx/>
              <a:latin typeface="Arial"/>
            </a:endParaRPr>
          </a:p>
        </p:txBody>
      </p:sp>
      <p:sp>
        <p:nvSpPr>
          <p:cNvPr id="801" name="Shape 10"/>
          <p:cNvSpPr/>
          <p:nvPr/>
        </p:nvSpPr>
        <p:spPr>
          <a:xfrm>
            <a:off x="640080" y="4370760"/>
            <a:ext cx="10972440" cy="1352880"/>
          </a:xfrm>
          <a:prstGeom prst="roundRect">
            <a:avLst>
              <a:gd name="adj" fmla="val 5405"/>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2" name="Shape 11"/>
          <p:cNvSpPr/>
          <p:nvPr/>
        </p:nvSpPr>
        <p:spPr>
          <a:xfrm>
            <a:off x="640080" y="4370760"/>
            <a:ext cx="54360" cy="1352880"/>
          </a:xfrm>
          <a:prstGeom prst="rect">
            <a:avLst/>
          </a:prstGeom>
          <a:solidFill>
            <a:srgbClr val="FFC857"/>
          </a:solidFill>
          <a:ln w="1270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803" name="Text 12"/>
          <p:cNvSpPr/>
          <p:nvPr/>
        </p:nvSpPr>
        <p:spPr>
          <a:xfrm>
            <a:off x="841320" y="4535280"/>
            <a:ext cx="10625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Research / purchasing</a:t>
            </a:r>
            <a:endParaRPr lang="en-US" sz="1400" b="0" u="none" strike="noStrike">
              <a:solidFill>
                <a:srgbClr val="FFFFFF"/>
              </a:solidFill>
              <a:effectLst/>
              <a:uFillTx/>
              <a:latin typeface="Arial"/>
            </a:endParaRPr>
          </a:p>
        </p:txBody>
      </p:sp>
      <p:sp>
        <p:nvSpPr>
          <p:cNvPr id="804" name="Text 13"/>
          <p:cNvSpPr/>
          <p:nvPr/>
        </p:nvSpPr>
        <p:spPr>
          <a:xfrm>
            <a:off x="841320" y="4873680"/>
            <a:ext cx="10625040" cy="69444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50" b="0" u="none" strike="noStrike">
                <a:solidFill>
                  <a:srgbClr val="AAB5C8"/>
                </a:solidFill>
                <a:effectLst/>
                <a:uFillTx/>
                <a:latin typeface="Aptos"/>
              </a:rPr>
              <a:t>Research [question] using current sources. Prefer manufacturer/official documentation for specifications and independent sources for comparative claims. Cite every material claim. Separate verified facts from inference. Include dates. End with: “What could make this recommendation wrong?”</a:t>
            </a:r>
            <a:endParaRPr lang="en-US" sz="1050" b="0" u="none" strike="noStrike">
              <a:solidFill>
                <a:srgbClr val="FFFFFF"/>
              </a:solidFill>
              <a:effectLst/>
              <a:uFillTx/>
              <a:latin typeface="Arial"/>
            </a:endParaRPr>
          </a:p>
        </p:txBody>
      </p:sp>
      <p:sp>
        <p:nvSpPr>
          <p:cNvPr id="805" name="PlaceHolder 1"/>
          <p:cNvSpPr>
            <a:spLocks noGrp="1"/>
          </p:cNvSpPr>
          <p:nvPr>
            <p:ph type="sldNum" idx="27"/>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9AA79550-C913-4738-8CC9-E8C595299146}" type="slidenum">
              <a:rPr lang="en-US" sz="750" b="0" u="none" strike="noStrike">
                <a:solidFill>
                  <a:srgbClr val="73809A"/>
                </a:solidFill>
                <a:effectLst/>
                <a:uFillTx/>
                <a:latin typeface="Aptos"/>
                <a:ea typeface="Aptos"/>
              </a:rPr>
              <a:t>23</a:t>
            </a:fld>
            <a:endParaRPr lang="en-US" sz="750" b="0" u="none" strike="noStrike">
              <a:solidFill>
                <a:srgbClr val="FFFFFF"/>
              </a:solidFill>
              <a:effectLst/>
              <a:uFillTx/>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Which AI should I use? A 30-second decision tree</a:t>
            </a:r>
            <a:endParaRPr lang="en-US" sz="2600" b="0" u="none" strike="noStrike">
              <a:solidFill>
                <a:srgbClr val="FFFFFF"/>
              </a:solidFill>
              <a:effectLst/>
              <a:uFillTx/>
              <a:latin typeface="Arial"/>
            </a:endParaRPr>
          </a:p>
        </p:txBody>
      </p:sp>
      <p:sp>
        <p:nvSpPr>
          <p:cNvPr id="807"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Start with data sensitivity and whether the task needs fresh information or actions.</a:t>
            </a:r>
            <a:endParaRPr lang="en-US" sz="1150" b="0" u="none" strike="noStrike">
              <a:solidFill>
                <a:srgbClr val="FFFFFF"/>
              </a:solidFill>
              <a:effectLst/>
              <a:uFillTx/>
              <a:latin typeface="Arial"/>
            </a:endParaRPr>
          </a:p>
        </p:txBody>
      </p:sp>
      <p:sp>
        <p:nvSpPr>
          <p:cNvPr id="808" name="Shape 2"/>
          <p:cNvSpPr/>
          <p:nvPr/>
        </p:nvSpPr>
        <p:spPr>
          <a:xfrm>
            <a:off x="4572000" y="1143000"/>
            <a:ext cx="2971440" cy="621360"/>
          </a:xfrm>
          <a:prstGeom prst="roundRect">
            <a:avLst>
              <a:gd name="adj" fmla="val 7353"/>
            </a:avLst>
          </a:prstGeom>
          <a:solidFill>
            <a:srgbClr val="121A2B"/>
          </a:solidFill>
          <a:ln w="1524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09" name="Text 3"/>
          <p:cNvSpPr/>
          <p:nvPr/>
        </p:nvSpPr>
        <p:spPr>
          <a:xfrm>
            <a:off x="4663440" y="1325880"/>
            <a:ext cx="278856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a:solidFill>
                  <a:srgbClr val="33D6FF"/>
                </a:solidFill>
                <a:effectLst/>
                <a:uFillTx/>
                <a:latin typeface="Aptos"/>
              </a:rPr>
              <a:t>Is the data sensitive?</a:t>
            </a:r>
            <a:endParaRPr lang="en-US" sz="1120" b="0" u="none" strike="noStrike">
              <a:solidFill>
                <a:srgbClr val="FFFFFF"/>
              </a:solidFill>
              <a:effectLst/>
              <a:uFillTx/>
              <a:latin typeface="Arial"/>
            </a:endParaRPr>
          </a:p>
        </p:txBody>
      </p:sp>
      <p:sp>
        <p:nvSpPr>
          <p:cNvPr id="810" name="Shape 4"/>
          <p:cNvSpPr/>
          <p:nvPr/>
        </p:nvSpPr>
        <p:spPr>
          <a:xfrm>
            <a:off x="960120" y="2240280"/>
            <a:ext cx="2925720" cy="621360"/>
          </a:xfrm>
          <a:prstGeom prst="roundRect">
            <a:avLst>
              <a:gd name="adj" fmla="val 7353"/>
            </a:avLst>
          </a:prstGeom>
          <a:solidFill>
            <a:srgbClr val="121A2B"/>
          </a:solidFill>
          <a:ln w="1524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1" name="Text 5"/>
          <p:cNvSpPr/>
          <p:nvPr/>
        </p:nvSpPr>
        <p:spPr>
          <a:xfrm>
            <a:off x="1051560" y="2423160"/>
            <a:ext cx="2742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a:solidFill>
                  <a:srgbClr val="FF6B6B"/>
                </a:solidFill>
                <a:effectLst/>
                <a:uFillTx/>
                <a:latin typeface="Aptos"/>
              </a:rPr>
              <a:t>Need a true air gap?</a:t>
            </a:r>
            <a:endParaRPr lang="en-US" sz="1120" b="0" u="none" strike="noStrike">
              <a:solidFill>
                <a:srgbClr val="FFFFFF"/>
              </a:solidFill>
              <a:effectLst/>
              <a:uFillTx/>
              <a:latin typeface="Arial"/>
            </a:endParaRPr>
          </a:p>
        </p:txBody>
      </p:sp>
      <p:sp>
        <p:nvSpPr>
          <p:cNvPr id="812" name="Shape 6"/>
          <p:cNvSpPr/>
          <p:nvPr/>
        </p:nvSpPr>
        <p:spPr>
          <a:xfrm>
            <a:off x="8183880" y="2240280"/>
            <a:ext cx="2925720" cy="621360"/>
          </a:xfrm>
          <a:prstGeom prst="roundRect">
            <a:avLst>
              <a:gd name="adj" fmla="val 7353"/>
            </a:avLst>
          </a:prstGeom>
          <a:solidFill>
            <a:srgbClr val="121A2B"/>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3" name="Text 7"/>
          <p:cNvSpPr/>
          <p:nvPr/>
        </p:nvSpPr>
        <p:spPr>
          <a:xfrm>
            <a:off x="8275320" y="2423160"/>
            <a:ext cx="274284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a:solidFill>
                  <a:srgbClr val="40E0A1"/>
                </a:solidFill>
                <a:effectLst/>
                <a:uFillTx/>
                <a:latin typeface="Aptos"/>
              </a:rPr>
              <a:t>Need fresh web facts?</a:t>
            </a:r>
            <a:endParaRPr lang="en-US" sz="1120" b="0" u="none" strike="noStrike">
              <a:solidFill>
                <a:srgbClr val="FFFFFF"/>
              </a:solidFill>
              <a:effectLst/>
              <a:uFillTx/>
              <a:latin typeface="Arial"/>
            </a:endParaRPr>
          </a:p>
        </p:txBody>
      </p:sp>
      <p:sp>
        <p:nvSpPr>
          <p:cNvPr id="814" name="Shape 8"/>
          <p:cNvSpPr/>
          <p:nvPr/>
        </p:nvSpPr>
        <p:spPr>
          <a:xfrm>
            <a:off x="685800" y="3657600"/>
            <a:ext cx="3474360" cy="621360"/>
          </a:xfrm>
          <a:prstGeom prst="roundRect">
            <a:avLst>
              <a:gd name="adj" fmla="val 7353"/>
            </a:avLst>
          </a:prstGeom>
          <a:solidFill>
            <a:srgbClr val="121A2B"/>
          </a:solidFill>
          <a:ln w="15240">
            <a:solidFill>
              <a:srgbClr val="FF6B6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5" name="Text 9"/>
          <p:cNvSpPr/>
          <p:nvPr/>
        </p:nvSpPr>
        <p:spPr>
          <a:xfrm>
            <a:off x="777240" y="3840480"/>
            <a:ext cx="32914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a:solidFill>
                  <a:srgbClr val="FF6B6B"/>
                </a:solidFill>
                <a:effectLst/>
                <a:uFillTx/>
                <a:latin typeface="Aptos"/>
              </a:rPr>
              <a:t>Local model + isolated stack</a:t>
            </a:r>
            <a:endParaRPr lang="en-US" sz="1120" b="0" u="none" strike="noStrike">
              <a:solidFill>
                <a:srgbClr val="FFFFFF"/>
              </a:solidFill>
              <a:effectLst/>
              <a:uFillTx/>
              <a:latin typeface="Arial"/>
            </a:endParaRPr>
          </a:p>
        </p:txBody>
      </p:sp>
      <p:sp>
        <p:nvSpPr>
          <p:cNvPr id="816" name="Shape 10"/>
          <p:cNvSpPr/>
          <p:nvPr/>
        </p:nvSpPr>
        <p:spPr>
          <a:xfrm>
            <a:off x="4297680" y="3634740"/>
            <a:ext cx="2412509" cy="621360"/>
          </a:xfrm>
          <a:prstGeom prst="roundRect">
            <a:avLst>
              <a:gd name="adj" fmla="val 7353"/>
            </a:avLst>
          </a:prstGeom>
          <a:solidFill>
            <a:srgbClr val="121A2B"/>
          </a:solidFill>
          <a:ln w="15240">
            <a:solidFill>
              <a:srgbClr val="FFC857"/>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7" name="Text 11"/>
          <p:cNvSpPr/>
          <p:nvPr/>
        </p:nvSpPr>
        <p:spPr>
          <a:xfrm>
            <a:off x="4447589" y="3744180"/>
            <a:ext cx="1965600" cy="511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lnSpcReduction="10000"/>
          </a:bodyPr>
          <a:lstStyle/>
          <a:p>
            <a:pPr algn="ctr" defTabSz="914400">
              <a:lnSpc>
                <a:spcPct val="100000"/>
              </a:lnSpc>
              <a:tabLst>
                <a:tab pos="0" algn="l"/>
              </a:tabLst>
            </a:pPr>
            <a:r>
              <a:rPr lang="en-US" sz="1120" b="1" u="none" strike="noStrike" dirty="0">
                <a:solidFill>
                  <a:srgbClr val="FFC857"/>
                </a:solidFill>
                <a:effectLst/>
                <a:uFillTx/>
                <a:latin typeface="Aptos"/>
              </a:rPr>
              <a:t>Approved private cloud</a:t>
            </a:r>
          </a:p>
          <a:p>
            <a:pPr algn="ctr" defTabSz="914400">
              <a:lnSpc>
                <a:spcPct val="100000"/>
              </a:lnSpc>
              <a:tabLst>
                <a:tab pos="0" algn="l"/>
              </a:tabLst>
            </a:pPr>
            <a:r>
              <a:rPr lang="en-US" sz="1120" b="1" u="none" strike="noStrike" dirty="0">
                <a:solidFill>
                  <a:srgbClr val="FFC857"/>
                </a:solidFill>
                <a:effectLst/>
                <a:uFillTx/>
                <a:latin typeface="Aptos"/>
              </a:rPr>
              <a:t> OR </a:t>
            </a:r>
          </a:p>
          <a:p>
            <a:pPr algn="ctr" defTabSz="914400">
              <a:lnSpc>
                <a:spcPct val="100000"/>
              </a:lnSpc>
              <a:tabLst>
                <a:tab pos="0" algn="l"/>
              </a:tabLst>
            </a:pPr>
            <a:r>
              <a:rPr lang="en-US" sz="1120" b="1" u="none" strike="noStrike" dirty="0">
                <a:solidFill>
                  <a:srgbClr val="FFC857"/>
                </a:solidFill>
                <a:effectLst/>
                <a:uFillTx/>
                <a:latin typeface="Aptos"/>
              </a:rPr>
              <a:t>controlled local</a:t>
            </a:r>
            <a:endParaRPr lang="en-US" sz="1120" b="0" u="none" strike="noStrike" dirty="0">
              <a:solidFill>
                <a:srgbClr val="FFFFFF"/>
              </a:solidFill>
              <a:effectLst/>
              <a:uFillTx/>
              <a:latin typeface="Arial"/>
            </a:endParaRPr>
          </a:p>
        </p:txBody>
      </p:sp>
      <p:sp>
        <p:nvSpPr>
          <p:cNvPr id="818" name="Shape 12"/>
          <p:cNvSpPr/>
          <p:nvPr/>
        </p:nvSpPr>
        <p:spPr>
          <a:xfrm>
            <a:off x="8183880" y="3657600"/>
            <a:ext cx="3062880" cy="621360"/>
          </a:xfrm>
          <a:prstGeom prst="roundRect">
            <a:avLst>
              <a:gd name="adj" fmla="val 7353"/>
            </a:avLst>
          </a:prstGeom>
          <a:solidFill>
            <a:srgbClr val="121A2B"/>
          </a:solidFill>
          <a:ln w="1524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19" name="Text 13"/>
          <p:cNvSpPr/>
          <p:nvPr/>
        </p:nvSpPr>
        <p:spPr>
          <a:xfrm>
            <a:off x="8275320" y="3840480"/>
            <a:ext cx="288000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a:solidFill>
                  <a:srgbClr val="40E0A1"/>
                </a:solidFill>
                <a:effectLst/>
                <a:uFillTx/>
                <a:latin typeface="Aptos"/>
              </a:rPr>
              <a:t>Search-capable assistant / research tool</a:t>
            </a:r>
            <a:endParaRPr lang="en-US" sz="1120" b="0" u="none" strike="noStrike">
              <a:solidFill>
                <a:srgbClr val="FFFFFF"/>
              </a:solidFill>
              <a:effectLst/>
              <a:uFillTx/>
              <a:latin typeface="Arial"/>
            </a:endParaRPr>
          </a:p>
        </p:txBody>
      </p:sp>
      <p:sp>
        <p:nvSpPr>
          <p:cNvPr id="820" name="Shape 14"/>
          <p:cNvSpPr/>
          <p:nvPr/>
        </p:nvSpPr>
        <p:spPr>
          <a:xfrm>
            <a:off x="4407480" y="4965120"/>
            <a:ext cx="3017160" cy="621360"/>
          </a:xfrm>
          <a:prstGeom prst="roundRect">
            <a:avLst>
              <a:gd name="adj" fmla="val 7353"/>
            </a:avLst>
          </a:prstGeom>
          <a:solidFill>
            <a:srgbClr val="121A2B"/>
          </a:solidFill>
          <a:ln w="1524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dirty="0">
              <a:solidFill>
                <a:srgbClr val="FFFFFF"/>
              </a:solidFill>
              <a:effectLst/>
              <a:uFillTx/>
              <a:latin typeface="Arial"/>
            </a:endParaRPr>
          </a:p>
        </p:txBody>
      </p:sp>
      <p:sp>
        <p:nvSpPr>
          <p:cNvPr id="821" name="Text 15"/>
          <p:cNvSpPr/>
          <p:nvPr/>
        </p:nvSpPr>
        <p:spPr>
          <a:xfrm>
            <a:off x="4498920" y="5180580"/>
            <a:ext cx="283428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dirty="0">
                <a:solidFill>
                  <a:srgbClr val="A78BFA"/>
                </a:solidFill>
                <a:effectLst/>
                <a:uFillTx/>
                <a:latin typeface="Aptos"/>
              </a:rPr>
              <a:t>Need actions / codebase tools?</a:t>
            </a:r>
            <a:endParaRPr lang="en-US" sz="1120" b="0" u="none" strike="noStrike" dirty="0">
              <a:solidFill>
                <a:srgbClr val="FFFFFF"/>
              </a:solidFill>
              <a:effectLst/>
              <a:uFillTx/>
              <a:latin typeface="Arial"/>
            </a:endParaRPr>
          </a:p>
        </p:txBody>
      </p:sp>
      <p:sp>
        <p:nvSpPr>
          <p:cNvPr id="822" name="Shape 16"/>
          <p:cNvSpPr/>
          <p:nvPr/>
        </p:nvSpPr>
        <p:spPr>
          <a:xfrm>
            <a:off x="7955280" y="4956120"/>
            <a:ext cx="3337200" cy="621360"/>
          </a:xfrm>
          <a:prstGeom prst="roundRect">
            <a:avLst>
              <a:gd name="adj" fmla="val 7353"/>
            </a:avLst>
          </a:prstGeom>
          <a:solidFill>
            <a:srgbClr val="121A2B"/>
          </a:solidFill>
          <a:ln w="1524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23" name="Text 17"/>
          <p:cNvSpPr/>
          <p:nvPr/>
        </p:nvSpPr>
        <p:spPr>
          <a:xfrm>
            <a:off x="8046720" y="5139000"/>
            <a:ext cx="3154320" cy="20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120" b="1" u="none" strike="noStrike">
                <a:solidFill>
                  <a:srgbClr val="A78BFA"/>
                </a:solidFill>
                <a:effectLst/>
                <a:uFillTx/>
                <a:latin typeface="Aptos"/>
              </a:rPr>
              <a:t>Agent / Copilot / tool-enabled model</a:t>
            </a:r>
            <a:endParaRPr lang="en-US" sz="1120" b="0" u="none" strike="noStrike">
              <a:solidFill>
                <a:srgbClr val="FFFFFF"/>
              </a:solidFill>
              <a:effectLst/>
              <a:uFillTx/>
              <a:latin typeface="Arial"/>
            </a:endParaRPr>
          </a:p>
        </p:txBody>
      </p:sp>
      <p:sp>
        <p:nvSpPr>
          <p:cNvPr id="824" name="Shape 18"/>
          <p:cNvSpPr/>
          <p:nvPr/>
        </p:nvSpPr>
        <p:spPr>
          <a:xfrm flipH="1">
            <a:off x="2423160" y="1783080"/>
            <a:ext cx="3108960" cy="42948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25" name="Text 19"/>
          <p:cNvSpPr/>
          <p:nvPr/>
        </p:nvSpPr>
        <p:spPr>
          <a:xfrm>
            <a:off x="3310200" y="1874520"/>
            <a:ext cx="4111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a:solidFill>
                  <a:srgbClr val="FF6B6B"/>
                </a:solidFill>
                <a:effectLst/>
                <a:uFillTx/>
                <a:latin typeface="Aptos"/>
              </a:rPr>
              <a:t>YES</a:t>
            </a:r>
            <a:endParaRPr lang="en-US" sz="800" b="0" u="none" strike="noStrike">
              <a:solidFill>
                <a:srgbClr val="FFFFFF"/>
              </a:solidFill>
              <a:effectLst/>
              <a:uFillTx/>
              <a:latin typeface="Arial"/>
            </a:endParaRPr>
          </a:p>
        </p:txBody>
      </p:sp>
      <p:sp>
        <p:nvSpPr>
          <p:cNvPr id="826" name="Shape 20"/>
          <p:cNvSpPr/>
          <p:nvPr/>
        </p:nvSpPr>
        <p:spPr>
          <a:xfrm>
            <a:off x="7223760" y="1783080"/>
            <a:ext cx="2240280" cy="42948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27" name="Text 21"/>
          <p:cNvSpPr/>
          <p:nvPr/>
        </p:nvSpPr>
        <p:spPr>
          <a:xfrm>
            <a:off x="8275320" y="1874520"/>
            <a:ext cx="3654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a:solidFill>
                  <a:srgbClr val="40E0A1"/>
                </a:solidFill>
                <a:effectLst/>
                <a:uFillTx/>
                <a:latin typeface="Aptos"/>
              </a:rPr>
              <a:t>NO</a:t>
            </a:r>
            <a:endParaRPr lang="en-US" sz="800" b="0" u="none" strike="noStrike">
              <a:solidFill>
                <a:srgbClr val="FFFFFF"/>
              </a:solidFill>
              <a:effectLst/>
              <a:uFillTx/>
              <a:latin typeface="Arial"/>
            </a:endParaRPr>
          </a:p>
        </p:txBody>
      </p:sp>
      <p:sp>
        <p:nvSpPr>
          <p:cNvPr id="828" name="Shape 22"/>
          <p:cNvSpPr/>
          <p:nvPr/>
        </p:nvSpPr>
        <p:spPr>
          <a:xfrm>
            <a:off x="2423160" y="2871000"/>
            <a:ext cx="360" cy="7131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29" name="Text 23"/>
          <p:cNvSpPr/>
          <p:nvPr/>
        </p:nvSpPr>
        <p:spPr>
          <a:xfrm>
            <a:off x="2578680" y="3154680"/>
            <a:ext cx="4111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a:solidFill>
                  <a:srgbClr val="FF6B6B"/>
                </a:solidFill>
                <a:effectLst/>
                <a:uFillTx/>
                <a:latin typeface="Aptos"/>
              </a:rPr>
              <a:t>YES</a:t>
            </a:r>
            <a:endParaRPr lang="en-US" sz="800" b="0" u="none" strike="noStrike">
              <a:solidFill>
                <a:srgbClr val="FFFFFF"/>
              </a:solidFill>
              <a:effectLst/>
              <a:uFillTx/>
              <a:latin typeface="Arial"/>
            </a:endParaRPr>
          </a:p>
        </p:txBody>
      </p:sp>
      <p:sp>
        <p:nvSpPr>
          <p:cNvPr id="830" name="Shape 24"/>
          <p:cNvSpPr/>
          <p:nvPr/>
        </p:nvSpPr>
        <p:spPr>
          <a:xfrm>
            <a:off x="3885840" y="2861640"/>
            <a:ext cx="1829160" cy="72252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31" name="Text 25"/>
          <p:cNvSpPr/>
          <p:nvPr/>
        </p:nvSpPr>
        <p:spPr>
          <a:xfrm>
            <a:off x="4572000" y="2880360"/>
            <a:ext cx="3654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a:solidFill>
                  <a:srgbClr val="FFC857"/>
                </a:solidFill>
                <a:effectLst/>
                <a:uFillTx/>
                <a:latin typeface="Aptos"/>
              </a:rPr>
              <a:t>NO</a:t>
            </a:r>
            <a:endParaRPr lang="en-US" sz="800" b="0" u="none" strike="noStrike">
              <a:solidFill>
                <a:srgbClr val="FFFFFF"/>
              </a:solidFill>
              <a:effectLst/>
              <a:uFillTx/>
              <a:latin typeface="Arial"/>
            </a:endParaRPr>
          </a:p>
        </p:txBody>
      </p:sp>
      <p:sp>
        <p:nvSpPr>
          <p:cNvPr id="832" name="Shape 26"/>
          <p:cNvSpPr/>
          <p:nvPr/>
        </p:nvSpPr>
        <p:spPr>
          <a:xfrm>
            <a:off x="9646920" y="2871000"/>
            <a:ext cx="360" cy="7131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33" name="Text 27"/>
          <p:cNvSpPr/>
          <p:nvPr/>
        </p:nvSpPr>
        <p:spPr>
          <a:xfrm>
            <a:off x="9802440" y="3154680"/>
            <a:ext cx="4111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a:solidFill>
                  <a:srgbClr val="40E0A1"/>
                </a:solidFill>
                <a:effectLst/>
                <a:uFillTx/>
                <a:latin typeface="Aptos"/>
              </a:rPr>
              <a:t>YES</a:t>
            </a:r>
            <a:endParaRPr lang="en-US" sz="800" b="0" u="none" strike="noStrike">
              <a:solidFill>
                <a:srgbClr val="FFFFFF"/>
              </a:solidFill>
              <a:effectLst/>
              <a:uFillTx/>
              <a:latin typeface="Arial"/>
            </a:endParaRPr>
          </a:p>
        </p:txBody>
      </p:sp>
      <p:sp>
        <p:nvSpPr>
          <p:cNvPr id="834" name="Shape 28"/>
          <p:cNvSpPr/>
          <p:nvPr/>
        </p:nvSpPr>
        <p:spPr>
          <a:xfrm flipH="1">
            <a:off x="6355080" y="2834280"/>
            <a:ext cx="1827360" cy="20577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en-US" sz="1800" b="0" u="none" strike="noStrike">
              <a:solidFill>
                <a:srgbClr val="FFFFFF"/>
              </a:solidFill>
              <a:effectLst/>
              <a:uFillTx/>
              <a:latin typeface="Arial"/>
            </a:endParaRPr>
          </a:p>
        </p:txBody>
      </p:sp>
      <p:sp>
        <p:nvSpPr>
          <p:cNvPr id="835" name="Text 29"/>
          <p:cNvSpPr/>
          <p:nvPr/>
        </p:nvSpPr>
        <p:spPr>
          <a:xfrm>
            <a:off x="6972480" y="3383280"/>
            <a:ext cx="68544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dirty="0">
                <a:solidFill>
                  <a:srgbClr val="73809A"/>
                </a:solidFill>
                <a:effectLst/>
                <a:uFillTx/>
                <a:latin typeface="Aptos"/>
              </a:rPr>
              <a:t>NO / maybe</a:t>
            </a:r>
            <a:endParaRPr lang="en-US" sz="800" b="0" u="none" strike="noStrike" dirty="0">
              <a:solidFill>
                <a:srgbClr val="FFFFFF"/>
              </a:solidFill>
              <a:effectLst/>
              <a:uFillTx/>
              <a:latin typeface="Arial"/>
            </a:endParaRPr>
          </a:p>
        </p:txBody>
      </p:sp>
      <p:sp>
        <p:nvSpPr>
          <p:cNvPr id="836" name="Shape 30"/>
          <p:cNvSpPr/>
          <p:nvPr/>
        </p:nvSpPr>
        <p:spPr>
          <a:xfrm>
            <a:off x="7543800" y="5275800"/>
            <a:ext cx="338040" cy="360"/>
          </a:xfrm>
          <a:prstGeom prst="line">
            <a:avLst/>
          </a:prstGeom>
          <a:ln w="25400">
            <a:solidFill>
              <a:srgbClr val="73809A"/>
            </a:solidFill>
            <a:round/>
            <a:tailEnd type="triangle" w="med" len="me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37" name="Text 31"/>
          <p:cNvSpPr/>
          <p:nvPr/>
        </p:nvSpPr>
        <p:spPr>
          <a:xfrm>
            <a:off x="7543800" y="5010840"/>
            <a:ext cx="41112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00" b="1" u="none" strike="noStrike">
                <a:solidFill>
                  <a:srgbClr val="A78BFA"/>
                </a:solidFill>
                <a:effectLst/>
                <a:uFillTx/>
                <a:latin typeface="Aptos"/>
              </a:rPr>
              <a:t>YES</a:t>
            </a:r>
            <a:endParaRPr lang="en-US" sz="800" b="0" u="none" strike="noStrike">
              <a:solidFill>
                <a:srgbClr val="FFFFFF"/>
              </a:solidFill>
              <a:effectLst/>
              <a:uFillTx/>
              <a:latin typeface="Arial"/>
            </a:endParaRPr>
          </a:p>
        </p:txBody>
      </p:sp>
      <p:sp>
        <p:nvSpPr>
          <p:cNvPr id="838" name="Text 32"/>
          <p:cNvSpPr/>
          <p:nvPr/>
        </p:nvSpPr>
        <p:spPr>
          <a:xfrm>
            <a:off x="914400" y="5897880"/>
            <a:ext cx="103597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tabLst>
                <a:tab pos="0" algn="l"/>
              </a:tabLst>
            </a:pPr>
            <a:r>
              <a:rPr lang="en-US" sz="1230" b="1" u="none" strike="noStrike">
                <a:solidFill>
                  <a:srgbClr val="F5F8FC"/>
                </a:solidFill>
                <a:effectLst/>
                <a:uFillTx/>
                <a:latin typeface="Aptos"/>
              </a:rPr>
              <a:t>Final tie-breakers: quality on YOUR task → privacy → latency → cost → hardware → workflow fit.</a:t>
            </a:r>
            <a:endParaRPr lang="en-US" sz="1230" b="0" u="none" strike="noStrike">
              <a:solidFill>
                <a:srgbClr val="FFFFFF"/>
              </a:solidFill>
              <a:effectLst/>
              <a:uFillTx/>
              <a:latin typeface="Arial"/>
            </a:endParaRPr>
          </a:p>
        </p:txBody>
      </p:sp>
      <p:sp>
        <p:nvSpPr>
          <p:cNvPr id="839" name="PlaceHolder 1"/>
          <p:cNvSpPr>
            <a:spLocks noGrp="1"/>
          </p:cNvSpPr>
          <p:nvPr>
            <p:ph type="sldNum" idx="28"/>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000BD7AB-8993-45B9-8768-B35562280052}" type="slidenum">
              <a:rPr lang="en-US" sz="750" b="0" u="none" strike="noStrike">
                <a:solidFill>
                  <a:srgbClr val="73809A"/>
                </a:solidFill>
                <a:effectLst/>
                <a:uFillTx/>
                <a:latin typeface="Aptos"/>
                <a:ea typeface="Aptos"/>
              </a:rPr>
              <a:t>24</a:t>
            </a:fld>
            <a:endParaRPr lang="en-US" sz="750" b="0" u="none" strike="noStrike">
              <a:solidFill>
                <a:srgbClr val="FFFFFF"/>
              </a:solidFill>
              <a:effectLst/>
              <a:uFillTx/>
              <a:latin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The five rules to remember tomorrow</a:t>
            </a:r>
            <a:endParaRPr lang="en-US" sz="2600" b="0" u="none" strike="noStrike">
              <a:solidFill>
                <a:srgbClr val="FFFFFF"/>
              </a:solidFill>
              <a:effectLst/>
              <a:uFillTx/>
              <a:latin typeface="Arial"/>
            </a:endParaRPr>
          </a:p>
        </p:txBody>
      </p:sp>
      <p:sp>
        <p:nvSpPr>
          <p:cNvPr id="841"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If the audience remembers only this slide, the workshop succeeded.</a:t>
            </a:r>
            <a:endParaRPr lang="en-US" sz="1150" b="0" u="none" strike="noStrike">
              <a:solidFill>
                <a:srgbClr val="FFFFFF"/>
              </a:solidFill>
              <a:effectLst/>
              <a:uFillTx/>
              <a:latin typeface="Arial"/>
            </a:endParaRPr>
          </a:p>
        </p:txBody>
      </p:sp>
      <p:sp>
        <p:nvSpPr>
          <p:cNvPr id="842" name="Shape 2"/>
          <p:cNvSpPr/>
          <p:nvPr/>
        </p:nvSpPr>
        <p:spPr>
          <a:xfrm>
            <a:off x="777240" y="1234440"/>
            <a:ext cx="10652400" cy="731160"/>
          </a:xfrm>
          <a:prstGeom prst="roundRect">
            <a:avLst>
              <a:gd name="adj" fmla="val 75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3" name="Text 3"/>
          <p:cNvSpPr/>
          <p:nvPr/>
        </p:nvSpPr>
        <p:spPr>
          <a:xfrm>
            <a:off x="987480" y="141732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33D6FF"/>
                </a:solidFill>
                <a:effectLst/>
                <a:uFillTx/>
                <a:latin typeface="Aptos"/>
              </a:rPr>
              <a:t>1</a:t>
            </a:r>
            <a:endParaRPr lang="en-US" sz="1600" b="0" u="none" strike="noStrike">
              <a:solidFill>
                <a:srgbClr val="FFFFFF"/>
              </a:solidFill>
              <a:effectLst/>
              <a:uFillTx/>
              <a:latin typeface="Arial"/>
            </a:endParaRPr>
          </a:p>
        </p:txBody>
      </p:sp>
      <p:sp>
        <p:nvSpPr>
          <p:cNvPr id="844" name="Text 4"/>
          <p:cNvSpPr/>
          <p:nvPr/>
        </p:nvSpPr>
        <p:spPr>
          <a:xfrm>
            <a:off x="1517760" y="1371600"/>
            <a:ext cx="342864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AI generates; evidence verifies.</a:t>
            </a:r>
            <a:endParaRPr lang="en-US" sz="1400" b="0" u="none" strike="noStrike">
              <a:solidFill>
                <a:srgbClr val="FFFFFF"/>
              </a:solidFill>
              <a:effectLst/>
              <a:uFillTx/>
              <a:latin typeface="Arial"/>
            </a:endParaRPr>
          </a:p>
        </p:txBody>
      </p:sp>
      <p:sp>
        <p:nvSpPr>
          <p:cNvPr id="845" name="Text 5"/>
          <p:cNvSpPr/>
          <p:nvPr/>
        </p:nvSpPr>
        <p:spPr>
          <a:xfrm>
            <a:off x="5074920" y="1371600"/>
            <a:ext cx="5988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AAB5C8"/>
                </a:solidFill>
                <a:effectLst/>
                <a:uFillTx/>
                <a:latin typeface="Aptos"/>
              </a:rPr>
              <a:t>Treat outputs as hypotheses until tested or sourced.</a:t>
            </a:r>
            <a:endParaRPr lang="en-US" sz="1080" b="0" u="none" strike="noStrike">
              <a:solidFill>
                <a:srgbClr val="FFFFFF"/>
              </a:solidFill>
              <a:effectLst/>
              <a:uFillTx/>
              <a:latin typeface="Arial"/>
            </a:endParaRPr>
          </a:p>
        </p:txBody>
      </p:sp>
      <p:sp>
        <p:nvSpPr>
          <p:cNvPr id="846" name="Shape 6"/>
          <p:cNvSpPr/>
          <p:nvPr/>
        </p:nvSpPr>
        <p:spPr>
          <a:xfrm>
            <a:off x="777240" y="2148840"/>
            <a:ext cx="10652400" cy="731160"/>
          </a:xfrm>
          <a:prstGeom prst="roundRect">
            <a:avLst>
              <a:gd name="adj" fmla="val 75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47" name="Text 7"/>
          <p:cNvSpPr/>
          <p:nvPr/>
        </p:nvSpPr>
        <p:spPr>
          <a:xfrm>
            <a:off x="987480" y="233172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40E0A1"/>
                </a:solidFill>
                <a:effectLst/>
                <a:uFillTx/>
                <a:latin typeface="Aptos"/>
              </a:rPr>
              <a:t>2</a:t>
            </a:r>
            <a:endParaRPr lang="en-US" sz="1600" b="0" u="none" strike="noStrike">
              <a:solidFill>
                <a:srgbClr val="FFFFFF"/>
              </a:solidFill>
              <a:effectLst/>
              <a:uFillTx/>
              <a:latin typeface="Arial"/>
            </a:endParaRPr>
          </a:p>
        </p:txBody>
      </p:sp>
      <p:sp>
        <p:nvSpPr>
          <p:cNvPr id="848" name="Text 8"/>
          <p:cNvSpPr/>
          <p:nvPr/>
        </p:nvSpPr>
        <p:spPr>
          <a:xfrm>
            <a:off x="1517760" y="2286000"/>
            <a:ext cx="342864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Give context, constraints, and artifacts.</a:t>
            </a:r>
            <a:endParaRPr lang="en-US" sz="1400" b="0" u="none" strike="noStrike">
              <a:solidFill>
                <a:srgbClr val="FFFFFF"/>
              </a:solidFill>
              <a:effectLst/>
              <a:uFillTx/>
              <a:latin typeface="Arial"/>
            </a:endParaRPr>
          </a:p>
        </p:txBody>
      </p:sp>
      <p:sp>
        <p:nvSpPr>
          <p:cNvPr id="849" name="Text 9"/>
          <p:cNvSpPr/>
          <p:nvPr/>
        </p:nvSpPr>
        <p:spPr>
          <a:xfrm>
            <a:off x="5074920" y="2286000"/>
            <a:ext cx="5988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AAB5C8"/>
                </a:solidFill>
                <a:effectLst/>
                <a:uFillTx/>
                <a:latin typeface="Aptos"/>
              </a:rPr>
              <a:t>Photos, logs, code, manuals, measurements beat vague prompts.</a:t>
            </a:r>
            <a:endParaRPr lang="en-US" sz="1080" b="0" u="none" strike="noStrike">
              <a:solidFill>
                <a:srgbClr val="FFFFFF"/>
              </a:solidFill>
              <a:effectLst/>
              <a:uFillTx/>
              <a:latin typeface="Arial"/>
            </a:endParaRPr>
          </a:p>
        </p:txBody>
      </p:sp>
      <p:sp>
        <p:nvSpPr>
          <p:cNvPr id="850" name="Shape 10"/>
          <p:cNvSpPr/>
          <p:nvPr/>
        </p:nvSpPr>
        <p:spPr>
          <a:xfrm>
            <a:off x="777240" y="3063240"/>
            <a:ext cx="10652400" cy="731160"/>
          </a:xfrm>
          <a:prstGeom prst="roundRect">
            <a:avLst>
              <a:gd name="adj" fmla="val 75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1" name="Text 11"/>
          <p:cNvSpPr/>
          <p:nvPr/>
        </p:nvSpPr>
        <p:spPr>
          <a:xfrm>
            <a:off x="987480" y="324612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C857"/>
                </a:solidFill>
                <a:effectLst/>
                <a:uFillTx/>
                <a:latin typeface="Aptos"/>
              </a:rPr>
              <a:t>3</a:t>
            </a:r>
            <a:endParaRPr lang="en-US" sz="1600" b="0" u="none" strike="noStrike">
              <a:solidFill>
                <a:srgbClr val="FFFFFF"/>
              </a:solidFill>
              <a:effectLst/>
              <a:uFillTx/>
              <a:latin typeface="Arial"/>
            </a:endParaRPr>
          </a:p>
        </p:txBody>
      </p:sp>
      <p:sp>
        <p:nvSpPr>
          <p:cNvPr id="852" name="Text 12"/>
          <p:cNvSpPr/>
          <p:nvPr/>
        </p:nvSpPr>
        <p:spPr>
          <a:xfrm>
            <a:off x="1517760" y="3200400"/>
            <a:ext cx="342864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Choose for the task, not the logo.</a:t>
            </a:r>
            <a:endParaRPr lang="en-US" sz="1400" b="0" u="none" strike="noStrike">
              <a:solidFill>
                <a:srgbClr val="FFFFFF"/>
              </a:solidFill>
              <a:effectLst/>
              <a:uFillTx/>
              <a:latin typeface="Arial"/>
            </a:endParaRPr>
          </a:p>
        </p:txBody>
      </p:sp>
      <p:sp>
        <p:nvSpPr>
          <p:cNvPr id="853" name="Text 13"/>
          <p:cNvSpPr/>
          <p:nvPr/>
        </p:nvSpPr>
        <p:spPr>
          <a:xfrm>
            <a:off x="5074920" y="3200400"/>
            <a:ext cx="5988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AAB5C8"/>
                </a:solidFill>
                <a:effectLst/>
                <a:uFillTx/>
                <a:latin typeface="Aptos"/>
              </a:rPr>
              <a:t>Models trade intelligence, speed, cost, tools, context, and privacy.</a:t>
            </a:r>
            <a:endParaRPr lang="en-US" sz="1080" b="0" u="none" strike="noStrike">
              <a:solidFill>
                <a:srgbClr val="FFFFFF"/>
              </a:solidFill>
              <a:effectLst/>
              <a:uFillTx/>
              <a:latin typeface="Arial"/>
            </a:endParaRPr>
          </a:p>
        </p:txBody>
      </p:sp>
      <p:sp>
        <p:nvSpPr>
          <p:cNvPr id="854" name="Shape 14"/>
          <p:cNvSpPr/>
          <p:nvPr/>
        </p:nvSpPr>
        <p:spPr>
          <a:xfrm>
            <a:off x="777240" y="3977640"/>
            <a:ext cx="10652400" cy="731160"/>
          </a:xfrm>
          <a:prstGeom prst="roundRect">
            <a:avLst>
              <a:gd name="adj" fmla="val 75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5" name="Text 15"/>
          <p:cNvSpPr/>
          <p:nvPr/>
        </p:nvSpPr>
        <p:spPr>
          <a:xfrm>
            <a:off x="987480" y="416052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A78BFA"/>
                </a:solidFill>
                <a:effectLst/>
                <a:uFillTx/>
                <a:latin typeface="Aptos"/>
              </a:rPr>
              <a:t>4</a:t>
            </a:r>
            <a:endParaRPr lang="en-US" sz="1600" b="0" u="none" strike="noStrike">
              <a:solidFill>
                <a:srgbClr val="FFFFFF"/>
              </a:solidFill>
              <a:effectLst/>
              <a:uFillTx/>
              <a:latin typeface="Arial"/>
            </a:endParaRPr>
          </a:p>
        </p:txBody>
      </p:sp>
      <p:sp>
        <p:nvSpPr>
          <p:cNvPr id="856" name="Text 16"/>
          <p:cNvSpPr/>
          <p:nvPr/>
        </p:nvSpPr>
        <p:spPr>
          <a:xfrm>
            <a:off x="1517760" y="4114800"/>
            <a:ext cx="342864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Local ≠ automatically private.</a:t>
            </a:r>
            <a:endParaRPr lang="en-US" sz="1400" b="0" u="none" strike="noStrike">
              <a:solidFill>
                <a:srgbClr val="FFFFFF"/>
              </a:solidFill>
              <a:effectLst/>
              <a:uFillTx/>
              <a:latin typeface="Arial"/>
            </a:endParaRPr>
          </a:p>
        </p:txBody>
      </p:sp>
      <p:sp>
        <p:nvSpPr>
          <p:cNvPr id="857" name="Text 17"/>
          <p:cNvSpPr/>
          <p:nvPr/>
        </p:nvSpPr>
        <p:spPr>
          <a:xfrm>
            <a:off x="5074920" y="4114800"/>
            <a:ext cx="5988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AAB5C8"/>
                </a:solidFill>
                <a:effectLst/>
                <a:uFillTx/>
                <a:latin typeface="Aptos"/>
              </a:rPr>
              <a:t>Trace network paths, tools, plugins, permissions, and provider settings.</a:t>
            </a:r>
            <a:endParaRPr lang="en-US" sz="1080" b="0" u="none" strike="noStrike">
              <a:solidFill>
                <a:srgbClr val="FFFFFF"/>
              </a:solidFill>
              <a:effectLst/>
              <a:uFillTx/>
              <a:latin typeface="Arial"/>
            </a:endParaRPr>
          </a:p>
        </p:txBody>
      </p:sp>
      <p:sp>
        <p:nvSpPr>
          <p:cNvPr id="858" name="Shape 18"/>
          <p:cNvSpPr/>
          <p:nvPr/>
        </p:nvSpPr>
        <p:spPr>
          <a:xfrm>
            <a:off x="777240" y="4892040"/>
            <a:ext cx="10652400" cy="731160"/>
          </a:xfrm>
          <a:prstGeom prst="roundRect">
            <a:avLst>
              <a:gd name="adj" fmla="val 75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859" name="Text 19"/>
          <p:cNvSpPr/>
          <p:nvPr/>
        </p:nvSpPr>
        <p:spPr>
          <a:xfrm>
            <a:off x="987480" y="5074920"/>
            <a:ext cx="34704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u="none" strike="noStrike">
                <a:solidFill>
                  <a:srgbClr val="FF6B6B"/>
                </a:solidFill>
                <a:effectLst/>
                <a:uFillTx/>
                <a:latin typeface="Aptos"/>
              </a:rPr>
              <a:t>5</a:t>
            </a:r>
            <a:endParaRPr lang="en-US" sz="1600" b="0" u="none" strike="noStrike">
              <a:solidFill>
                <a:srgbClr val="FFFFFF"/>
              </a:solidFill>
              <a:effectLst/>
              <a:uFillTx/>
              <a:latin typeface="Arial"/>
            </a:endParaRPr>
          </a:p>
        </p:txBody>
      </p:sp>
      <p:sp>
        <p:nvSpPr>
          <p:cNvPr id="860" name="Text 20"/>
          <p:cNvSpPr/>
          <p:nvPr/>
        </p:nvSpPr>
        <p:spPr>
          <a:xfrm>
            <a:off x="1517760" y="5029200"/>
            <a:ext cx="3428640" cy="26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Agents deserve least privilege.</a:t>
            </a:r>
            <a:endParaRPr lang="en-US" sz="1400" b="0" u="none" strike="noStrike">
              <a:solidFill>
                <a:srgbClr val="FFFFFF"/>
              </a:solidFill>
              <a:effectLst/>
              <a:uFillTx/>
              <a:latin typeface="Arial"/>
            </a:endParaRPr>
          </a:p>
        </p:txBody>
      </p:sp>
      <p:sp>
        <p:nvSpPr>
          <p:cNvPr id="861" name="Text 21"/>
          <p:cNvSpPr/>
          <p:nvPr/>
        </p:nvSpPr>
        <p:spPr>
          <a:xfrm>
            <a:off x="5074920" y="5029200"/>
            <a:ext cx="5988960" cy="31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080" b="0" u="none" strike="noStrike">
                <a:solidFill>
                  <a:srgbClr val="AAB5C8"/>
                </a:solidFill>
                <a:effectLst/>
                <a:uFillTx/>
                <a:latin typeface="Aptos"/>
              </a:rPr>
              <a:t>The ability to act creates a different risk class than chat.</a:t>
            </a:r>
            <a:endParaRPr lang="en-US" sz="1080" b="0" u="none" strike="noStrike">
              <a:solidFill>
                <a:srgbClr val="FFFFFF"/>
              </a:solidFill>
              <a:effectLst/>
              <a:uFillTx/>
              <a:latin typeface="Arial"/>
            </a:endParaRPr>
          </a:p>
        </p:txBody>
      </p:sp>
      <p:sp>
        <p:nvSpPr>
          <p:cNvPr id="862" name="PlaceHolder 1"/>
          <p:cNvSpPr>
            <a:spLocks noGrp="1"/>
          </p:cNvSpPr>
          <p:nvPr>
            <p:ph type="sldNum" idx="29"/>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782D3EB3-2C55-41D0-A983-B37FF8AA7351}" type="slidenum">
              <a:rPr lang="en-US" sz="750" b="0" u="none" strike="noStrike">
                <a:solidFill>
                  <a:srgbClr val="73809A"/>
                </a:solidFill>
                <a:effectLst/>
                <a:uFillTx/>
                <a:latin typeface="Aptos"/>
                <a:ea typeface="Aptos"/>
              </a:rPr>
              <a:t>25</a:t>
            </a:fld>
            <a:endParaRPr lang="en-US" sz="750" b="0" u="none" strike="noStrike">
              <a:solidFill>
                <a:srgbClr val="FFFFFF"/>
              </a:solidFill>
              <a:effectLst/>
              <a:uFillTx/>
              <a:latin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3" name="Text 0"/>
          <p:cNvSpPr/>
          <p:nvPr/>
        </p:nvSpPr>
        <p:spPr>
          <a:xfrm>
            <a:off x="502920" y="347400"/>
            <a:ext cx="11109600" cy="438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u="none" strike="noStrike">
                <a:solidFill>
                  <a:srgbClr val="F5F8FC"/>
                </a:solidFill>
                <a:effectLst/>
                <a:uFillTx/>
                <a:latin typeface="Aptos Display"/>
                <a:ea typeface="Aptos Display"/>
              </a:rPr>
              <a:t>Source pack — primary docs + independent benchmarks</a:t>
            </a:r>
            <a:endParaRPr lang="en-US" sz="2600" b="0" u="none" strike="noStrike">
              <a:solidFill>
                <a:srgbClr val="FFFFFF"/>
              </a:solidFill>
              <a:effectLst/>
              <a:uFillTx/>
              <a:latin typeface="Arial"/>
            </a:endParaRPr>
          </a:p>
        </p:txBody>
      </p:sp>
      <p:sp>
        <p:nvSpPr>
          <p:cNvPr id="864" name="Text 1"/>
          <p:cNvSpPr/>
          <p:nvPr/>
        </p:nvSpPr>
        <p:spPr>
          <a:xfrm>
            <a:off x="521280" y="841320"/>
            <a:ext cx="107895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u="none" strike="noStrike">
                <a:solidFill>
                  <a:srgbClr val="AAB5C8"/>
                </a:solidFill>
                <a:effectLst/>
                <a:uFillTx/>
                <a:latin typeface="Aptos"/>
              </a:rPr>
              <a:t>Clickable links. Model pages are intentionally live because the market changes fast.</a:t>
            </a:r>
            <a:endParaRPr lang="en-US" sz="1150" b="0" u="none" strike="noStrike">
              <a:solidFill>
                <a:srgbClr val="FFFFFF"/>
              </a:solidFill>
              <a:effectLst/>
              <a:uFillTx/>
              <a:latin typeface="Arial"/>
            </a:endParaRPr>
          </a:p>
        </p:txBody>
      </p:sp>
      <p:sp>
        <p:nvSpPr>
          <p:cNvPr id="865" name="Text 2"/>
          <p:cNvSpPr/>
          <p:nvPr/>
        </p:nvSpPr>
        <p:spPr>
          <a:xfrm>
            <a:off x="658440" y="120708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How transformers work</a:t>
            </a:r>
            <a:endParaRPr lang="en-US" sz="870" b="0" u="none" strike="noStrike">
              <a:solidFill>
                <a:srgbClr val="FFFFFF"/>
              </a:solidFill>
              <a:effectLst/>
              <a:uFillTx/>
              <a:latin typeface="Arial"/>
            </a:endParaRPr>
          </a:p>
        </p:txBody>
      </p:sp>
      <p:sp>
        <p:nvSpPr>
          <p:cNvPr id="866" name="Text 3">
            <a:hlinkClick r:id="rId3"/>
          </p:cNvPr>
          <p:cNvSpPr/>
          <p:nvPr/>
        </p:nvSpPr>
        <p:spPr>
          <a:xfrm>
            <a:off x="2075760" y="120708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3"/>
              </a:rPr>
              <a:t>Attention Is All You Need</a:t>
            </a:r>
            <a:endParaRPr lang="en-US" sz="910" b="0" u="none" strike="noStrike">
              <a:solidFill>
                <a:srgbClr val="FFFFFF"/>
              </a:solidFill>
              <a:effectLst/>
              <a:uFillTx/>
              <a:latin typeface="Arial"/>
            </a:endParaRPr>
          </a:p>
        </p:txBody>
      </p:sp>
      <p:sp>
        <p:nvSpPr>
          <p:cNvPr id="867" name="Shape 4"/>
          <p:cNvSpPr/>
          <p:nvPr/>
        </p:nvSpPr>
        <p:spPr>
          <a:xfrm>
            <a:off x="658080" y="151776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68" name="Text 5"/>
          <p:cNvSpPr/>
          <p:nvPr/>
        </p:nvSpPr>
        <p:spPr>
          <a:xfrm>
            <a:off x="658440" y="181980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Tokens / tokenizer</a:t>
            </a:r>
            <a:endParaRPr lang="en-US" sz="870" b="0" u="none" strike="noStrike">
              <a:solidFill>
                <a:srgbClr val="FFFFFF"/>
              </a:solidFill>
              <a:effectLst/>
              <a:uFillTx/>
              <a:latin typeface="Arial"/>
            </a:endParaRPr>
          </a:p>
        </p:txBody>
      </p:sp>
      <p:sp>
        <p:nvSpPr>
          <p:cNvPr id="869" name="Text 6">
            <a:hlinkClick r:id="rId4"/>
          </p:cNvPr>
          <p:cNvSpPr/>
          <p:nvPr/>
        </p:nvSpPr>
        <p:spPr>
          <a:xfrm>
            <a:off x="2075760" y="181980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4"/>
              </a:rPr>
              <a:t>OpenAI token guide + tokenizer</a:t>
            </a:r>
            <a:endParaRPr lang="en-US" sz="910" b="0" u="none" strike="noStrike">
              <a:solidFill>
                <a:srgbClr val="FFFFFF"/>
              </a:solidFill>
              <a:effectLst/>
              <a:uFillTx/>
              <a:latin typeface="Arial"/>
            </a:endParaRPr>
          </a:p>
        </p:txBody>
      </p:sp>
      <p:sp>
        <p:nvSpPr>
          <p:cNvPr id="870" name="Shape 7"/>
          <p:cNvSpPr/>
          <p:nvPr/>
        </p:nvSpPr>
        <p:spPr>
          <a:xfrm>
            <a:off x="658080" y="213048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71" name="Text 8"/>
          <p:cNvSpPr/>
          <p:nvPr/>
        </p:nvSpPr>
        <p:spPr>
          <a:xfrm>
            <a:off x="658440" y="243216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OpenAI models</a:t>
            </a:r>
            <a:endParaRPr lang="en-US" sz="870" b="0" u="none" strike="noStrike">
              <a:solidFill>
                <a:srgbClr val="FFFFFF"/>
              </a:solidFill>
              <a:effectLst/>
              <a:uFillTx/>
              <a:latin typeface="Arial"/>
            </a:endParaRPr>
          </a:p>
        </p:txBody>
      </p:sp>
      <p:sp>
        <p:nvSpPr>
          <p:cNvPr id="872" name="Text 9">
            <a:hlinkClick r:id="rId5"/>
          </p:cNvPr>
          <p:cNvSpPr/>
          <p:nvPr/>
        </p:nvSpPr>
        <p:spPr>
          <a:xfrm>
            <a:off x="2075760" y="243216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5"/>
              </a:rPr>
              <a:t>GPT-5.6 family / evaluations</a:t>
            </a:r>
            <a:endParaRPr lang="en-US" sz="910" b="0" u="none" strike="noStrike">
              <a:solidFill>
                <a:srgbClr val="FFFFFF"/>
              </a:solidFill>
              <a:effectLst/>
              <a:uFillTx/>
              <a:latin typeface="Arial"/>
            </a:endParaRPr>
          </a:p>
        </p:txBody>
      </p:sp>
      <p:sp>
        <p:nvSpPr>
          <p:cNvPr id="873" name="Shape 10"/>
          <p:cNvSpPr/>
          <p:nvPr/>
        </p:nvSpPr>
        <p:spPr>
          <a:xfrm>
            <a:off x="658080" y="274320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74" name="Text 11"/>
          <p:cNvSpPr/>
          <p:nvPr/>
        </p:nvSpPr>
        <p:spPr>
          <a:xfrm>
            <a:off x="658440" y="304488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Anthropic models</a:t>
            </a:r>
            <a:endParaRPr lang="en-US" sz="870" b="0" u="none" strike="noStrike">
              <a:solidFill>
                <a:srgbClr val="FFFFFF"/>
              </a:solidFill>
              <a:effectLst/>
              <a:uFillTx/>
              <a:latin typeface="Arial"/>
            </a:endParaRPr>
          </a:p>
        </p:txBody>
      </p:sp>
      <p:sp>
        <p:nvSpPr>
          <p:cNvPr id="875" name="Text 12">
            <a:hlinkClick r:id="rId6"/>
          </p:cNvPr>
          <p:cNvSpPr/>
          <p:nvPr/>
        </p:nvSpPr>
        <p:spPr>
          <a:xfrm>
            <a:off x="2075760" y="304488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6"/>
              </a:rPr>
              <a:t>Claude model overview</a:t>
            </a:r>
            <a:endParaRPr lang="en-US" sz="910" b="0" u="none" strike="noStrike">
              <a:solidFill>
                <a:srgbClr val="FFFFFF"/>
              </a:solidFill>
              <a:effectLst/>
              <a:uFillTx/>
              <a:latin typeface="Arial"/>
            </a:endParaRPr>
          </a:p>
        </p:txBody>
      </p:sp>
      <p:sp>
        <p:nvSpPr>
          <p:cNvPr id="876" name="Shape 13"/>
          <p:cNvSpPr/>
          <p:nvPr/>
        </p:nvSpPr>
        <p:spPr>
          <a:xfrm>
            <a:off x="658080" y="335556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77" name="Text 14"/>
          <p:cNvSpPr/>
          <p:nvPr/>
        </p:nvSpPr>
        <p:spPr>
          <a:xfrm>
            <a:off x="658440" y="365760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Google models</a:t>
            </a:r>
            <a:endParaRPr lang="en-US" sz="870" b="0" u="none" strike="noStrike">
              <a:solidFill>
                <a:srgbClr val="FFFFFF"/>
              </a:solidFill>
              <a:effectLst/>
              <a:uFillTx/>
              <a:latin typeface="Arial"/>
            </a:endParaRPr>
          </a:p>
        </p:txBody>
      </p:sp>
      <p:sp>
        <p:nvSpPr>
          <p:cNvPr id="878" name="Text 15">
            <a:hlinkClick r:id="rId7"/>
          </p:cNvPr>
          <p:cNvSpPr/>
          <p:nvPr/>
        </p:nvSpPr>
        <p:spPr>
          <a:xfrm>
            <a:off x="2075760" y="365760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7"/>
              </a:rPr>
              <a:t>Gemini API model catalog</a:t>
            </a:r>
            <a:endParaRPr lang="en-US" sz="910" b="0" u="none" strike="noStrike">
              <a:solidFill>
                <a:srgbClr val="FFFFFF"/>
              </a:solidFill>
              <a:effectLst/>
              <a:uFillTx/>
              <a:latin typeface="Arial"/>
            </a:endParaRPr>
          </a:p>
        </p:txBody>
      </p:sp>
      <p:sp>
        <p:nvSpPr>
          <p:cNvPr id="879" name="Shape 16"/>
          <p:cNvSpPr/>
          <p:nvPr/>
        </p:nvSpPr>
        <p:spPr>
          <a:xfrm>
            <a:off x="658080" y="396828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80" name="Text 17"/>
          <p:cNvSpPr/>
          <p:nvPr/>
        </p:nvSpPr>
        <p:spPr>
          <a:xfrm>
            <a:off x="658440" y="427032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Copilot models</a:t>
            </a:r>
            <a:endParaRPr lang="en-US" sz="870" b="0" u="none" strike="noStrike">
              <a:solidFill>
                <a:srgbClr val="FFFFFF"/>
              </a:solidFill>
              <a:effectLst/>
              <a:uFillTx/>
              <a:latin typeface="Arial"/>
            </a:endParaRPr>
          </a:p>
        </p:txBody>
      </p:sp>
      <p:sp>
        <p:nvSpPr>
          <p:cNvPr id="881" name="Text 18">
            <a:hlinkClick r:id="rId8"/>
          </p:cNvPr>
          <p:cNvSpPr/>
          <p:nvPr/>
        </p:nvSpPr>
        <p:spPr>
          <a:xfrm>
            <a:off x="2075760" y="427032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8"/>
              </a:rPr>
              <a:t>GitHub model comparison</a:t>
            </a:r>
            <a:endParaRPr lang="en-US" sz="910" b="0" u="none" strike="noStrike">
              <a:solidFill>
                <a:srgbClr val="FFFFFF"/>
              </a:solidFill>
              <a:effectLst/>
              <a:uFillTx/>
              <a:latin typeface="Arial"/>
            </a:endParaRPr>
          </a:p>
        </p:txBody>
      </p:sp>
      <p:sp>
        <p:nvSpPr>
          <p:cNvPr id="882" name="Shape 19"/>
          <p:cNvSpPr/>
          <p:nvPr/>
        </p:nvSpPr>
        <p:spPr>
          <a:xfrm>
            <a:off x="658080" y="458100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83" name="Text 20"/>
          <p:cNvSpPr/>
          <p:nvPr/>
        </p:nvSpPr>
        <p:spPr>
          <a:xfrm>
            <a:off x="658440" y="488304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Perplexity</a:t>
            </a:r>
            <a:endParaRPr lang="en-US" sz="870" b="0" u="none" strike="noStrike">
              <a:solidFill>
                <a:srgbClr val="FFFFFF"/>
              </a:solidFill>
              <a:effectLst/>
              <a:uFillTx/>
              <a:latin typeface="Arial"/>
            </a:endParaRPr>
          </a:p>
        </p:txBody>
      </p:sp>
      <p:sp>
        <p:nvSpPr>
          <p:cNvPr id="884" name="Text 21">
            <a:hlinkClick r:id="rId9"/>
          </p:cNvPr>
          <p:cNvSpPr/>
          <p:nvPr/>
        </p:nvSpPr>
        <p:spPr>
          <a:xfrm>
            <a:off x="2075760" y="488304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9"/>
              </a:rPr>
              <a:t>Search + model documentation</a:t>
            </a:r>
            <a:endParaRPr lang="en-US" sz="910" b="0" u="none" strike="noStrike">
              <a:solidFill>
                <a:srgbClr val="FFFFFF"/>
              </a:solidFill>
              <a:effectLst/>
              <a:uFillTx/>
              <a:latin typeface="Arial"/>
            </a:endParaRPr>
          </a:p>
        </p:txBody>
      </p:sp>
      <p:sp>
        <p:nvSpPr>
          <p:cNvPr id="885" name="Shape 22"/>
          <p:cNvSpPr/>
          <p:nvPr/>
        </p:nvSpPr>
        <p:spPr>
          <a:xfrm>
            <a:off x="658080" y="519372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86" name="Text 23"/>
          <p:cNvSpPr/>
          <p:nvPr/>
        </p:nvSpPr>
        <p:spPr>
          <a:xfrm>
            <a:off x="658440" y="549540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Independent evals</a:t>
            </a:r>
            <a:endParaRPr lang="en-US" sz="870" b="0" u="none" strike="noStrike">
              <a:solidFill>
                <a:srgbClr val="FFFFFF"/>
              </a:solidFill>
              <a:effectLst/>
              <a:uFillTx/>
              <a:latin typeface="Arial"/>
            </a:endParaRPr>
          </a:p>
        </p:txBody>
      </p:sp>
      <p:sp>
        <p:nvSpPr>
          <p:cNvPr id="887" name="Text 24">
            <a:hlinkClick r:id="rId10"/>
          </p:cNvPr>
          <p:cNvSpPr/>
          <p:nvPr/>
        </p:nvSpPr>
        <p:spPr>
          <a:xfrm>
            <a:off x="2075760" y="549540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0"/>
              </a:rPr>
              <a:t>Artificial Analysis methodology</a:t>
            </a:r>
            <a:endParaRPr lang="en-US" sz="910" b="0" u="none" strike="noStrike">
              <a:solidFill>
                <a:srgbClr val="FFFFFF"/>
              </a:solidFill>
              <a:effectLst/>
              <a:uFillTx/>
              <a:latin typeface="Arial"/>
            </a:endParaRPr>
          </a:p>
        </p:txBody>
      </p:sp>
      <p:sp>
        <p:nvSpPr>
          <p:cNvPr id="888" name="Shape 25"/>
          <p:cNvSpPr/>
          <p:nvPr/>
        </p:nvSpPr>
        <p:spPr>
          <a:xfrm>
            <a:off x="658080" y="580644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89" name="Text 26"/>
          <p:cNvSpPr/>
          <p:nvPr/>
        </p:nvSpPr>
        <p:spPr>
          <a:xfrm>
            <a:off x="6309360" y="120708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Human preference</a:t>
            </a:r>
            <a:endParaRPr lang="en-US" sz="870" b="0" u="none" strike="noStrike">
              <a:solidFill>
                <a:srgbClr val="FFFFFF"/>
              </a:solidFill>
              <a:effectLst/>
              <a:uFillTx/>
              <a:latin typeface="Arial"/>
            </a:endParaRPr>
          </a:p>
        </p:txBody>
      </p:sp>
      <p:sp>
        <p:nvSpPr>
          <p:cNvPr id="890" name="Text 27">
            <a:hlinkClick r:id="rId11"/>
          </p:cNvPr>
          <p:cNvSpPr/>
          <p:nvPr/>
        </p:nvSpPr>
        <p:spPr>
          <a:xfrm>
            <a:off x="7726680" y="120708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1"/>
              </a:rPr>
              <a:t>Arena leaderboard policy</a:t>
            </a:r>
            <a:endParaRPr lang="en-US" sz="910" b="0" u="none" strike="noStrike">
              <a:solidFill>
                <a:srgbClr val="FFFFFF"/>
              </a:solidFill>
              <a:effectLst/>
              <a:uFillTx/>
              <a:latin typeface="Arial"/>
            </a:endParaRPr>
          </a:p>
        </p:txBody>
      </p:sp>
      <p:sp>
        <p:nvSpPr>
          <p:cNvPr id="891" name="Shape 28"/>
          <p:cNvSpPr/>
          <p:nvPr/>
        </p:nvSpPr>
        <p:spPr>
          <a:xfrm>
            <a:off x="6309360" y="151776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92" name="Text 29"/>
          <p:cNvSpPr/>
          <p:nvPr/>
        </p:nvSpPr>
        <p:spPr>
          <a:xfrm>
            <a:off x="6309360" y="181980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Fresh benchmark</a:t>
            </a:r>
            <a:endParaRPr lang="en-US" sz="870" b="0" u="none" strike="noStrike">
              <a:solidFill>
                <a:srgbClr val="FFFFFF"/>
              </a:solidFill>
              <a:effectLst/>
              <a:uFillTx/>
              <a:latin typeface="Arial"/>
            </a:endParaRPr>
          </a:p>
        </p:txBody>
      </p:sp>
      <p:sp>
        <p:nvSpPr>
          <p:cNvPr id="893" name="Text 30">
            <a:hlinkClick r:id="rId12"/>
          </p:cNvPr>
          <p:cNvSpPr/>
          <p:nvPr/>
        </p:nvSpPr>
        <p:spPr>
          <a:xfrm>
            <a:off x="7726680" y="181980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2"/>
              </a:rPr>
              <a:t>LiveBench</a:t>
            </a:r>
            <a:endParaRPr lang="en-US" sz="910" b="0" u="none" strike="noStrike">
              <a:solidFill>
                <a:srgbClr val="FFFFFF"/>
              </a:solidFill>
              <a:effectLst/>
              <a:uFillTx/>
              <a:latin typeface="Arial"/>
            </a:endParaRPr>
          </a:p>
        </p:txBody>
      </p:sp>
      <p:sp>
        <p:nvSpPr>
          <p:cNvPr id="894" name="Shape 31"/>
          <p:cNvSpPr/>
          <p:nvPr/>
        </p:nvSpPr>
        <p:spPr>
          <a:xfrm>
            <a:off x="6309360" y="213048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95" name="Text 32"/>
          <p:cNvSpPr/>
          <p:nvPr/>
        </p:nvSpPr>
        <p:spPr>
          <a:xfrm>
            <a:off x="6309360" y="243216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Coding benchmark</a:t>
            </a:r>
            <a:endParaRPr lang="en-US" sz="870" b="0" u="none" strike="noStrike">
              <a:solidFill>
                <a:srgbClr val="FFFFFF"/>
              </a:solidFill>
              <a:effectLst/>
              <a:uFillTx/>
              <a:latin typeface="Arial"/>
            </a:endParaRPr>
          </a:p>
        </p:txBody>
      </p:sp>
      <p:sp>
        <p:nvSpPr>
          <p:cNvPr id="896" name="Text 33">
            <a:hlinkClick r:id="rId13"/>
          </p:cNvPr>
          <p:cNvSpPr/>
          <p:nvPr/>
        </p:nvSpPr>
        <p:spPr>
          <a:xfrm>
            <a:off x="7726680" y="243216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3"/>
              </a:rPr>
              <a:t>SWE-bench</a:t>
            </a:r>
            <a:endParaRPr lang="en-US" sz="910" b="0" u="none" strike="noStrike">
              <a:solidFill>
                <a:srgbClr val="FFFFFF"/>
              </a:solidFill>
              <a:effectLst/>
              <a:uFillTx/>
              <a:latin typeface="Arial"/>
            </a:endParaRPr>
          </a:p>
        </p:txBody>
      </p:sp>
      <p:sp>
        <p:nvSpPr>
          <p:cNvPr id="897" name="Shape 34"/>
          <p:cNvSpPr/>
          <p:nvPr/>
        </p:nvSpPr>
        <p:spPr>
          <a:xfrm>
            <a:off x="6309360" y="274320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898" name="Text 35"/>
          <p:cNvSpPr/>
          <p:nvPr/>
        </p:nvSpPr>
        <p:spPr>
          <a:xfrm>
            <a:off x="6309360" y="304488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Local runtime</a:t>
            </a:r>
            <a:endParaRPr lang="en-US" sz="870" b="0" u="none" strike="noStrike">
              <a:solidFill>
                <a:srgbClr val="FFFFFF"/>
              </a:solidFill>
              <a:effectLst/>
              <a:uFillTx/>
              <a:latin typeface="Arial"/>
            </a:endParaRPr>
          </a:p>
        </p:txBody>
      </p:sp>
      <p:sp>
        <p:nvSpPr>
          <p:cNvPr id="899" name="Text 36">
            <a:hlinkClick r:id="rId14"/>
          </p:cNvPr>
          <p:cNvSpPr/>
          <p:nvPr/>
        </p:nvSpPr>
        <p:spPr>
          <a:xfrm>
            <a:off x="7726680" y="304488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4"/>
              </a:rPr>
              <a:t>Ollama</a:t>
            </a:r>
            <a:endParaRPr lang="en-US" sz="910" b="0" u="none" strike="noStrike">
              <a:solidFill>
                <a:srgbClr val="FFFFFF"/>
              </a:solidFill>
              <a:effectLst/>
              <a:uFillTx/>
              <a:latin typeface="Arial"/>
            </a:endParaRPr>
          </a:p>
        </p:txBody>
      </p:sp>
      <p:sp>
        <p:nvSpPr>
          <p:cNvPr id="900" name="Shape 37"/>
          <p:cNvSpPr/>
          <p:nvPr/>
        </p:nvSpPr>
        <p:spPr>
          <a:xfrm>
            <a:off x="6309360" y="335556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901" name="Text 38"/>
          <p:cNvSpPr/>
          <p:nvPr/>
        </p:nvSpPr>
        <p:spPr>
          <a:xfrm>
            <a:off x="6309360" y="365760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Quantization</a:t>
            </a:r>
            <a:endParaRPr lang="en-US" sz="870" b="0" u="none" strike="noStrike">
              <a:solidFill>
                <a:srgbClr val="FFFFFF"/>
              </a:solidFill>
              <a:effectLst/>
              <a:uFillTx/>
              <a:latin typeface="Arial"/>
            </a:endParaRPr>
          </a:p>
        </p:txBody>
      </p:sp>
      <p:sp>
        <p:nvSpPr>
          <p:cNvPr id="902" name="Text 39">
            <a:hlinkClick r:id="rId15"/>
          </p:cNvPr>
          <p:cNvSpPr/>
          <p:nvPr/>
        </p:nvSpPr>
        <p:spPr>
          <a:xfrm>
            <a:off x="7726680" y="365760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5"/>
              </a:rPr>
              <a:t>llama.cpp quantize docs</a:t>
            </a:r>
            <a:endParaRPr lang="en-US" sz="910" b="0" u="none" strike="noStrike">
              <a:solidFill>
                <a:srgbClr val="FFFFFF"/>
              </a:solidFill>
              <a:effectLst/>
              <a:uFillTx/>
              <a:latin typeface="Arial"/>
            </a:endParaRPr>
          </a:p>
        </p:txBody>
      </p:sp>
      <p:sp>
        <p:nvSpPr>
          <p:cNvPr id="903" name="Shape 40"/>
          <p:cNvSpPr/>
          <p:nvPr/>
        </p:nvSpPr>
        <p:spPr>
          <a:xfrm>
            <a:off x="6309360" y="396828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904" name="Text 41"/>
          <p:cNvSpPr/>
          <p:nvPr/>
        </p:nvSpPr>
        <p:spPr>
          <a:xfrm>
            <a:off x="6309360" y="427032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Offline / air gap</a:t>
            </a:r>
            <a:endParaRPr lang="en-US" sz="870" b="0" u="none" strike="noStrike">
              <a:solidFill>
                <a:srgbClr val="FFFFFF"/>
              </a:solidFill>
              <a:effectLst/>
              <a:uFillTx/>
              <a:latin typeface="Arial"/>
            </a:endParaRPr>
          </a:p>
        </p:txBody>
      </p:sp>
      <p:sp>
        <p:nvSpPr>
          <p:cNvPr id="905" name="Text 42">
            <a:hlinkClick r:id="rId16"/>
          </p:cNvPr>
          <p:cNvSpPr/>
          <p:nvPr/>
        </p:nvSpPr>
        <p:spPr>
          <a:xfrm>
            <a:off x="7726680" y="427032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6"/>
              </a:rPr>
              <a:t>Open WebUI offline mode</a:t>
            </a:r>
            <a:endParaRPr lang="en-US" sz="910" b="0" u="none" strike="noStrike">
              <a:solidFill>
                <a:srgbClr val="FFFFFF"/>
              </a:solidFill>
              <a:effectLst/>
              <a:uFillTx/>
              <a:latin typeface="Arial"/>
            </a:endParaRPr>
          </a:p>
        </p:txBody>
      </p:sp>
      <p:sp>
        <p:nvSpPr>
          <p:cNvPr id="906" name="Shape 43"/>
          <p:cNvSpPr/>
          <p:nvPr/>
        </p:nvSpPr>
        <p:spPr>
          <a:xfrm>
            <a:off x="6309360" y="458100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907" name="Text 44"/>
          <p:cNvSpPr/>
          <p:nvPr/>
        </p:nvSpPr>
        <p:spPr>
          <a:xfrm>
            <a:off x="6309360" y="488304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Agent framework</a:t>
            </a:r>
            <a:endParaRPr lang="en-US" sz="870" b="0" u="none" strike="noStrike">
              <a:solidFill>
                <a:srgbClr val="FFFFFF"/>
              </a:solidFill>
              <a:effectLst/>
              <a:uFillTx/>
              <a:latin typeface="Arial"/>
            </a:endParaRPr>
          </a:p>
        </p:txBody>
      </p:sp>
      <p:sp>
        <p:nvSpPr>
          <p:cNvPr id="908" name="Text 45">
            <a:hlinkClick r:id="rId17"/>
          </p:cNvPr>
          <p:cNvSpPr/>
          <p:nvPr/>
        </p:nvSpPr>
        <p:spPr>
          <a:xfrm>
            <a:off x="7726680" y="488304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7"/>
              </a:rPr>
              <a:t>Hermes Agent docs</a:t>
            </a:r>
            <a:endParaRPr lang="en-US" sz="910" b="0" u="none" strike="noStrike">
              <a:solidFill>
                <a:srgbClr val="FFFFFF"/>
              </a:solidFill>
              <a:effectLst/>
              <a:uFillTx/>
              <a:latin typeface="Arial"/>
            </a:endParaRPr>
          </a:p>
        </p:txBody>
      </p:sp>
      <p:sp>
        <p:nvSpPr>
          <p:cNvPr id="909" name="Shape 46"/>
          <p:cNvSpPr/>
          <p:nvPr/>
        </p:nvSpPr>
        <p:spPr>
          <a:xfrm>
            <a:off x="6309360" y="519372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910" name="Text 47"/>
          <p:cNvSpPr/>
          <p:nvPr/>
        </p:nvSpPr>
        <p:spPr>
          <a:xfrm>
            <a:off x="6309360" y="5495400"/>
            <a:ext cx="13712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870" b="1" u="none" strike="noStrike">
                <a:solidFill>
                  <a:srgbClr val="73809A"/>
                </a:solidFill>
                <a:effectLst/>
                <a:uFillTx/>
                <a:latin typeface="Aptos"/>
              </a:rPr>
              <a:t>Agent framework</a:t>
            </a:r>
            <a:endParaRPr lang="en-US" sz="870" b="0" u="none" strike="noStrike">
              <a:solidFill>
                <a:srgbClr val="FFFFFF"/>
              </a:solidFill>
              <a:effectLst/>
              <a:uFillTx/>
              <a:latin typeface="Arial"/>
            </a:endParaRPr>
          </a:p>
        </p:txBody>
      </p:sp>
      <p:sp>
        <p:nvSpPr>
          <p:cNvPr id="911" name="Text 48">
            <a:hlinkClick r:id="rId18"/>
          </p:cNvPr>
          <p:cNvSpPr/>
          <p:nvPr/>
        </p:nvSpPr>
        <p:spPr>
          <a:xfrm>
            <a:off x="7726680" y="5495400"/>
            <a:ext cx="38858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910" b="0" u="sng" strike="noStrike">
                <a:solidFill>
                  <a:srgbClr val="33D6FF"/>
                </a:solidFill>
                <a:effectLst/>
                <a:uFillTx/>
                <a:latin typeface="Aptos"/>
                <a:hlinkClick r:id="rId18"/>
              </a:rPr>
              <a:t>OpenClaw docs / FAQ</a:t>
            </a:r>
            <a:endParaRPr lang="en-US" sz="910" b="0" u="none" strike="noStrike">
              <a:solidFill>
                <a:srgbClr val="FFFFFF"/>
              </a:solidFill>
              <a:effectLst/>
              <a:uFillTx/>
              <a:latin typeface="Arial"/>
            </a:endParaRPr>
          </a:p>
        </p:txBody>
      </p:sp>
      <p:sp>
        <p:nvSpPr>
          <p:cNvPr id="912" name="Shape 49"/>
          <p:cNvSpPr/>
          <p:nvPr/>
        </p:nvSpPr>
        <p:spPr>
          <a:xfrm>
            <a:off x="6309360" y="5806440"/>
            <a:ext cx="5257800" cy="360"/>
          </a:xfrm>
          <a:prstGeom prst="line">
            <a:avLst/>
          </a:prstGeom>
          <a:ln w="6350">
            <a:solidFill>
              <a:srgbClr val="2A3853"/>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en-US" sz="1800" b="0" u="none" strike="noStrike">
              <a:solidFill>
                <a:srgbClr val="FFFFFF"/>
              </a:solidFill>
              <a:effectLst/>
              <a:uFillTx/>
              <a:latin typeface="Arial"/>
            </a:endParaRPr>
          </a:p>
        </p:txBody>
      </p:sp>
      <p:sp>
        <p:nvSpPr>
          <p:cNvPr id="913" name="Text 50"/>
          <p:cNvSpPr/>
          <p:nvPr/>
        </p:nvSpPr>
        <p:spPr>
          <a:xfrm>
            <a:off x="868680" y="6053400"/>
            <a:ext cx="1042380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80" b="1" u="none" strike="noStrike">
                <a:solidFill>
                  <a:srgbClr val="FFC857"/>
                </a:solidFill>
                <a:effectLst/>
                <a:uFillTx/>
                <a:latin typeface="Aptos"/>
              </a:rPr>
              <a:t>Tip: for a future version of this deck, re-check the vendor model pages and the benchmark dates first.</a:t>
            </a:r>
            <a:endParaRPr lang="en-US" sz="1080" b="0" u="none" strike="noStrike">
              <a:solidFill>
                <a:srgbClr val="FFFFFF"/>
              </a:solidFill>
              <a:effectLst/>
              <a:uFillTx/>
              <a:latin typeface="Arial"/>
            </a:endParaRPr>
          </a:p>
        </p:txBody>
      </p:sp>
      <p:sp>
        <p:nvSpPr>
          <p:cNvPr id="914" name="PlaceHolder 1"/>
          <p:cNvSpPr>
            <a:spLocks noGrp="1"/>
          </p:cNvSpPr>
          <p:nvPr>
            <p:ph type="sldNum" idx="30"/>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72FF8B5F-7020-4F8B-8084-A596B6490E41}" type="slidenum">
              <a:rPr lang="en-US" sz="750" b="0" u="none" strike="noStrike">
                <a:solidFill>
                  <a:srgbClr val="73809A"/>
                </a:solidFill>
                <a:effectLst/>
                <a:uFillTx/>
                <a:latin typeface="Aptos"/>
                <a:ea typeface="Aptos"/>
              </a:rPr>
              <a:t>26</a:t>
            </a:fld>
            <a:endParaRPr lang="en-US" sz="750" b="0" u="none" strike="noStrike">
              <a:solidFill>
                <a:srgbClr val="FFFFFF"/>
              </a:solidFill>
              <a:effectLst/>
              <a:uFillTx/>
              <a:latin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Text 0"/>
          <p:cNvSpPr/>
          <p:nvPr/>
        </p:nvSpPr>
        <p:spPr>
          <a:xfrm>
            <a:off x="640080" y="1051560"/>
            <a:ext cx="3382920" cy="200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850" b="1" u="none" strike="noStrike" spc="150">
                <a:solidFill>
                  <a:srgbClr val="40E0A1"/>
                </a:solidFill>
                <a:effectLst/>
                <a:uFillTx/>
                <a:latin typeface="Aptos"/>
              </a:rPr>
              <a:t>QUESTIONS + LIVE RABBIT HOLES</a:t>
            </a:r>
            <a:endParaRPr lang="en-US" sz="850" b="0" u="none" strike="noStrike">
              <a:solidFill>
                <a:srgbClr val="FFFFFF"/>
              </a:solidFill>
              <a:effectLst/>
              <a:uFillTx/>
              <a:latin typeface="Arial"/>
            </a:endParaRPr>
          </a:p>
        </p:txBody>
      </p:sp>
      <p:sp>
        <p:nvSpPr>
          <p:cNvPr id="916" name="Text 1"/>
          <p:cNvSpPr/>
          <p:nvPr/>
        </p:nvSpPr>
        <p:spPr>
          <a:xfrm>
            <a:off x="640080" y="1481400"/>
            <a:ext cx="7772040" cy="65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600" b="1" u="none" strike="noStrike">
                <a:solidFill>
                  <a:srgbClr val="F5F8FC"/>
                </a:solidFill>
                <a:effectLst/>
                <a:uFillTx/>
                <a:latin typeface="Aptos"/>
              </a:rPr>
              <a:t>What are you building?</a:t>
            </a:r>
            <a:endParaRPr lang="en-US" sz="3600" b="0" u="none" strike="noStrike">
              <a:solidFill>
                <a:srgbClr val="FFFFFF"/>
              </a:solidFill>
              <a:effectLst/>
              <a:uFillTx/>
              <a:latin typeface="Arial"/>
            </a:endParaRPr>
          </a:p>
        </p:txBody>
      </p:sp>
      <p:sp>
        <p:nvSpPr>
          <p:cNvPr id="917" name="Text 2"/>
          <p:cNvSpPr/>
          <p:nvPr/>
        </p:nvSpPr>
        <p:spPr>
          <a:xfrm>
            <a:off x="640080" y="2331720"/>
            <a:ext cx="7131960" cy="475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800" b="0" u="none" strike="noStrike">
                <a:solidFill>
                  <a:srgbClr val="AAB5C8"/>
                </a:solidFill>
                <a:effectLst/>
                <a:uFillTx/>
                <a:latin typeface="Aptos"/>
              </a:rPr>
              <a:t>Bring a real project, error, model name, or “can AI do this?” question.</a:t>
            </a:r>
            <a:endParaRPr lang="en-US" sz="1800" b="0" u="none" strike="noStrike">
              <a:solidFill>
                <a:srgbClr val="FFFFFF"/>
              </a:solidFill>
              <a:effectLst/>
              <a:uFillTx/>
              <a:latin typeface="Arial"/>
            </a:endParaRPr>
          </a:p>
        </p:txBody>
      </p:sp>
      <p:sp>
        <p:nvSpPr>
          <p:cNvPr id="918" name="Shape 3"/>
          <p:cNvSpPr/>
          <p:nvPr/>
        </p:nvSpPr>
        <p:spPr>
          <a:xfrm>
            <a:off x="640080" y="3154680"/>
            <a:ext cx="3245760" cy="1142640"/>
          </a:xfrm>
          <a:prstGeom prst="roundRect">
            <a:avLst>
              <a:gd name="adj" fmla="val 64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19" name="Shape 4"/>
          <p:cNvSpPr/>
          <p:nvPr/>
        </p:nvSpPr>
        <p:spPr>
          <a:xfrm>
            <a:off x="640080" y="3154680"/>
            <a:ext cx="54360" cy="1142640"/>
          </a:xfrm>
          <a:prstGeom prst="rect">
            <a:avLst/>
          </a:prstGeom>
          <a:solidFill>
            <a:srgbClr val="33D6FF"/>
          </a:solidFill>
          <a:ln w="12700">
            <a:solidFill>
              <a:srgbClr val="33D6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0" name="Text 5"/>
          <p:cNvSpPr/>
          <p:nvPr/>
        </p:nvSpPr>
        <p:spPr>
          <a:xfrm>
            <a:off x="841320" y="3319200"/>
            <a:ext cx="2898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Good Q&amp;A targets</a:t>
            </a:r>
            <a:endParaRPr lang="en-US" sz="1400" b="0" u="none" strike="noStrike">
              <a:solidFill>
                <a:srgbClr val="FFFFFF"/>
              </a:solidFill>
              <a:effectLst/>
              <a:uFillTx/>
              <a:latin typeface="Arial"/>
            </a:endParaRPr>
          </a:p>
        </p:txBody>
      </p:sp>
      <p:sp>
        <p:nvSpPr>
          <p:cNvPr id="921" name="Text 6"/>
          <p:cNvSpPr/>
          <p:nvPr/>
        </p:nvSpPr>
        <p:spPr>
          <a:xfrm>
            <a:off x="841320" y="3657600"/>
            <a:ext cx="289836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Prompt review • model choice • local hardware • privacy path • debugging workflow</a:t>
            </a:r>
            <a:endParaRPr lang="en-US" sz="1020" b="0" u="none" strike="noStrike">
              <a:solidFill>
                <a:srgbClr val="FFFFFF"/>
              </a:solidFill>
              <a:effectLst/>
              <a:uFillTx/>
              <a:latin typeface="Arial"/>
            </a:endParaRPr>
          </a:p>
        </p:txBody>
      </p:sp>
      <p:sp>
        <p:nvSpPr>
          <p:cNvPr id="922" name="Shape 7"/>
          <p:cNvSpPr/>
          <p:nvPr/>
        </p:nvSpPr>
        <p:spPr>
          <a:xfrm>
            <a:off x="4206240" y="3154680"/>
            <a:ext cx="3245760" cy="1142640"/>
          </a:xfrm>
          <a:prstGeom prst="roundRect">
            <a:avLst>
              <a:gd name="adj" fmla="val 64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3" name="Shape 8"/>
          <p:cNvSpPr/>
          <p:nvPr/>
        </p:nvSpPr>
        <p:spPr>
          <a:xfrm>
            <a:off x="4206240" y="3154680"/>
            <a:ext cx="54360" cy="1142640"/>
          </a:xfrm>
          <a:prstGeom prst="rect">
            <a:avLst/>
          </a:prstGeom>
          <a:solidFill>
            <a:srgbClr val="40E0A1"/>
          </a:solidFill>
          <a:ln w="12700">
            <a:solidFill>
              <a:srgbClr val="40E0A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Arial"/>
            </a:endParaRPr>
          </a:p>
        </p:txBody>
      </p:sp>
      <p:sp>
        <p:nvSpPr>
          <p:cNvPr id="924" name="Text 9"/>
          <p:cNvSpPr/>
          <p:nvPr/>
        </p:nvSpPr>
        <p:spPr>
          <a:xfrm>
            <a:off x="4407480" y="3319200"/>
            <a:ext cx="2898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Bring evidence</a:t>
            </a:r>
            <a:endParaRPr lang="en-US" sz="1400" b="0" u="none" strike="noStrike">
              <a:solidFill>
                <a:srgbClr val="FFFFFF"/>
              </a:solidFill>
              <a:effectLst/>
              <a:uFillTx/>
              <a:latin typeface="Arial"/>
            </a:endParaRPr>
          </a:p>
        </p:txBody>
      </p:sp>
      <p:sp>
        <p:nvSpPr>
          <p:cNvPr id="925" name="Text 10"/>
          <p:cNvSpPr/>
          <p:nvPr/>
        </p:nvSpPr>
        <p:spPr>
          <a:xfrm>
            <a:off x="4407480" y="3657600"/>
            <a:ext cx="289836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Screenshot • log • code • manual • photo • model card • benchmark</a:t>
            </a:r>
            <a:endParaRPr lang="en-US" sz="1020" b="0" u="none" strike="noStrike">
              <a:solidFill>
                <a:srgbClr val="FFFFFF"/>
              </a:solidFill>
              <a:effectLst/>
              <a:uFillTx/>
              <a:latin typeface="Arial"/>
            </a:endParaRPr>
          </a:p>
        </p:txBody>
      </p:sp>
      <p:sp>
        <p:nvSpPr>
          <p:cNvPr id="926" name="Shape 11"/>
          <p:cNvSpPr/>
          <p:nvPr/>
        </p:nvSpPr>
        <p:spPr>
          <a:xfrm>
            <a:off x="7772400" y="3154680"/>
            <a:ext cx="3245760" cy="1142640"/>
          </a:xfrm>
          <a:prstGeom prst="roundRect">
            <a:avLst>
              <a:gd name="adj" fmla="val 6400"/>
            </a:avLst>
          </a:prstGeom>
          <a:solidFill>
            <a:srgbClr val="121A2B"/>
          </a:solidFill>
          <a:ln w="12700">
            <a:solidFill>
              <a:srgbClr val="2A3853"/>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7" name="Shape 12"/>
          <p:cNvSpPr/>
          <p:nvPr/>
        </p:nvSpPr>
        <p:spPr>
          <a:xfrm>
            <a:off x="7772400" y="3154680"/>
            <a:ext cx="54360" cy="1142640"/>
          </a:xfrm>
          <a:prstGeom prst="rect">
            <a:avLst/>
          </a:prstGeom>
          <a:solidFill>
            <a:srgbClr val="A78BFA"/>
          </a:solidFill>
          <a:ln w="12700">
            <a:solidFill>
              <a:srgbClr val="A78BF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FFFFFF"/>
              </a:solidFill>
              <a:effectLst/>
              <a:uFillTx/>
              <a:latin typeface="Arial"/>
            </a:endParaRPr>
          </a:p>
        </p:txBody>
      </p:sp>
      <p:sp>
        <p:nvSpPr>
          <p:cNvPr id="928" name="Text 13"/>
          <p:cNvSpPr/>
          <p:nvPr/>
        </p:nvSpPr>
        <p:spPr>
          <a:xfrm>
            <a:off x="7973640" y="3319200"/>
            <a:ext cx="2898360" cy="25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tabLst>
                <a:tab pos="0" algn="l"/>
              </a:tabLst>
            </a:pPr>
            <a:r>
              <a:rPr lang="en-US" sz="1400" b="1" u="none" strike="noStrike">
                <a:solidFill>
                  <a:srgbClr val="F5F8FC"/>
                </a:solidFill>
                <a:effectLst/>
                <a:uFillTx/>
                <a:latin typeface="Aptos"/>
              </a:rPr>
              <a:t>We can compare</a:t>
            </a:r>
            <a:endParaRPr lang="en-US" sz="1400" b="0" u="none" strike="noStrike">
              <a:solidFill>
                <a:srgbClr val="FFFFFF"/>
              </a:solidFill>
              <a:effectLst/>
              <a:uFillTx/>
              <a:latin typeface="Arial"/>
            </a:endParaRPr>
          </a:p>
        </p:txBody>
      </p:sp>
      <p:sp>
        <p:nvSpPr>
          <p:cNvPr id="929" name="Text 14"/>
          <p:cNvSpPr/>
          <p:nvPr/>
        </p:nvSpPr>
        <p:spPr>
          <a:xfrm>
            <a:off x="7973640" y="3657600"/>
            <a:ext cx="2898360" cy="484200"/>
          </a:xfrm>
          <a:prstGeom prst="rect">
            <a:avLst/>
          </a:prstGeom>
          <a:noFill/>
          <a:ln w="0">
            <a:noFill/>
          </a:ln>
        </p:spPr>
        <p:style>
          <a:lnRef idx="0">
            <a:scrgbClr r="0" g="0" b="0"/>
          </a:lnRef>
          <a:fillRef idx="0">
            <a:scrgbClr r="0" g="0" b="0"/>
          </a:fillRef>
          <a:effectRef idx="0">
            <a:scrgbClr r="0" g="0" b="0"/>
          </a:effectRef>
          <a:fontRef idx="minor"/>
        </p:style>
        <p:txBody>
          <a:bodyPr lIns="360" tIns="360" rIns="360" bIns="360" anchor="t">
            <a:normAutofit/>
          </a:bodyPr>
          <a:lstStyle/>
          <a:p>
            <a:pPr defTabSz="914400">
              <a:lnSpc>
                <a:spcPct val="100000"/>
              </a:lnSpc>
              <a:tabLst>
                <a:tab pos="0" algn="l"/>
              </a:tabLst>
            </a:pPr>
            <a:r>
              <a:rPr lang="en-US" sz="1020" b="0" u="none" strike="noStrike">
                <a:solidFill>
                  <a:srgbClr val="AAB5C8"/>
                </a:solidFill>
                <a:effectLst/>
                <a:uFillTx/>
                <a:latin typeface="Aptos"/>
              </a:rPr>
              <a:t>Cloud vs local • small vs large • search vs no-search • agent vs chat</a:t>
            </a:r>
            <a:endParaRPr lang="en-US" sz="1020" b="0" u="none" strike="noStrike">
              <a:solidFill>
                <a:srgbClr val="FFFFFF"/>
              </a:solidFill>
              <a:effectLst/>
              <a:uFillTx/>
              <a:latin typeface="Arial"/>
            </a:endParaRPr>
          </a:p>
        </p:txBody>
      </p:sp>
      <p:sp>
        <p:nvSpPr>
          <p:cNvPr id="930" name="Text 15"/>
          <p:cNvSpPr/>
          <p:nvPr/>
        </p:nvSpPr>
        <p:spPr>
          <a:xfrm>
            <a:off x="640080" y="5001840"/>
            <a:ext cx="1042380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u="none" strike="noStrike">
                <a:solidFill>
                  <a:srgbClr val="33D6FF"/>
                </a:solidFill>
                <a:effectLst/>
                <a:uFillTx/>
                <a:latin typeface="Aptos"/>
              </a:rPr>
              <a:t>The best AI workflow is the one you can verify.</a:t>
            </a:r>
            <a:endParaRPr lang="en-US" sz="2400" b="0" u="none" strike="noStrike">
              <a:solidFill>
                <a:srgbClr val="FFFFFF"/>
              </a:solidFill>
              <a:effectLst/>
              <a:uFillTx/>
              <a:latin typeface="Arial"/>
            </a:endParaRPr>
          </a:p>
        </p:txBody>
      </p:sp>
      <p:sp>
        <p:nvSpPr>
          <p:cNvPr id="931" name="PlaceHolder 1"/>
          <p:cNvSpPr>
            <a:spLocks noGrp="1"/>
          </p:cNvSpPr>
          <p:nvPr>
            <p:ph type="sldNum" idx="31"/>
          </p:nvPr>
        </p:nvSpPr>
        <p:spPr>
          <a:xfrm>
            <a:off x="11795760" y="6473880"/>
            <a:ext cx="182520" cy="145800"/>
          </a:xfrm>
          <a:prstGeom prst="rect">
            <a:avLst/>
          </a:prstGeom>
          <a:noFill/>
          <a:ln w="0">
            <a:noFill/>
          </a:ln>
        </p:spPr>
        <p:txBody>
          <a:bodyPr lIns="90000" tIns="45000" rIns="90000" bIns="45000" anchor="t">
            <a:noAutofit/>
          </a:bodyPr>
          <a:lstStyle>
            <a:lvl1pPr indent="0" algn="r" defTabSz="914400">
              <a:lnSpc>
                <a:spcPct val="100000"/>
              </a:lnSpc>
              <a:buNone/>
              <a:defRPr lang="en-US" sz="750" b="0" u="none" strike="noStrike">
                <a:solidFill>
                  <a:srgbClr val="73809A"/>
                </a:solidFill>
                <a:effectLst/>
                <a:uFillTx/>
                <a:latin typeface="Aptos"/>
                <a:ea typeface="Aptos"/>
              </a:defRPr>
            </a:lvl1pPr>
          </a:lstStyle>
          <a:p>
            <a:pPr indent="0" algn="r" defTabSz="914400">
              <a:lnSpc>
                <a:spcPct val="100000"/>
              </a:lnSpc>
              <a:buNone/>
            </a:pPr>
            <a:fld id="{2BAC8604-CCAC-467B-B500-596023EA9F17}" type="slidenum">
              <a:rPr lang="en-US" sz="750" b="0" u="none" strike="noStrike">
                <a:solidFill>
                  <a:srgbClr val="73809A"/>
                </a:solidFill>
                <a:effectLst/>
                <a:uFillTx/>
                <a:latin typeface="Aptos"/>
                <a:ea typeface="Aptos"/>
              </a:rPr>
              <a:t>27</a:t>
            </a:fld>
            <a:endParaRPr lang="en-US" sz="750" b="0" u="none" strike="noStrike">
              <a:solidFill>
                <a:srgbClr val="FFFFFF"/>
              </a:solidFill>
              <a:effectLst/>
              <a:uFillTx/>
              <a:latin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7007</Words>
  <Application>Microsoft Office PowerPoint</Application>
  <PresentationFormat>Widescreen</PresentationFormat>
  <Paragraphs>829</Paragraphs>
  <Slides>27</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Aptos Display</vt: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Local Makerspace Workshop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Kyle Simmons</cp:lastModifiedBy>
  <cp:revision>2</cp:revision>
  <dcterms:modified xsi:type="dcterms:W3CDTF">2026-08-17T02:02:04Z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2026-08-17T01:25:26Z</dcterms:created>
  <dc:creator>OpenAI</dc:creator>
  <dc:description/>
  <dc:language>en-US</dc:language>
  <cp:lastModifiedBy>OpenAI</cp:lastModifiedBy>
  <dcterms:modified xsi:type="dcterms:W3CDTF">2026-08-17T01:25:26Z</dcterms:modified>
  <cp:revision>1</cp:revision>
  <dc:subject>AI for Makers — how LLMs work, prompting, model selection, local AI, and safe use</dc:subject>
  <dc:title>AI for Makers: From Prompt to Prototype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27</vt:r8>
  </property>
  <property fmtid="{D5CDD505-2E9C-101B-9397-08002B2CF9AE}" pid="3" name="PresentationFormat">
    <vt:lpwstr>On-screen Show (16:9)</vt:lpwstr>
  </property>
  <property fmtid="{D5CDD505-2E9C-101B-9397-08002B2CF9AE}" pid="4" name="Slides">
    <vt:r8>27</vt:r8>
  </property>
</Properties>
</file>